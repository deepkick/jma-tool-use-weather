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領域1の話題提供。40分+意見交換。実用評価ではなく実験記録という位置づけを最初に言う。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や Claude は裏で Web 検索(= Tool)を使うので妥当な答えが返る。これは Tool を持たない LLM の話であって、「LLM は嘘をつく」という話ではない、と最初に言う。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ここは初心者向け。ChatGPT・Claude と Qwen の関係を「同じ技術の、提供方法が違うもの」として整理する。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参加者の関心: 中国製で大丈夫か。ローカル実行=通信なし、が答え。性能上限は Claude/GPT に劣ることも正直に。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はネットに触れない。関数を選び、引数を決め、結果を読んで文章にするのが LLM。データを取るのは Python。最大 6 往復。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『なんでも答えられる』のではなく『公開データの窓口』。窓口の広さは Tool(=公開データ)で決まる。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『過程を見せる』のがこの発表の主眼。コードは書いていないが、判断はすべて人間。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ここが意見交換の起点。分野名で呼びかけ、個人名は出さない。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github.com/deepkick/jma-tool-use-weather" TargetMode="External"/><Relationship Id="rId2" Type="http://schemas.openxmlformats.org/officeDocument/2006/relationships/hyperlink" Target="https://colab.research.google.com/github/deepkick/jma-tool-use-weather/blob/main/notebooks/jma_tool_use_weather.ipynb" TargetMode="External"/><Relationship Id="rId3" Type="http://schemas.openxmlformats.org/officeDocument/2006/relationships/hyperlink" Target="https://colab.research.google.com/" TargetMode="External"/><Relationship Id="rId4" Type="http://schemas.openxmlformats.org/officeDocument/2006/relationships/hyperlink" Target="https://github.com/deepkick/jma-tool-use-weather/tree/main/docs" TargetMode="External"/><Relationship Id="rId5" Type="http://schemas.openxmlformats.org/officeDocument/2006/relationships/hyperlink" Target="https://github.com/deepkick/jma-tool-use-weather/blob/main/notebooks/jma_tool_use_weather.ipynb" TargetMode="External"/><Relationship Id="rId6" Type="http://schemas.openxmlformats.org/officeDocument/2006/relationships/hyperlink" Target="https://github.com/deepkick/jma-tool-use-weather/blob/main/spec.md" TargetMode="External"/><Relationship Id="rId7" Type="http://schemas.openxmlformats.org/officeDocument/2006/relationships/hyperlink" Target="https://github.com/deepkick/jma-tool-use-weather/blob/main/docs/tool_use_loop.svg" TargetMode="External"/><Relationship Id="rId8" Type="http://schemas.openxmlformats.org/officeDocument/2006/relationships/hyperlink" Target="https://www.jma.go.jp/" TargetMode="External"/><Relationship Id="rId9" Type="http://schemas.openxmlformats.org/officeDocument/2006/relationships/hyperlink" Target="https://www.jma.go.jp/jma/kishou/info/coment.html" TargetMode="External"/><Relationship Id="rId10" Type="http://schemas.openxmlformats.org/officeDocument/2006/relationships/hyperlink" Target="https://arxiv.org/abs/2505.09388" TargetMode="External"/><Relationship Id="rId11" Type="http://schemas.openxmlformats.org/officeDocument/2006/relationships/hyperlink" Target="https://huggingface.co/docs/transformers/chat_extras" TargetMode="External"/><Relationship Id="rId12" Type="http://schemas.openxmlformats.org/officeDocument/2006/relationships/hyperlink" Target="https://www.jma.go.jp/bosai/" TargetMode="External"/><Relationship Id="rId13" Type="http://schemas.openxmlformats.org/officeDocument/2006/relationships/hyperlink" Target="https://github.com/deepkick/jma-tool-use-weather/blob/main/LICENSE" TargetMode="External"/><Relationship Id="rId14" Type="http://schemas.openxmlformats.org/officeDocument/2006/relationships/hyperlink" Target="https://claude.ai/" TargetMode="External"/><Relationship Id="rId15" Type="http://schemas.openxmlformats.org/officeDocument/2006/relationships/slideLayout" Target="../slideLayouts/slideLayout1.xml"/><Relationship Id="rId16"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9001" name="deco9001"/>
          <p:cNvSpPr/>
          <p:nvPr/>
        </p:nvSpPr>
        <p:spPr>
          <a:xfrm>
            <a:off x="-1828800" y="-2377440"/>
            <a:ext cx="5486400" cy="5486400"/>
          </a:xfrm>
          <a:prstGeom prst="ellipse">
            <a:avLst/>
          </a:prstGeom>
          <a:solidFill>
            <a:srgbClr val="16406A"/>
          </a:solidFill>
          <a:ln>
            <a:noFill/>
          </a:ln>
        </p:spPr>
        <p:txBody>
          <a:bodyPr/>
          <a:lstStyle/>
          <a:p>
            <a:endParaRPr lang="en-US"/>
          </a:p>
        </p:txBody>
      </p:sp>
      <p:sp>
        <p:nvSpPr>
          <p:cNvPr id="9002" name="deco9002"/>
          <p:cNvSpPr/>
          <p:nvPr/>
        </p:nvSpPr>
        <p:spPr>
          <a:xfrm>
            <a:off x="8961120" y="3840480"/>
            <a:ext cx="4937760" cy="4937760"/>
          </a:xfrm>
          <a:prstGeom prst="ellipse">
            <a:avLst/>
          </a:prstGeom>
          <a:solidFill>
            <a:srgbClr val="16406A"/>
          </a:solidFill>
          <a:ln>
            <a:noFill/>
          </a:ln>
        </p:spPr>
        <p:txBody>
          <a:bodyPr/>
          <a:lstStyle/>
          <a:p>
            <a:endParaRPr lang="en-US"/>
          </a:p>
        </p:txBody>
      </p:sp>
      <p:sp>
        <p:nvSpPr>
          <p:cNvPr id="2" name="Text 0"/>
          <p:cNvSpPr txBox="1"/>
          <p:nvPr/>
        </p:nvSpPr>
        <p:spPr>
          <a:xfrm>
            <a:off x="731520" y="1828800"/>
            <a:ext cx="10789920" cy="914400"/>
          </a:xfrm>
          <a:prstGeom prst="rect">
            <a:avLst/>
          </a:prstGeom>
          <a:noFill/>
          <a:ln/>
        </p:spPr>
        <p:txBody>
          <a:bodyPr wrap="square" lIns="0" tIns="0" rIns="0" bIns="0" rtlCol="0" anchor="t"/>
          <a:lstStyle/>
          <a:p>
            <a:pPr indent="0" marL="0">
              <a:buNone/>
            </a:pPr>
            <a:r>
              <a:rPr lang="en-US" sz="3400" b="1" dirty="0">
                <a:solidFill>
                  <a:srgbClr val="FFFFFF"/>
                </a:solidFill>
                <a:latin typeface="Hiragino Sans" pitchFamily="34" charset="0"/>
                <a:ea typeface="Hiragino Sans" pitchFamily="34" charset="-122"/>
                <a:cs typeface="Hiragino Sans" pitchFamily="34" charset="-120"/>
              </a:rPr>
              <a:t>気象庁の公式データに、日本語で質問できる窓口</a:t>
            </a:r>
            <a:endParaRPr lang="en-US" sz="3400" dirty="0"/>
          </a:p>
        </p:txBody>
      </p:sp>
      <p:sp>
        <p:nvSpPr>
          <p:cNvPr id="3" name="Text 1"/>
          <p:cNvSpPr txBox="1"/>
          <p:nvPr/>
        </p:nvSpPr>
        <p:spPr>
          <a:xfrm>
            <a:off x="731520" y="2788920"/>
            <a:ext cx="10789920" cy="548640"/>
          </a:xfrm>
          <a:prstGeom prst="rect">
            <a:avLst/>
          </a:prstGeom>
          <a:noFill/>
          <a:ln/>
        </p:spPr>
        <p:txBody>
          <a:bodyPr wrap="square" lIns="0" tIns="0" rIns="0" bIns="0" rtlCol="0" anchor="t"/>
          <a:lstStyle/>
          <a:p>
            <a:pPr indent="0" marL="0">
              <a:buNone/>
            </a:pPr>
            <a:r>
              <a:rPr lang="en-US" sz="2000" dirty="0">
                <a:solidFill>
                  <a:srgbClr val="8FE3F5"/>
                </a:solidFill>
                <a:latin typeface="Hiragino Sans" pitchFamily="34" charset="0"/>
                <a:ea typeface="Hiragino Sans" pitchFamily="34" charset="-122"/>
                <a:cs typeface="Hiragino Sans" pitchFamily="34" charset="-120"/>
              </a:rPr>
              <a:t>— 無料の Colab とオープン LLM で「Tool Use」を試した実験記録 —</a:t>
            </a:r>
            <a:endParaRPr lang="en-US" sz="2000" dirty="0"/>
          </a:p>
        </p:txBody>
      </p:sp>
      <p:sp>
        <p:nvSpPr>
          <p:cNvPr id="4" name="Text 2"/>
          <p:cNvSpPr txBox="1"/>
          <p:nvPr/>
        </p:nvSpPr>
        <p:spPr>
          <a:xfrm>
            <a:off x="731520" y="4206240"/>
            <a:ext cx="7315200" cy="822960"/>
          </a:xfrm>
          <a:prstGeom prst="rect">
            <a:avLst/>
          </a:prstGeom>
          <a:noFill/>
          <a:ln/>
        </p:spPr>
        <p:txBody>
          <a:bodyPr wrap="square" lIns="0" tIns="0" rIns="0" bIns="0" rtlCol="0" anchor="t"/>
          <a:lstStyle/>
          <a:p>
            <a:pPr indent="0" marL="0">
              <a:buNone/>
            </a:pPr>
            <a:r>
              <a:rPr lang="en-US" sz="1500" dirty="0">
                <a:solidFill>
                  <a:srgbClr val="C9D2DE"/>
                </a:solidFill>
                <a:latin typeface="Hiragino Sans" pitchFamily="34" charset="0"/>
                <a:ea typeface="Hiragino Sans" pitchFamily="34" charset="-122"/>
                <a:cs typeface="Hiragino Sans" pitchFamily="34" charset="-120"/>
              </a:rPr>
              <a:t>AI研究ラボ ワーキングチーム 第2回  2026-10-04</a:t>
            </a:r>
            <a:endParaRPr lang="en-US" sz="1500" dirty="0"/>
          </a:p>
          <a:p>
            <a:pPr indent="0" marL="0">
              <a:buNone/>
            </a:pPr>
            <a:r>
              <a:rPr lang="en-US" sz="1500" dirty="0">
                <a:solidFill>
                  <a:srgbClr val="C9D2DE"/>
                </a:solidFill>
                <a:latin typeface="Hiragino Sans" pitchFamily="34" charset="0"/>
                <a:ea typeface="Hiragino Sans" pitchFamily="34" charset="-122"/>
                <a:cs typeface="Hiragino Sans" pitchFamily="34" charset="-120"/>
              </a:rPr>
              <a:t>領域1  気象 × 生成AI活用の研究</a:t>
            </a:r>
            <a:endParaRPr lang="en-US" sz="1500" dirty="0"/>
          </a:p>
        </p:txBody>
      </p:sp>
      <p:sp>
        <p:nvSpPr>
          <p:cNvPr id="5" name="Text 3"/>
          <p:cNvSpPr txBox="1"/>
          <p:nvPr/>
        </p:nvSpPr>
        <p:spPr>
          <a:xfrm>
            <a:off x="731520" y="5212080"/>
            <a:ext cx="5486400" cy="457200"/>
          </a:xfrm>
          <a:prstGeom prst="rect">
            <a:avLst/>
          </a:prstGeom>
          <a:noFill/>
          <a:ln/>
        </p:spPr>
        <p:txBody>
          <a:bodyPr wrap="square" lIns="0" tIns="0" rIns="0" bIns="0" rtlCol="0" anchor="t"/>
          <a:lstStyle/>
          <a:p>
            <a:pPr indent="0" marL="0">
              <a:buNone/>
            </a:pPr>
            <a:r>
              <a:rPr lang="en-US" sz="1600" b="1" dirty="0">
                <a:solidFill>
                  <a:srgbClr val="FFFFFF"/>
                </a:solidFill>
                <a:latin typeface="Hiragino Sans" pitchFamily="34" charset="0"/>
                <a:ea typeface="Hiragino Sans" pitchFamily="34" charset="-122"/>
                <a:cs typeface="Hiragino Sans" pitchFamily="34" charset="-120"/>
              </a:rPr>
              <a:t>本多 Kaoru</a:t>
            </a:r>
            <a:endParaRPr lang="en-US" sz="1600" dirty="0"/>
          </a:p>
        </p:txBody>
      </p:sp>
      <p:sp>
        <p:nvSpPr>
          <p:cNvPr id="6" name="Text 4"/>
          <p:cNvSpPr txBox="1"/>
          <p:nvPr/>
        </p:nvSpPr>
        <p:spPr>
          <a:xfrm>
            <a:off x="731520" y="5943600"/>
            <a:ext cx="7315200" cy="365760"/>
          </a:xfrm>
          <a:prstGeom prst="rect">
            <a:avLst/>
          </a:prstGeom>
          <a:noFill/>
          <a:ln/>
        </p:spPr>
        <p:txBody>
          <a:bodyPr wrap="square" lIns="0" tIns="0" rIns="0" bIns="0" rtlCol="0" anchor="t"/>
          <a:lstStyle/>
          <a:p>
            <a:pPr indent="0" marL="0">
              <a:buNone/>
            </a:pPr>
            <a:r>
              <a:rPr lang="en-US" sz="1200" dirty="0">
                <a:solidFill>
                  <a:srgbClr val="5A6470"/>
                </a:solidFill>
                <a:latin typeface="Menlo" pitchFamily="34" charset="0"/>
                <a:ea typeface="Menlo" pitchFamily="34" charset="-122"/>
                <a:cs typeface="Menlo" pitchFamily="34" charset="-120"/>
              </a:rPr>
              <a:t>github.com/deepkick/jma-tool-use-weather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今日の話</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エンジニアでなくても「仕組み」と「限界」が分かることを目標に</a:t>
            </a:r>
            <a:endParaRPr lang="en-US" sz="1400" dirty="0"/>
          </a:p>
        </p:txBody>
      </p:sp>
      <p:sp>
        <p:nvSpPr>
          <p:cNvPr id="4" name="Shape 2"/>
          <p:cNvSpPr/>
          <p:nvPr/>
        </p:nvSpPr>
        <p:spPr>
          <a:xfrm>
            <a:off x="640080" y="1783080"/>
            <a:ext cx="384048" cy="384048"/>
          </a:xfrm>
          <a:prstGeom prst="ellipse">
            <a:avLst/>
          </a:prstGeom>
          <a:solidFill>
            <a:srgbClr val="16406A"/>
          </a:solidFill>
          <a:ln w="12700">
            <a:solidFill>
              <a:srgbClr val="16406A"/>
            </a:solidFill>
            <a:prstDash val="solid"/>
          </a:ln>
        </p:spPr>
      </p:sp>
      <p:sp>
        <p:nvSpPr>
          <p:cNvPr id="5" name="Text 3"/>
          <p:cNvSpPr txBox="1"/>
          <p:nvPr/>
        </p:nvSpPr>
        <p:spPr>
          <a:xfrm>
            <a:off x="640080" y="18105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1</a:t>
            </a:r>
            <a:endParaRPr lang="en-US" sz="1400" dirty="0"/>
          </a:p>
        </p:txBody>
      </p:sp>
      <p:sp>
        <p:nvSpPr>
          <p:cNvPr id="6" name="Text 4"/>
          <p:cNvSpPr txBox="1"/>
          <p:nvPr/>
        </p:nvSpPr>
        <p:spPr>
          <a:xfrm>
            <a:off x="1234440" y="1737360"/>
            <a:ext cx="3657600" cy="457200"/>
          </a:xfrm>
          <a:prstGeom prst="rect">
            <a:avLst/>
          </a:prstGeom>
          <a:noFill/>
          <a:ln/>
        </p:spPr>
        <p:txBody>
          <a:bodyPr wrap="square" lIns="0" tIns="0" rIns="0" bIns="0" rtlCol="0" anchor="t"/>
          <a:lstStyle/>
          <a:p>
            <a:pPr indent="0" marL="0">
              <a:buNone/>
            </a:pPr>
            <a:r>
              <a:rPr lang="en-US" sz="2000" b="1" dirty="0">
                <a:solidFill>
                  <a:srgbClr val="0E2A47"/>
                </a:solidFill>
                <a:latin typeface="Hiragino Sans" pitchFamily="34" charset="0"/>
                <a:ea typeface="Hiragino Sans" pitchFamily="34" charset="-122"/>
                <a:cs typeface="Hiragino Sans" pitchFamily="34" charset="-120"/>
              </a:rPr>
              <a:t>仕組み</a:t>
            </a:r>
            <a:endParaRPr lang="en-US" sz="2000" dirty="0"/>
          </a:p>
        </p:txBody>
      </p:sp>
      <p:sp>
        <p:nvSpPr>
          <p:cNvPr id="7" name="Text 5"/>
          <p:cNvSpPr txBox="1"/>
          <p:nvPr/>
        </p:nvSpPr>
        <p:spPr>
          <a:xfrm>
            <a:off x="1234440" y="2240280"/>
            <a:ext cx="10241280" cy="822960"/>
          </a:xfrm>
          <a:prstGeom prst="rect">
            <a:avLst/>
          </a:prstGeom>
          <a:noFill/>
          <a:ln/>
        </p:spPr>
        <p:txBody>
          <a:bodyPr wrap="square" lIns="0" tIns="0" rIns="0" bIns="0" rtlCol="0" anchor="t"/>
          <a:lstStyle/>
          <a:p>
            <a:pPr indent="0" marL="0">
              <a:buNone/>
            </a:pPr>
            <a:r>
              <a:rPr lang="en-US" sz="1400" dirty="0">
                <a:solidFill>
                  <a:srgbClr val="0F2A44"/>
                </a:solidFill>
                <a:latin typeface="Hiragino Sans" pitchFamily="34" charset="0"/>
                <a:ea typeface="Hiragino Sans" pitchFamily="34" charset="-122"/>
                <a:cs typeface="Hiragino Sans" pitchFamily="34" charset="-120"/>
              </a:rPr>
              <a:t>LLM が気象庁のデータを自分で取りに行く「Tool Use」とは何か。生成 AI モデルの地図(クローズド / オープン)と、なぜ Qwen3 を使ったか</a:t>
            </a:r>
            <a:endParaRPr lang="en-US" sz="1400" dirty="0"/>
          </a:p>
        </p:txBody>
      </p:sp>
      <p:sp>
        <p:nvSpPr>
          <p:cNvPr id="8" name="Shape 6"/>
          <p:cNvSpPr/>
          <p:nvPr/>
        </p:nvSpPr>
        <p:spPr>
          <a:xfrm>
            <a:off x="640080" y="3246120"/>
            <a:ext cx="384048" cy="384048"/>
          </a:xfrm>
          <a:prstGeom prst="ellipse">
            <a:avLst/>
          </a:prstGeom>
          <a:solidFill>
            <a:srgbClr val="1F7A6D"/>
          </a:solidFill>
          <a:ln w="12700">
            <a:solidFill>
              <a:srgbClr val="1F7A6D"/>
            </a:solidFill>
            <a:prstDash val="solid"/>
          </a:ln>
        </p:spPr>
      </p:sp>
      <p:sp>
        <p:nvSpPr>
          <p:cNvPr id="9" name="Text 7"/>
          <p:cNvSpPr txBox="1"/>
          <p:nvPr/>
        </p:nvSpPr>
        <p:spPr>
          <a:xfrm>
            <a:off x="640080" y="327355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2</a:t>
            </a:r>
            <a:endParaRPr lang="en-US" sz="1400" dirty="0"/>
          </a:p>
        </p:txBody>
      </p:sp>
      <p:sp>
        <p:nvSpPr>
          <p:cNvPr id="10" name="Text 8"/>
          <p:cNvSpPr txBox="1"/>
          <p:nvPr/>
        </p:nvSpPr>
        <p:spPr>
          <a:xfrm>
            <a:off x="1234440" y="3200400"/>
            <a:ext cx="3657600" cy="457200"/>
          </a:xfrm>
          <a:prstGeom prst="rect">
            <a:avLst/>
          </a:prstGeom>
          <a:noFill/>
          <a:ln/>
        </p:spPr>
        <p:txBody>
          <a:bodyPr wrap="square" lIns="0" tIns="0" rIns="0" bIns="0" rtlCol="0" anchor="t"/>
          <a:lstStyle/>
          <a:p>
            <a:pPr indent="0" marL="0">
              <a:buNone/>
            </a:pPr>
            <a:r>
              <a:rPr lang="en-US" sz="2000" b="1" dirty="0">
                <a:solidFill>
                  <a:srgbClr val="0E2A47"/>
                </a:solidFill>
                <a:latin typeface="Hiragino Sans" pitchFamily="34" charset="0"/>
                <a:ea typeface="Hiragino Sans" pitchFamily="34" charset="-122"/>
                <a:cs typeface="Hiragino Sans" pitchFamily="34" charset="-120"/>
              </a:rPr>
              <a:t>作った過程</a:t>
            </a:r>
            <a:endParaRPr lang="en-US" sz="2000" dirty="0"/>
          </a:p>
        </p:txBody>
      </p:sp>
      <p:sp>
        <p:nvSpPr>
          <p:cNvPr id="11" name="Text 9"/>
          <p:cNvSpPr txBox="1"/>
          <p:nvPr/>
        </p:nvSpPr>
        <p:spPr>
          <a:xfrm>
            <a:off x="1234440" y="3703320"/>
            <a:ext cx="10241280" cy="822960"/>
          </a:xfrm>
          <a:prstGeom prst="rect">
            <a:avLst/>
          </a:prstGeom>
          <a:noFill/>
          <a:ln/>
        </p:spPr>
        <p:txBody>
          <a:bodyPr wrap="square" lIns="0" tIns="0" rIns="0" bIns="0" rtlCol="0" anchor="t"/>
          <a:lstStyle/>
          <a:p>
            <a:pPr indent="0" marL="0">
              <a:buNone/>
            </a:pPr>
            <a:r>
              <a:rPr lang="en-US" sz="1400" dirty="0">
                <a:solidFill>
                  <a:srgbClr val="0F2A44"/>
                </a:solidFill>
                <a:latin typeface="Hiragino Sans" pitchFamily="34" charset="0"/>
                <a:ea typeface="Hiragino Sans" pitchFamily="34" charset="-122"/>
                <a:cs typeface="Hiragino Sans" pitchFamily="34" charset="-120"/>
              </a:rPr>
              <a:t>アイデア → Claude への依頼 → できたもの。途中で分かったこと(気象庁の警報形式が今年 5 月に変わっていた等)</a:t>
            </a:r>
            <a:endParaRPr lang="en-US" sz="1400" dirty="0"/>
          </a:p>
        </p:txBody>
      </p:sp>
      <p:sp>
        <p:nvSpPr>
          <p:cNvPr id="12" name="Shape 10"/>
          <p:cNvSpPr/>
          <p:nvPr/>
        </p:nvSpPr>
        <p:spPr>
          <a:xfrm>
            <a:off x="640080" y="4709160"/>
            <a:ext cx="384048" cy="384048"/>
          </a:xfrm>
          <a:prstGeom prst="ellipse">
            <a:avLst/>
          </a:prstGeom>
          <a:solidFill>
            <a:srgbClr val="E2711D"/>
          </a:solidFill>
          <a:ln w="12700">
            <a:solidFill>
              <a:srgbClr val="E2711D"/>
            </a:solidFill>
            <a:prstDash val="solid"/>
          </a:ln>
        </p:spPr>
      </p:sp>
      <p:sp>
        <p:nvSpPr>
          <p:cNvPr id="13" name="Text 11"/>
          <p:cNvSpPr txBox="1"/>
          <p:nvPr/>
        </p:nvSpPr>
        <p:spPr>
          <a:xfrm>
            <a:off x="640080" y="473659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3</a:t>
            </a:r>
            <a:endParaRPr lang="en-US" sz="1400" dirty="0"/>
          </a:p>
        </p:txBody>
      </p:sp>
      <p:sp>
        <p:nvSpPr>
          <p:cNvPr id="14" name="Text 12"/>
          <p:cNvSpPr txBox="1"/>
          <p:nvPr/>
        </p:nvSpPr>
        <p:spPr>
          <a:xfrm>
            <a:off x="1234440" y="4663440"/>
            <a:ext cx="3657600" cy="457200"/>
          </a:xfrm>
          <a:prstGeom prst="rect">
            <a:avLst/>
          </a:prstGeom>
          <a:noFill/>
          <a:ln/>
        </p:spPr>
        <p:txBody>
          <a:bodyPr wrap="square" lIns="0" tIns="0" rIns="0" bIns="0" rtlCol="0" anchor="t"/>
          <a:lstStyle/>
          <a:p>
            <a:pPr indent="0" marL="0">
              <a:buNone/>
            </a:pPr>
            <a:r>
              <a:rPr lang="en-US" sz="2000" b="1" dirty="0">
                <a:solidFill>
                  <a:srgbClr val="0E2A47"/>
                </a:solidFill>
                <a:latin typeface="Hiragino Sans" pitchFamily="34" charset="0"/>
                <a:ea typeface="Hiragino Sans" pitchFamily="34" charset="-122"/>
                <a:cs typeface="Hiragino Sans" pitchFamily="34" charset="-120"/>
              </a:rPr>
              <a:t>動かして分かったこと</a:t>
            </a:r>
            <a:endParaRPr lang="en-US" sz="2000" dirty="0"/>
          </a:p>
        </p:txBody>
      </p:sp>
      <p:sp>
        <p:nvSpPr>
          <p:cNvPr id="15" name="Text 13"/>
          <p:cNvSpPr txBox="1"/>
          <p:nvPr/>
        </p:nvSpPr>
        <p:spPr>
          <a:xfrm>
            <a:off x="1234440" y="5166360"/>
            <a:ext cx="10241280" cy="822960"/>
          </a:xfrm>
          <a:prstGeom prst="rect">
            <a:avLst/>
          </a:prstGeom>
          <a:noFill/>
          <a:ln/>
        </p:spPr>
        <p:txBody>
          <a:bodyPr wrap="square" lIns="0" tIns="0" rIns="0" bIns="0" rtlCol="0" anchor="t"/>
          <a:lstStyle/>
          <a:p>
            <a:pPr indent="0" marL="0">
              <a:buNone/>
            </a:pPr>
            <a:r>
              <a:rPr lang="en-US" sz="1400" dirty="0">
                <a:solidFill>
                  <a:srgbClr val="0F2A44"/>
                </a:solidFill>
                <a:latin typeface="Hiragino Sans" pitchFamily="34" charset="0"/>
                <a:ea typeface="Hiragino Sans" pitchFamily="34" charset="-122"/>
                <a:cs typeface="Hiragino Sans" pitchFamily="34" charset="-120"/>
              </a:rPr>
              <a:t>16 の質問を実データで検証。8B モデルが安定してこなすこと / 崩れること / 直し方。ChatGPT や Claude で十分な場面と、手元の LLM + Tool が向く場面</a:t>
            </a:r>
            <a:endParaRPr lang="en-US" sz="1400" dirty="0"/>
          </a:p>
        </p:txBody>
      </p:sp>
      <p:sp>
        <p:nvSpPr>
          <p:cNvPr id="16" name="Shape 14"/>
          <p:cNvSpPr/>
          <p:nvPr/>
        </p:nvSpPr>
        <p:spPr>
          <a:xfrm>
            <a:off x="640080" y="5989320"/>
            <a:ext cx="10881360" cy="502920"/>
          </a:xfrm>
          <a:prstGeom prst="roundRect">
            <a:avLst>
              <a:gd name="adj" fmla="val 18182"/>
            </a:avLst>
          </a:prstGeom>
          <a:solidFill>
            <a:srgbClr val="F7F9FB"/>
          </a:solidFill>
          <a:ln w="12700">
            <a:solidFill>
              <a:srgbClr val="F7F9FB"/>
            </a:solidFill>
            <a:prstDash val="solid"/>
          </a:ln>
        </p:spPr>
      </p:sp>
      <p:sp>
        <p:nvSpPr>
          <p:cNvPr id="17" name="Text 15"/>
          <p:cNvSpPr txBox="1"/>
          <p:nvPr/>
        </p:nvSpPr>
        <p:spPr>
          <a:xfrm>
            <a:off x="868680" y="6080760"/>
            <a:ext cx="10515600" cy="365760"/>
          </a:xfrm>
          <a:prstGeom prst="rect">
            <a:avLst/>
          </a:prstGeom>
          <a:noFill/>
          <a:ln/>
        </p:spPr>
        <p:txBody>
          <a:bodyPr wrap="square" lIns="0" tIns="0" rIns="0" bIns="0" rtlCol="0" anchor="t"/>
          <a:lstStyle/>
          <a:p>
            <a:pPr indent="0" marL="0">
              <a:buNone/>
            </a:pPr>
            <a:r>
              <a:rPr lang="en-US" sz="1300" dirty="0">
                <a:solidFill>
                  <a:srgbClr val="16406A"/>
                </a:solidFill>
                <a:latin typeface="Hiragino Sans" pitchFamily="34" charset="0"/>
                <a:ea typeface="Hiragino Sans" pitchFamily="34" charset="-122"/>
                <a:cs typeface="Hiragino Sans" pitchFamily="34" charset="-120"/>
              </a:rPr>
              <a:t>配布: Colab で動く .ipynb(無料枠 T4 で OK、API キー・課金不要)。今日の内容はすべて自分で再現できます</a:t>
            </a:r>
            <a:endParaRPr lang="en-US" sz="1300" dirty="0"/>
          </a:p>
        </p:txBody>
      </p:sp>
      <p:sp>
        <p:nvSpPr>
          <p:cNvPr id="18" name="Text 16"/>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2</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出発点 — Tool を持たない LLM に「明日の京都の天気」を聞くと</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Tool を渡さずに Qwen3-8B に聞いた答え(2026-09-27 15:38)</a:t>
            </a:r>
            <a:endParaRPr lang="en-US" sz="1400" dirty="0"/>
          </a:p>
        </p:txBody>
      </p:sp>
      <p:sp>
        <p:nvSpPr>
          <p:cNvPr id="4" name="Shape 2"/>
          <p:cNvSpPr/>
          <p:nvPr/>
        </p:nvSpPr>
        <p:spPr>
          <a:xfrm>
            <a:off x="512064" y="1569658"/>
            <a:ext cx="6839712" cy="3261485"/>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5" name="Image 0" descr="/home/claude/slides/img/s3_hallucination.png">    </p:cNvPr>
          <p:cNvPicPr>
            <a:picLocks noChangeAspect="1"/>
          </p:cNvPicPr>
          <p:nvPr/>
        </p:nvPicPr>
        <p:blipFill>
          <a:blip r:embed="rId1"/>
          <a:stretch>
            <a:fillRect/>
          </a:stretch>
        </p:blipFill>
        <p:spPr>
          <a:xfrm>
            <a:off x="548640" y="1606234"/>
            <a:ext cx="6766560" cy="3188333"/>
          </a:xfrm>
          <a:prstGeom prst="rect">
            <a:avLst/>
          </a:prstGeom>
        </p:spPr>
      </p:pic>
      <p:sp>
        <p:nvSpPr>
          <p:cNvPr id="6" name="Shape 3"/>
          <p:cNvSpPr/>
          <p:nvPr/>
        </p:nvSpPr>
        <p:spPr>
          <a:xfrm>
            <a:off x="7680960" y="1554480"/>
            <a:ext cx="3931920" cy="3291840"/>
          </a:xfrm>
          <a:prstGeom prst="roundRect">
            <a:avLst>
              <a:gd name="adj" fmla="val 3333"/>
            </a:avLst>
          </a:prstGeom>
          <a:solidFill>
            <a:srgbClr val="F7F9FB"/>
          </a:solidFill>
          <a:ln w="12700">
            <a:solidFill>
              <a:srgbClr val="F7F9FB"/>
            </a:solidFill>
            <a:prstDash val="solid"/>
          </a:ln>
        </p:spPr>
      </p:sp>
      <p:sp>
        <p:nvSpPr>
          <p:cNvPr id="7" name="Text 4"/>
          <p:cNvSpPr txBox="1"/>
          <p:nvPr/>
        </p:nvSpPr>
        <p:spPr>
          <a:xfrm>
            <a:off x="7909560" y="1737360"/>
            <a:ext cx="3474720" cy="411480"/>
          </a:xfrm>
          <a:prstGeom prst="rect">
            <a:avLst/>
          </a:prstGeom>
          <a:noFill/>
          <a:ln/>
        </p:spPr>
        <p:txBody>
          <a:bodyPr wrap="square" lIns="0" tIns="0" rIns="0" bIns="0" rtlCol="0" anchor="t"/>
          <a:lstStyle/>
          <a:p>
            <a:pPr indent="0" marL="0">
              <a:buNone/>
            </a:pPr>
            <a:r>
              <a:rPr lang="en-US" sz="1500" b="1" dirty="0">
                <a:solidFill>
                  <a:srgbClr val="D9534F"/>
                </a:solidFill>
                <a:latin typeface="Hiragino Sans" pitchFamily="34" charset="0"/>
                <a:ea typeface="Hiragino Sans" pitchFamily="34" charset="-122"/>
                <a:cs typeface="Hiragino Sans" pitchFamily="34" charset="-120"/>
              </a:rPr>
              <a:t>実際の気象庁予報(同日 17 時発表)</a:t>
            </a:r>
            <a:endParaRPr lang="en-US" sz="1500" dirty="0"/>
          </a:p>
        </p:txBody>
      </p:sp>
      <p:sp>
        <p:nvSpPr>
          <p:cNvPr id="8" name="Text 5"/>
          <p:cNvSpPr txBox="1"/>
          <p:nvPr/>
        </p:nvSpPr>
        <p:spPr>
          <a:xfrm>
            <a:off x="7909560" y="2148840"/>
            <a:ext cx="3474720" cy="25146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明日 9/28(月)の京都</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天気: 雨時々止む</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最高気温: 27℃</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降水確率: 80%</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晴れ・28℃ は、天気が反対。根拠となるデータを見ていない</a:t>
            </a:r>
            <a:endParaRPr lang="en-US" sz="1250" dirty="0"/>
          </a:p>
        </p:txBody>
      </p:sp>
      <p:sp>
        <p:nvSpPr>
          <p:cNvPr id="9" name="Text 6"/>
          <p:cNvSpPr txBox="1"/>
          <p:nvPr/>
        </p:nvSpPr>
        <p:spPr>
          <a:xfrm>
            <a:off x="640080" y="5074920"/>
            <a:ext cx="109728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F2A44"/>
                </a:solidFill>
                <a:latin typeface="Hiragino Sans" pitchFamily="34" charset="0"/>
                <a:ea typeface="Hiragino Sans" pitchFamily="34" charset="-122"/>
                <a:cs typeface="Hiragino Sans" pitchFamily="34" charset="-120"/>
              </a:rPr>
              <a:t>ChatGPT や Claude に同じ質問をすると、裏で Web 検索(= Tool)が働き、おおむね妥当な答えが返る</a:t>
            </a:r>
            <a:endParaRPr lang="en-US" sz="1400" dirty="0"/>
          </a:p>
          <a:p>
            <a:pPr marL="342900" indent="-342900">
              <a:spcAft>
                <a:spcPts val="600"/>
              </a:spcAft>
              <a:buSzPct val="100000"/>
              <a:buChar char="•"/>
            </a:pPr>
            <a:r>
              <a:rPr lang="en-US" sz="1400" dirty="0">
                <a:solidFill>
                  <a:srgbClr val="0F2A44"/>
                </a:solidFill>
                <a:latin typeface="Hiragino Sans" pitchFamily="34" charset="0"/>
                <a:ea typeface="Hiragino Sans" pitchFamily="34" charset="-122"/>
                <a:cs typeface="Hiragino Sans" pitchFamily="34" charset="-120"/>
              </a:rPr>
              <a:t>Colab で動かす素の Qwen3-8B にはそれがない。学習した時点までの知識しか持たず、今日の日付も、今の気圧配置も知らない</a:t>
            </a:r>
            <a:endParaRPr lang="en-US" sz="1400" dirty="0"/>
          </a:p>
          <a:p>
            <a:pPr marL="342900" indent="-342900">
              <a:spcAft>
                <a:spcPts val="600"/>
              </a:spcAft>
              <a:buSzPct val="100000"/>
              <a:buChar char="•"/>
            </a:pPr>
            <a:r>
              <a:rPr lang="en-US" sz="1400" dirty="0">
                <a:solidFill>
                  <a:srgbClr val="0F2A44"/>
                </a:solidFill>
                <a:latin typeface="Hiragino Sans" pitchFamily="34" charset="0"/>
                <a:ea typeface="Hiragino Sans" pitchFamily="34" charset="-122"/>
                <a:cs typeface="Hiragino Sans" pitchFamily="34" charset="-120"/>
              </a:rPr>
              <a:t>それでも文章は作れる。「もっともらしい」ことと「正しい」ことは別 — 外部データに触れない LLM に共通の性質で、8B の欠陥ではない</a:t>
            </a:r>
            <a:endParaRPr lang="en-US" sz="1400" dirty="0"/>
          </a:p>
          <a:p>
            <a:pPr marL="342900" indent="-342900">
              <a:spcAft>
                <a:spcPts val="600"/>
              </a:spcAft>
              <a:buSzPct val="100000"/>
              <a:buChar char="•"/>
            </a:pPr>
            <a:r>
              <a:rPr lang="en-US" sz="1400" dirty="0">
                <a:solidFill>
                  <a:srgbClr val="0F2A44"/>
                </a:solidFill>
                <a:latin typeface="Hiragino Sans" pitchFamily="34" charset="0"/>
                <a:ea typeface="Hiragino Sans" pitchFamily="34" charset="-122"/>
                <a:cs typeface="Hiragino Sans" pitchFamily="34" charset="-120"/>
              </a:rPr>
              <a:t>この差を Tool で埋めるのが、今日の実験</a:t>
            </a:r>
            <a:endParaRPr lang="en-US" sz="1400" dirty="0"/>
          </a:p>
        </p:txBody>
      </p:sp>
      <p:sp>
        <p:nvSpPr>
          <p:cNvPr id="11" name="Text 7"/>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3</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【解説】生成 AI モデルの地図(2026 年前半の主なもの)</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「ChatGPT」「Claude」も「Qwen」も、同じ LLM(大規模言語モデル)という技術。違いは提供のされ方</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1371600"/>
                <a:gridCol w="4572000"/>
                <a:gridCol w="5120640"/>
              </a:tblGrid>
              <a:tr h="384048">
                <a:tc>
                  <a:txBody>
                    <a:bodyPr/>
                    <a:lstStyle/>
                    <a:p>
                      <a:pPr algn="ctr" indent="0" marL="0">
                        <a:buNone/>
                      </a:pPr>
                      <a:endParaRPr lang="en-US" sz="12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250" b="1" dirty="0">
                          <a:solidFill>
                            <a:srgbClr val="FFFFFF"/>
                          </a:solidFill>
                          <a:latin typeface="Hiragino Sans" pitchFamily="34" charset="0"/>
                          <a:ea typeface="Hiragino Sans" pitchFamily="34" charset="-122"/>
                          <a:cs typeface="Hiragino Sans" pitchFamily="34" charset="-120"/>
                        </a:rPr>
                        <a:t>クローズド(重み非公開)</a:t>
                      </a:r>
                      <a:endParaRPr lang="en-US" sz="12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250" b="1" dirty="0">
                          <a:solidFill>
                            <a:srgbClr val="FFFFFF"/>
                          </a:solidFill>
                          <a:latin typeface="Hiragino Sans" pitchFamily="34" charset="0"/>
                          <a:ea typeface="Hiragino Sans" pitchFamily="34" charset="-122"/>
                          <a:cs typeface="Hiragino Sans" pitchFamily="34" charset="-120"/>
                        </a:rPr>
                        <a:t>オープン(重みを公開)</a:t>
                      </a:r>
                      <a:endParaRPr lang="en-US" sz="12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r>
              <a:tr h="77724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代表例</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9FB"/>
                    </a:solidFill>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ChatGPT(OpenAI / GPT-5 系)、Claude(Anthropic)、Gemini(Google)</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Llama(Meta / 米)、Gemma(Google / 米)、gpt-oss(OpenAI / 米)、Qwen(Alibaba / 中)、DeepSeek(中)、Mistral(仏)、日本: Swallow・LLM-jp・Sarashina・PLaMo</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使い方</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9FB"/>
                    </a:solidFill>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提供元のサーバーで動く。アプリや API 経由で使う</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モデル本体(重み)をダウンロードし、自分の PC・クラウド・Colab で動かせる</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費用</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9FB"/>
                    </a:solidFill>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月額プラン、または API の従量課金</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モデル自体は無料。動かす計算機(GPU)の費用だけ</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データの扱い</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9FB"/>
                    </a:solidFill>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質問文は提供元に送られる(規約次第で学習に使われないよう設定可)</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手元で動くので外に出ない。オフラインでも動く</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性能</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9FB"/>
                    </a:solidFill>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最上位。最新の推論能力・長文・マルチモーダル</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最上位には及ばないが、差は縮小中。小さいモデル(4〜8B)は手軽だが限界も明確</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向くこと</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9FB"/>
                    </a:solidFill>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高品質が必要な業務、複雑な推論、手軽に始める</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データを外に出せない用途、大量処理、研究・実験、カスタマイズ(追加学習)</a:t>
                      </a:r>
                      <a:endParaRPr lang="en-US" sz="1150" dirty="0">
                        <a:latin typeface="Hiragino Sans" charset="0"/>
                        <a:ea typeface="Hiragino Sans" charset="0"/>
                        <a:cs typeface="Hiragino Sans"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5" name="Text 2"/>
          <p:cNvSpPr txBox="1"/>
          <p:nvPr/>
        </p:nvSpPr>
        <p:spPr>
          <a:xfrm>
            <a:off x="548640" y="5943600"/>
            <a:ext cx="11064240" cy="548640"/>
          </a:xfrm>
          <a:prstGeom prst="rect">
            <a:avLst/>
          </a:prstGeom>
          <a:noFill/>
          <a:ln/>
        </p:spPr>
        <p:txBody>
          <a:bodyPr wrap="square" lIns="0" tIns="0" rIns="0" bIns="0" rtlCol="0" anchor="t"/>
          <a:lstStyle/>
          <a:p>
            <a:pPr indent="0" marL="0">
              <a:buNone/>
            </a:pPr>
            <a:r>
              <a:rPr lang="en-US" sz="1100" dirty="0">
                <a:solidFill>
                  <a:srgbClr val="5A6470"/>
                </a:solidFill>
                <a:latin typeface="Hiragino Sans" pitchFamily="34" charset="0"/>
                <a:ea typeface="Hiragino Sans" pitchFamily="34" charset="-122"/>
                <a:cs typeface="Hiragino Sans" pitchFamily="34" charset="-120"/>
              </a:rPr>
              <a:t>※「オープン」は多くの場合、重みは公開・学習データは非公開(オープンウェイト)。ライセンスは Apache 2.0 など商用可のものが主流。モデル名の「8B」「70B」はパラメータ数(80 億・700 億)で、大きいほど賢いが重い</a:t>
            </a:r>
            <a:endParaRPr lang="en-US" sz="1100" dirty="0"/>
          </a:p>
        </p:txBody>
      </p:sp>
      <p:sp>
        <p:nvSpPr>
          <p:cNvPr id="7" name="Text 3"/>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4</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【解説】今回 Qwen3 を選んだ理由</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Qwen(通義千問)= 中国 Alibaba Cloud が Apache 2.0 で公開しているオープンウェイト LLM。Qwen3 は 2025 年 4 月〜</a:t>
            </a:r>
            <a:endParaRPr lang="en-US" sz="1400" dirty="0"/>
          </a:p>
        </p:txBody>
      </p:sp>
      <p:sp>
        <p:nvSpPr>
          <p:cNvPr id="4" name="Shape 2"/>
          <p:cNvSpPr/>
          <p:nvPr/>
        </p:nvSpPr>
        <p:spPr>
          <a:xfrm>
            <a:off x="548640" y="1554480"/>
            <a:ext cx="3566160" cy="2286000"/>
          </a:xfrm>
          <a:prstGeom prst="roundRect">
            <a:avLst>
              <a:gd name="adj" fmla="val 4800"/>
            </a:avLst>
          </a:prstGeom>
          <a:solidFill>
            <a:srgbClr val="F7F9FB"/>
          </a:solidFill>
          <a:ln w="12700">
            <a:solidFill>
              <a:srgbClr val="F7F9FB"/>
            </a:solidFill>
            <a:prstDash val="solid"/>
          </a:ln>
        </p:spPr>
      </p:sp>
      <p:sp>
        <p:nvSpPr>
          <p:cNvPr id="5" name="Text 3"/>
          <p:cNvSpPr txBox="1"/>
          <p:nvPr/>
        </p:nvSpPr>
        <p:spPr>
          <a:xfrm>
            <a:off x="777240" y="1737360"/>
            <a:ext cx="310896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① 無料で Colab に載る</a:t>
            </a:r>
            <a:endParaRPr lang="en-US" sz="1500" dirty="0"/>
          </a:p>
        </p:txBody>
      </p:sp>
      <p:sp>
        <p:nvSpPr>
          <p:cNvPr id="6" name="Text 4"/>
          <p:cNvSpPr txBox="1"/>
          <p:nvPr/>
        </p:nvSpPr>
        <p:spPr>
          <a:xfrm>
            <a:off x="777240" y="2148840"/>
            <a:ext cx="3108960" cy="150876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4bit 量子化した 8B が約 6GB。無料枠の T4(16GB)で動く。API キー・課金・利用申請なし(Llama や Gemma は利用規約への同意とトークンが必要)</a:t>
            </a:r>
            <a:endParaRPr lang="en-US" sz="1250" dirty="0"/>
          </a:p>
        </p:txBody>
      </p:sp>
      <p:sp>
        <p:nvSpPr>
          <p:cNvPr id="7" name="Shape 5"/>
          <p:cNvSpPr/>
          <p:nvPr/>
        </p:nvSpPr>
        <p:spPr>
          <a:xfrm>
            <a:off x="4315968" y="1554480"/>
            <a:ext cx="3566160" cy="2286000"/>
          </a:xfrm>
          <a:prstGeom prst="roundRect">
            <a:avLst>
              <a:gd name="adj" fmla="val 4800"/>
            </a:avLst>
          </a:prstGeom>
          <a:solidFill>
            <a:srgbClr val="F7F9FB"/>
          </a:solidFill>
          <a:ln w="12700">
            <a:solidFill>
              <a:srgbClr val="F7F9FB"/>
            </a:solidFill>
            <a:prstDash val="solid"/>
          </a:ln>
        </p:spPr>
      </p:sp>
      <p:sp>
        <p:nvSpPr>
          <p:cNvPr id="8" name="Text 6"/>
          <p:cNvSpPr txBox="1"/>
          <p:nvPr/>
        </p:nvSpPr>
        <p:spPr>
          <a:xfrm>
            <a:off x="4544568" y="1737360"/>
            <a:ext cx="310896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② 日本語が強い</a:t>
            </a:r>
            <a:endParaRPr lang="en-US" sz="1500" dirty="0"/>
          </a:p>
        </p:txBody>
      </p:sp>
      <p:sp>
        <p:nvSpPr>
          <p:cNvPr id="9" name="Text 7"/>
          <p:cNvSpPr txBox="1"/>
          <p:nvPr/>
        </p:nvSpPr>
        <p:spPr>
          <a:xfrm>
            <a:off x="4544568" y="2148840"/>
            <a:ext cx="3108960" cy="150876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119 言語・36 兆トークンで学習。オープンモデルの中では日本語ベンチマークで上位の常連。日本企業の日本語モデルのベースにも使われる</a:t>
            </a:r>
            <a:endParaRPr lang="en-US" sz="1250" dirty="0"/>
          </a:p>
        </p:txBody>
      </p:sp>
      <p:sp>
        <p:nvSpPr>
          <p:cNvPr id="10" name="Shape 8"/>
          <p:cNvSpPr/>
          <p:nvPr/>
        </p:nvSpPr>
        <p:spPr>
          <a:xfrm>
            <a:off x="8083296" y="1554480"/>
            <a:ext cx="3566160" cy="2286000"/>
          </a:xfrm>
          <a:prstGeom prst="roundRect">
            <a:avLst>
              <a:gd name="adj" fmla="val 4800"/>
            </a:avLst>
          </a:prstGeom>
          <a:solidFill>
            <a:srgbClr val="F7F9FB"/>
          </a:solidFill>
          <a:ln w="12700">
            <a:solidFill>
              <a:srgbClr val="F7F9FB"/>
            </a:solidFill>
            <a:prstDash val="solid"/>
          </a:ln>
        </p:spPr>
      </p:sp>
      <p:sp>
        <p:nvSpPr>
          <p:cNvPr id="11" name="Text 9"/>
          <p:cNvSpPr txBox="1"/>
          <p:nvPr/>
        </p:nvSpPr>
        <p:spPr>
          <a:xfrm>
            <a:off x="8311896" y="1737360"/>
            <a:ext cx="310896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③ Tool Use に対応</a:t>
            </a:r>
            <a:endParaRPr lang="en-US" sz="1500" dirty="0"/>
          </a:p>
        </p:txBody>
      </p:sp>
      <p:sp>
        <p:nvSpPr>
          <p:cNvPr id="12" name="Text 10"/>
          <p:cNvSpPr txBox="1"/>
          <p:nvPr/>
        </p:nvSpPr>
        <p:spPr>
          <a:xfrm>
            <a:off x="8311896" y="2148840"/>
            <a:ext cx="3108960" cy="150876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「関数を呼ぶ」ための事後学習済み。関数の説明文(docstring)を渡すだけで、決まった形式で呼び出しを出力する</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069080"/>
          <a:ext cx="11064240" cy="914400"/>
        </p:xfrm>
        <a:graphic>
          <a:graphicData uri="http://schemas.openxmlformats.org/drawingml/2006/table">
            <a:tbl>
              <a:tblPr/>
              <a:tblGrid>
                <a:gridCol w="2743200"/>
                <a:gridCol w="1645920"/>
                <a:gridCol w="1280160"/>
                <a:gridCol w="1280160"/>
                <a:gridCol w="4114800"/>
              </a:tblGrid>
              <a:tr h="329184">
                <a:tc>
                  <a:txBody>
                    <a:bodyP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モデル</a:t>
                      </a:r>
                      <a:endParaRPr lang="en-US" sz="115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4bit 時の VRAM</a:t>
                      </a:r>
                      <a:endParaRPr lang="en-US" sz="115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無料 T4</a:t>
                      </a:r>
                      <a:endParaRPr lang="en-US" sz="115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A100 級</a:t>
                      </a:r>
                      <a:endParaRPr lang="en-US" sz="115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位置づけ</a:t>
                      </a:r>
                      <a:endParaRPr lang="en-US" sz="115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r>
              <a:tr h="329184">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Qwen3-4B-Instruct-2507</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約 3GB</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 速い</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軽量・時短</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algn="ctr" indent="0" marL="0">
                        <a:buNone/>
                      </a:pPr>
                      <a:r>
                        <a:rPr lang="en-US" sz="1100" b="1" dirty="0">
                          <a:solidFill>
                            <a:srgbClr val="0F2A44"/>
                          </a:solidFill>
                          <a:latin typeface="Hiragino Sans" pitchFamily="34" charset="0"/>
                          <a:ea typeface="Hiragino Sans" pitchFamily="34" charset="-122"/>
                          <a:cs typeface="Hiragino Sans" pitchFamily="34" charset="-120"/>
                        </a:rPr>
                        <a:t>Qwen3-8B</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F2A44"/>
                          </a:solidFill>
                          <a:latin typeface="Hiragino Sans" pitchFamily="34" charset="0"/>
                          <a:ea typeface="Hiragino Sans" pitchFamily="34" charset="-122"/>
                          <a:cs typeface="Hiragino Sans" pitchFamily="34" charset="-120"/>
                        </a:rPr>
                        <a:t>約 6GB</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F2A44"/>
                          </a:solidFill>
                          <a:latin typeface="Hiragino Sans" pitchFamily="34" charset="0"/>
                          <a:ea typeface="Hiragino Sans" pitchFamily="34" charset="-122"/>
                          <a:cs typeface="Hiragino Sans" pitchFamily="34" charset="-120"/>
                        </a:rPr>
                        <a:t>○ 標準</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F2A44"/>
                          </a:solidFill>
                          <a:latin typeface="Hiragino Sans" pitchFamily="34" charset="0"/>
                          <a:ea typeface="Hiragino Sans" pitchFamily="34" charset="-122"/>
                          <a:cs typeface="Hiragino Sans" pitchFamily="34" charset="-120"/>
                        </a:rPr>
                        <a:t>◎</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F2A44"/>
                          </a:solidFill>
                          <a:latin typeface="Hiragino Sans" pitchFamily="34" charset="0"/>
                          <a:ea typeface="Hiragino Sans" pitchFamily="34" charset="-122"/>
                          <a:cs typeface="Hiragino Sans" pitchFamily="34" charset="-120"/>
                        </a:rPr>
                        <a:t>今回の既定。今日の結果はすべてこれ</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Qwen3-14B</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約 10GB</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 遅い</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品質重視</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Qwen3-30B-A3B-Instruct-2507</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約 18GB</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F2A44"/>
                          </a:solidFill>
                          <a:latin typeface="Hiragino Sans" pitchFamily="34" charset="0"/>
                          <a:ea typeface="Hiragino Sans" pitchFamily="34" charset="-122"/>
                          <a:cs typeface="Hiragino Sans" pitchFamily="34" charset="-120"/>
                        </a:rPr>
                        <a:t>MoE: 計算は 3B 相当で速く、能力は 30B 相当</a:t>
                      </a:r>
                      <a:endParaRPr lang="en-US" sz="1100" dirty="0">
                        <a:latin typeface="Hiragino Sans" charset="0"/>
                        <a:ea typeface="Hiragino Sans" charset="0"/>
                        <a:cs typeface="Hiragino Sans"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14" name="Text 11"/>
          <p:cNvSpPr txBox="1"/>
          <p:nvPr/>
        </p:nvSpPr>
        <p:spPr>
          <a:xfrm>
            <a:off x="548640" y="5806440"/>
            <a:ext cx="11064240" cy="685800"/>
          </a:xfrm>
          <a:prstGeom prst="rect">
            <a:avLst/>
          </a:prstGeom>
          <a:noFill/>
          <a:ln/>
        </p:spPr>
        <p:txBody>
          <a:bodyPr wrap="square" lIns="0" tIns="0" rIns="0" bIns="0" rtlCol="0" anchor="t"/>
          <a:lstStyle/>
          <a:p>
            <a:pPr indent="0" marL="0">
              <a:buNone/>
            </a:pPr>
            <a:r>
              <a:rPr lang="en-US" sz="1100" dirty="0">
                <a:solidFill>
                  <a:srgbClr val="5A6470"/>
                </a:solidFill>
                <a:latin typeface="Hiragino Sans" pitchFamily="34" charset="0"/>
                <a:ea typeface="Hiragino Sans" pitchFamily="34" charset="-122"/>
                <a:cs typeface="Hiragino Sans" pitchFamily="34" charset="-120"/>
              </a:rPr>
              <a:t>「中国製」について: 重みを手元(Colab)で動かすので、質問や結果が中国のサーバーに送られることはない。学習データの中身は非公開で、政治的な話題への答え方には開発元の方針が反映されうるが、今回のように「気象庁データを読んで文章にする」用途には影響しない</a:t>
            </a:r>
            <a:endParaRPr lang="en-US" sz="1100" dirty="0"/>
          </a:p>
        </p:txBody>
      </p:sp>
      <p:sp>
        <p:nvSpPr>
          <p:cNvPr id="16" name="Text 12"/>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5</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Tool Use とは — LLM に「関数」を使わせる仕組み</a:t>
            </a:r>
            <a:endParaRPr lang="en-US" sz="2400" dirty="0"/>
          </a:p>
        </p:txBody>
      </p:sp>
      <p:pic>
        <p:nvPicPr>
          <p:cNvPr id="3" name="Image 0" descr="/home/claude/slides/img/tool_use_loop.png">    </p:cNvPr>
          <p:cNvPicPr>
            <a:picLocks noChangeAspect="1"/>
          </p:cNvPicPr>
          <p:nvPr/>
        </p:nvPicPr>
        <p:blipFill>
          <a:blip r:embed="rId1"/>
          <a:stretch>
            <a:fillRect/>
          </a:stretch>
        </p:blipFill>
        <p:spPr>
          <a:xfrm>
            <a:off x="1456509" y="1143000"/>
            <a:ext cx="9248503" cy="5394960"/>
          </a:xfrm>
          <a:prstGeom prst="rect">
            <a:avLst/>
          </a:prstGeom>
        </p:spPr>
      </p:pic>
      <p:sp>
        <p:nvSpPr>
          <p:cNvPr id="5" name="Text 1"/>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Tool は「ただの Python 関数」。LLM が読むのは説明文だけ</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関数を 1 つ書いて登録すると、LLM ができることが 1 つ増える</a:t>
            </a:r>
            <a:endParaRPr lang="en-US" sz="1400" dirty="0"/>
          </a:p>
        </p:txBody>
      </p:sp>
      <p:sp>
        <p:nvSpPr>
          <p:cNvPr id="4" name="Shape 2"/>
          <p:cNvSpPr/>
          <p:nvPr/>
        </p:nvSpPr>
        <p:spPr>
          <a:xfrm>
            <a:off x="548640" y="1554480"/>
            <a:ext cx="6400800" cy="4206240"/>
          </a:xfrm>
          <a:prstGeom prst="roundRect">
            <a:avLst>
              <a:gd name="adj" fmla="val 2609"/>
            </a:avLst>
          </a:prstGeom>
          <a:solidFill>
            <a:srgbClr val="0E2A47"/>
          </a:solidFill>
          <a:ln w="12700">
            <a:solidFill>
              <a:srgbClr val="0E2A47"/>
            </a:solidFill>
            <a:prstDash val="solid"/>
          </a:ln>
        </p:spPr>
      </p:sp>
      <p:sp>
        <p:nvSpPr>
          <p:cNvPr id="5" name="Text 3"/>
          <p:cNvSpPr txBox="1"/>
          <p:nvPr/>
        </p:nvSpPr>
        <p:spPr>
          <a:xfrm>
            <a:off x="777240" y="1737360"/>
            <a:ext cx="6035040" cy="3840480"/>
          </a:xfrm>
          <a:prstGeom prst="rect">
            <a:avLst/>
          </a:prstGeom>
          <a:noFill/>
          <a:ln/>
        </p:spPr>
        <p:txBody>
          <a:bodyPr wrap="square" lIns="0" tIns="0" rIns="0" bIns="0" rtlCol="0" anchor="t"/>
          <a:lstStyle/>
          <a:p>
            <a:pPr indent="0" marL="0">
              <a:buNone/>
            </a:pPr>
            <a:r>
              <a:rPr lang="en-US" sz="1150" dirty="0">
                <a:solidFill>
                  <a:srgbClr val="8FE3F5"/>
                </a:solidFill>
                <a:latin typeface="Menlo" pitchFamily="34" charset="0"/>
                <a:ea typeface="Menlo" pitchFamily="34" charset="-122"/>
                <a:cs typeface="Menlo" pitchFamily="34" charset="-120"/>
              </a:rPr>
              <a:t>def get_weekly_forecast(area: str) -&gt; dict:
</a:t>
            </a:r>
            <a:pPr indent="0" marL="0">
              <a:buNone/>
            </a:pPr>
            <a:r>
              <a:rPr lang="en-US" sz="1150" dirty="0">
                <a:solidFill>
                  <a:srgbClr val="E2711D"/>
                </a:solidFill>
                <a:latin typeface="Menlo" pitchFamily="34" charset="0"/>
                <a:ea typeface="Menlo" pitchFamily="34" charset="-122"/>
                <a:cs typeface="Menlo" pitchFamily="34" charset="-120"/>
              </a:rPr>
              <a:t>    """
    指定した都道府県の週間天気予報(明日から 7 日分)を
    気象庁から取得します。日別の天気、降水確率、
    最低・最高気温、信頼度(A/B/C)、この時期の平年値を返します。
    Args:
        area: 都道府県名(例: "京都府")。「京都」も可。
    """
</a:t>
            </a:r>
            <a:pPr indent="0" marL="0">
              <a:buNone/>
            </a:pPr>
            <a:r>
              <a:rPr lang="en-US" sz="1150" dirty="0">
                <a:solidFill>
                  <a:srgbClr val="F7F9FB"/>
                </a:solidFill>
                <a:latin typeface="Menlo" pitchFamily="34" charset="0"/>
                <a:ea typeface="Menlo" pitchFamily="34" charset="-122"/>
                <a:cs typeface="Menlo" pitchFamily="34" charset="-120"/>
              </a:rPr>
              <a:t>    code = resolve_area(area)</a:t>
            </a:r>
            <a:endParaRPr lang="en-US" sz="1150" dirty="0"/>
          </a:p>
          <a:p>
            <a:pPr indent="0" marL="0">
              <a:buNone/>
            </a:pPr>
            <a:r>
              <a:rPr lang="en-US" sz="1150" dirty="0">
                <a:solidFill>
                  <a:srgbClr val="F7F9FB"/>
                </a:solidFill>
                <a:latin typeface="Menlo" pitchFamily="34" charset="0"/>
                <a:ea typeface="Menlo" pitchFamily="34" charset="-122"/>
                <a:cs typeface="Menlo" pitchFamily="34" charset="-120"/>
              </a:rPr>
              <a:t>    data = fetch_json(f"forecast/data/forecast/{code}.json")</a:t>
            </a:r>
            <a:endParaRPr lang="en-US" sz="1150" dirty="0"/>
          </a:p>
          <a:p>
            <a:pPr indent="0" marL="0">
              <a:buNone/>
            </a:pPr>
            <a:r>
              <a:rPr lang="en-US" sz="1150" dirty="0">
                <a:solidFill>
                  <a:srgbClr val="F7F9FB"/>
                </a:solidFill>
                <a:latin typeface="Menlo" pitchFamily="34" charset="0"/>
                <a:ea typeface="Menlo" pitchFamily="34" charset="-122"/>
                <a:cs typeface="Menlo" pitchFamily="34" charset="-120"/>
              </a:rPr>
              <a:t>    return {日別の天気・気温・降水確率・信頼度 ...}</a:t>
            </a:r>
            <a:endParaRPr lang="en-US" sz="1150" dirty="0"/>
          </a:p>
        </p:txBody>
      </p:sp>
      <p:sp>
        <p:nvSpPr>
          <p:cNvPr id="6" name="Shape 4"/>
          <p:cNvSpPr/>
          <p:nvPr/>
        </p:nvSpPr>
        <p:spPr>
          <a:xfrm>
            <a:off x="7223760" y="1554480"/>
            <a:ext cx="4389120" cy="1280160"/>
          </a:xfrm>
          <a:prstGeom prst="roundRect">
            <a:avLst>
              <a:gd name="adj" fmla="val 8571"/>
            </a:avLst>
          </a:prstGeom>
          <a:solidFill>
            <a:srgbClr val="F7F9FB"/>
          </a:solidFill>
          <a:ln w="12700">
            <a:solidFill>
              <a:srgbClr val="F7F9FB"/>
            </a:solidFill>
            <a:prstDash val="solid"/>
          </a:ln>
        </p:spPr>
      </p:sp>
      <p:sp>
        <p:nvSpPr>
          <p:cNvPr id="7" name="Text 5"/>
          <p:cNvSpPr txBox="1"/>
          <p:nvPr/>
        </p:nvSpPr>
        <p:spPr>
          <a:xfrm>
            <a:off x="7452360" y="1737360"/>
            <a:ext cx="3931920" cy="41148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LLM に渡るのは docstring(黄色の部分)</a:t>
            </a:r>
            <a:endParaRPr lang="en-US" sz="1500" dirty="0"/>
          </a:p>
        </p:txBody>
      </p:sp>
      <p:sp>
        <p:nvSpPr>
          <p:cNvPr id="8" name="Text 6"/>
          <p:cNvSpPr txBox="1"/>
          <p:nvPr/>
        </p:nvSpPr>
        <p:spPr>
          <a:xfrm>
            <a:off x="7452360" y="2148840"/>
            <a:ext cx="3931920" cy="50292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Qwen3 のチャットテンプレートが、説明文と型ヒントから「使える関数の一覧」を自動生成する</a:t>
            </a:r>
            <a:endParaRPr lang="en-US" sz="1250" dirty="0"/>
          </a:p>
        </p:txBody>
      </p:sp>
      <p:sp>
        <p:nvSpPr>
          <p:cNvPr id="9" name="Shape 7"/>
          <p:cNvSpPr/>
          <p:nvPr/>
        </p:nvSpPr>
        <p:spPr>
          <a:xfrm>
            <a:off x="7223760" y="3017520"/>
            <a:ext cx="4389120" cy="1280160"/>
          </a:xfrm>
          <a:prstGeom prst="roundRect">
            <a:avLst>
              <a:gd name="adj" fmla="val 8571"/>
            </a:avLst>
          </a:prstGeom>
          <a:solidFill>
            <a:srgbClr val="F7F9FB"/>
          </a:solidFill>
          <a:ln w="12700">
            <a:solidFill>
              <a:srgbClr val="F7F9FB"/>
            </a:solidFill>
            <a:prstDash val="solid"/>
          </a:ln>
        </p:spPr>
      </p:sp>
      <p:sp>
        <p:nvSpPr>
          <p:cNvPr id="10" name="Text 8"/>
          <p:cNvSpPr txBox="1"/>
          <p:nvPr/>
        </p:nvSpPr>
        <p:spPr>
          <a:xfrm>
            <a:off x="7452360" y="3200400"/>
            <a:ext cx="3931920" cy="41148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LLM の仕事は 3 つだけ</a:t>
            </a:r>
            <a:endParaRPr lang="en-US" sz="1500" dirty="0"/>
          </a:p>
        </p:txBody>
      </p:sp>
      <p:sp>
        <p:nvSpPr>
          <p:cNvPr id="11" name="Text 9"/>
          <p:cNvSpPr txBox="1"/>
          <p:nvPr/>
        </p:nvSpPr>
        <p:spPr>
          <a:xfrm>
            <a:off x="7452360" y="3611880"/>
            <a:ext cx="3931920" cy="50292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① 質問に必要な関数を選ぶ  ② 引数を決める(「京都」→ 京都府)  ③ 返ってきた結果を読んで文章にする</a:t>
            </a:r>
            <a:endParaRPr lang="en-US" sz="1250" dirty="0"/>
          </a:p>
        </p:txBody>
      </p:sp>
      <p:sp>
        <p:nvSpPr>
          <p:cNvPr id="12" name="Shape 10"/>
          <p:cNvSpPr/>
          <p:nvPr/>
        </p:nvSpPr>
        <p:spPr>
          <a:xfrm>
            <a:off x="7223760" y="4480560"/>
            <a:ext cx="4389120" cy="1280160"/>
          </a:xfrm>
          <a:prstGeom prst="roundRect">
            <a:avLst>
              <a:gd name="adj" fmla="val 8571"/>
            </a:avLst>
          </a:prstGeom>
          <a:solidFill>
            <a:srgbClr val="F7F9FB"/>
          </a:solidFill>
          <a:ln w="12700">
            <a:solidFill>
              <a:srgbClr val="F7F9FB"/>
            </a:solidFill>
            <a:prstDash val="solid"/>
          </a:ln>
        </p:spPr>
      </p:sp>
      <p:sp>
        <p:nvSpPr>
          <p:cNvPr id="13" name="Text 11"/>
          <p:cNvSpPr txBox="1"/>
          <p:nvPr/>
        </p:nvSpPr>
        <p:spPr>
          <a:xfrm>
            <a:off x="7452360" y="4663440"/>
            <a:ext cx="3931920" cy="41148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だから</a:t>
            </a:r>
            <a:endParaRPr lang="en-US" sz="1500" dirty="0"/>
          </a:p>
        </p:txBody>
      </p:sp>
      <p:sp>
        <p:nvSpPr>
          <p:cNvPr id="14" name="Text 12"/>
          <p:cNvSpPr txBox="1"/>
          <p:nvPr/>
        </p:nvSpPr>
        <p:spPr>
          <a:xfrm>
            <a:off x="7452360" y="5074920"/>
            <a:ext cx="3931920" cy="50292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説明文に書いていないことは LLM に見えない(後で実例)。Tool を書く=説明文を書く、と言ってもいい</a:t>
            </a:r>
            <a:endParaRPr lang="en-US" sz="1250" dirty="0"/>
          </a:p>
        </p:txBody>
      </p:sp>
      <p:sp>
        <p:nvSpPr>
          <p:cNvPr id="15" name="Text 13"/>
          <p:cNvSpPr txBox="1"/>
          <p:nvPr/>
        </p:nvSpPr>
        <p:spPr>
          <a:xfrm>
            <a:off x="548640" y="5989320"/>
            <a:ext cx="11064240" cy="457200"/>
          </a:xfrm>
          <a:prstGeom prst="rect">
            <a:avLst/>
          </a:prstGeom>
          <a:noFill/>
          <a:ln/>
        </p:spPr>
        <p:txBody>
          <a:bodyPr wrap="square" lIns="0" tIns="0" rIns="0" bIns="0" rtlCol="0" anchor="t"/>
          <a:lstStyle/>
          <a:p>
            <a:pPr indent="0" marL="0">
              <a:buNone/>
            </a:pPr>
            <a:r>
              <a:rPr lang="en-US" sz="1250" dirty="0">
                <a:solidFill>
                  <a:srgbClr val="5A6470"/>
                </a:solidFill>
                <a:latin typeface="Hiragino Sans" pitchFamily="34" charset="0"/>
                <a:ea typeface="Hiragino Sans" pitchFamily="34" charset="-122"/>
                <a:cs typeface="Hiragino Sans" pitchFamily="34" charset="-120"/>
              </a:rPr>
              <a:t>今回の Tool: 週間予報 / 3 日間予報 / 概況文 / 警報・注意報 / アメダス実況 / 統計計算(平均など)。すべて気象庁の公開 JSON(bosai 配下)</a:t>
            </a:r>
            <a:endParaRPr lang="en-US" sz="1250" dirty="0"/>
          </a:p>
        </p:txBody>
      </p:sp>
      <p:sp>
        <p:nvSpPr>
          <p:cNvPr id="16" name="Text 14"/>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7</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使ったデータ — 気象庁が公開している JSON だけ</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認証なし・無料。ただし「最新の発表・最新の観測」だけが置かれている</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1554480"/>
                <a:gridCol w="5486400"/>
                <a:gridCol w="4023360"/>
              </a:tblGrid>
              <a:tr h="457200">
                <a:tc>
                  <a:txBody>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Tool</a:t>
                      </a:r>
                      <a:endParaRPr lang="en-US" sz="120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取ってくるもの</a:t>
                      </a:r>
                      <a:endParaRPr lang="en-US" sz="120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答えられる質問の例</a:t>
                      </a:r>
                      <a:endParaRPr lang="en-US" sz="120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r>
              <a:tr h="45720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週間予報</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明日〜7 日先の天気・降水確率・最低/最高気温(幅)・信頼度 A/B/C・平年値</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今週の最高気温の平均は? 信頼度が低い日は?</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3 日間予報</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今日〜明後日の天気・風・波、6 時間ごとの降水確率、気温</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明日、降水確率が高い時間帯は? 風は?</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概況文</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気象台の予報官が書いた解説文</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天気の背景を説明して。記事にして</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警報・注意報</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発表中の警報・注意報・危険警報(市町村名つき)</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今、警報が出ている市町村は?</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アメダス実況</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府県内の観測所の最新 10 分値(気温・降水・風・湿度・積雪)</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今いちばん気温が高い地点は? 雪は?</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50" b="1" dirty="0">
                          <a:solidFill>
                            <a:srgbClr val="0F2A44"/>
                          </a:solidFill>
                          <a:latin typeface="Hiragino Sans" pitchFamily="34" charset="0"/>
                          <a:ea typeface="Hiragino Sans" pitchFamily="34" charset="-122"/>
                          <a:cs typeface="Hiragino Sans" pitchFamily="34" charset="-120"/>
                        </a:rPr>
                        <a:t>統計計算</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平均・最大・最小・合計(計算だけ)</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F2A44"/>
                          </a:solidFill>
                          <a:latin typeface="Hiragino Sans" pitchFamily="34" charset="0"/>
                          <a:ea typeface="Hiragino Sans" pitchFamily="34" charset="-122"/>
                          <a:cs typeface="Hiragino Sans" pitchFamily="34" charset="-120"/>
                        </a:rPr>
                        <a:t>(LLM の暗算を防ぐため)</a:t>
                      </a:r>
                      <a:endParaRPr lang="en-US" sz="11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5" name="Shape 2"/>
          <p:cNvSpPr/>
          <p:nvPr/>
        </p:nvSpPr>
        <p:spPr>
          <a:xfrm>
            <a:off x="548640" y="4892040"/>
            <a:ext cx="5394960" cy="1600200"/>
          </a:xfrm>
          <a:prstGeom prst="roundRect">
            <a:avLst>
              <a:gd name="adj" fmla="val 6857"/>
            </a:avLst>
          </a:prstGeom>
          <a:solidFill>
            <a:srgbClr val="F7F9FB"/>
          </a:solidFill>
          <a:ln w="12700">
            <a:solidFill>
              <a:srgbClr val="F7F9FB"/>
            </a:solidFill>
            <a:prstDash val="solid"/>
          </a:ln>
        </p:spPr>
      </p:sp>
      <p:sp>
        <p:nvSpPr>
          <p:cNvPr id="6" name="Text 3"/>
          <p:cNvSpPr txBox="1"/>
          <p:nvPr/>
        </p:nvSpPr>
        <p:spPr>
          <a:xfrm>
            <a:off x="777240" y="5074920"/>
            <a:ext cx="493776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答えられること</a:t>
            </a:r>
            <a:endParaRPr lang="en-US" sz="1500" dirty="0"/>
          </a:p>
        </p:txBody>
      </p:sp>
      <p:sp>
        <p:nvSpPr>
          <p:cNvPr id="7" name="Text 4"/>
          <p:cNvSpPr txBox="1"/>
          <p:nvPr/>
        </p:nvSpPr>
        <p:spPr>
          <a:xfrm>
            <a:off x="777240" y="5486400"/>
            <a:ext cx="4937760" cy="82296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今日〜7 日先の予報 / 今の実況 / 発表中の警報 / 概況文の要約・記事化</a:t>
            </a:r>
            <a:endParaRPr lang="en-US" sz="1250" dirty="0"/>
          </a:p>
        </p:txBody>
      </p:sp>
      <p:sp>
        <p:nvSpPr>
          <p:cNvPr id="8" name="Shape 5"/>
          <p:cNvSpPr/>
          <p:nvPr/>
        </p:nvSpPr>
        <p:spPr>
          <a:xfrm>
            <a:off x="6217920" y="4892040"/>
            <a:ext cx="5394960" cy="1600200"/>
          </a:xfrm>
          <a:prstGeom prst="roundRect">
            <a:avLst>
              <a:gd name="adj" fmla="val 6857"/>
            </a:avLst>
          </a:prstGeom>
          <a:solidFill>
            <a:srgbClr val="F7F9FB"/>
          </a:solidFill>
          <a:ln w="12700">
            <a:solidFill>
              <a:srgbClr val="F7F9FB"/>
            </a:solidFill>
            <a:prstDash val="solid"/>
          </a:ln>
        </p:spPr>
      </p:sp>
      <p:sp>
        <p:nvSpPr>
          <p:cNvPr id="9" name="Text 6"/>
          <p:cNvSpPr txBox="1"/>
          <p:nvPr/>
        </p:nvSpPr>
        <p:spPr>
          <a:xfrm>
            <a:off x="6446520" y="5074920"/>
            <a:ext cx="4937760" cy="411480"/>
          </a:xfrm>
          <a:prstGeom prst="rect">
            <a:avLst/>
          </a:prstGeom>
          <a:noFill/>
          <a:ln/>
        </p:spPr>
        <p:txBody>
          <a:bodyPr wrap="square" lIns="0" tIns="0" rIns="0" bIns="0" rtlCol="0" anchor="t"/>
          <a:lstStyle/>
          <a:p>
            <a:pPr indent="0" marL="0">
              <a:buNone/>
            </a:pPr>
            <a:r>
              <a:rPr lang="en-US" sz="1500" b="1" dirty="0">
                <a:solidFill>
                  <a:srgbClr val="D9534F"/>
                </a:solidFill>
                <a:latin typeface="Hiragino Sans" pitchFamily="34" charset="0"/>
                <a:ea typeface="Hiragino Sans" pitchFamily="34" charset="-122"/>
                <a:cs typeface="Hiragino Sans" pitchFamily="34" charset="-120"/>
              </a:rPr>
              <a:t>答えられないこと(データが公開されていない)</a:t>
            </a:r>
            <a:endParaRPr lang="en-US" sz="1500" dirty="0"/>
          </a:p>
        </p:txBody>
      </p:sp>
      <p:sp>
        <p:nvSpPr>
          <p:cNvPr id="10" name="Text 7"/>
          <p:cNvSpPr txBox="1"/>
          <p:nvPr/>
        </p:nvSpPr>
        <p:spPr>
          <a:xfrm>
            <a:off x="6446520" y="5486400"/>
            <a:ext cx="4937760" cy="82296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昨日までの実績 / 今朝の予報と今の実況の照合(17 時以降は今日の気温予報が消える) / 過去の警報 / 市町村単位・地点指定の予報 / 海外</a:t>
            </a:r>
            <a:endParaRPr lang="en-US" sz="1250" dirty="0"/>
          </a:p>
        </p:txBody>
      </p:sp>
      <p:sp>
        <p:nvSpPr>
          <p:cNvPr id="12" name="Text 8"/>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8</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2A47"/>
        </a:solidFill>
      </p:bgPr>
    </p:bg>
    <p:spTree>
      <p:nvGrpSpPr>
        <p:cNvPr id="1" name=""/>
        <p:cNvGrpSpPr/>
        <p:nvPr/>
      </p:nvGrpSpPr>
      <p:grpSpPr>
        <a:xfrm>
          <a:off x="0" y="0"/>
          <a:ext cx="0" cy="0"/>
          <a:chOff x="0" y="0"/>
          <a:chExt cx="0" cy="0"/>
        </a:xfrm>
      </p:grpSpPr>
      <p:sp>
        <p:nvSpPr>
          <p:cNvPr id="9001" name="deco9001"/>
          <p:cNvSpPr/>
          <p:nvPr/>
        </p:nvSpPr>
        <p:spPr>
          <a:xfrm>
            <a:off x="-1828800" y="-2377440"/>
            <a:ext cx="5486400" cy="5486400"/>
          </a:xfrm>
          <a:prstGeom prst="ellipse">
            <a:avLst/>
          </a:prstGeom>
          <a:solidFill>
            <a:srgbClr val="16406A"/>
          </a:solidFill>
          <a:ln>
            <a:noFill/>
          </a:ln>
        </p:spPr>
        <p:txBody>
          <a:bodyPr/>
          <a:lstStyle/>
          <a:p>
            <a:endParaRPr lang="en-US"/>
          </a:p>
        </p:txBody>
      </p:sp>
      <p:sp>
        <p:nvSpPr>
          <p:cNvPr id="9002" name="deco9002"/>
          <p:cNvSpPr/>
          <p:nvPr/>
        </p:nvSpPr>
        <p:spPr>
          <a:xfrm>
            <a:off x="8961120" y="3840480"/>
            <a:ext cx="4937760" cy="4937760"/>
          </a:xfrm>
          <a:prstGeom prst="ellipse">
            <a:avLst/>
          </a:prstGeom>
          <a:solidFill>
            <a:srgbClr val="16406A"/>
          </a:solidFill>
          <a:ln>
            <a:noFill/>
          </a:ln>
        </p:spPr>
        <p:txBody>
          <a:bodyPr/>
          <a:lstStyle/>
          <a:p>
            <a:endParaRPr lang="en-US"/>
          </a:p>
        </p:txBody>
      </p:sp>
      <p:sp>
        <p:nvSpPr>
          <p:cNvPr id="2" name="Text 0"/>
          <p:cNvSpPr txBox="1"/>
          <p:nvPr/>
        </p:nvSpPr>
        <p:spPr>
          <a:xfrm>
            <a:off x="731520" y="2194560"/>
            <a:ext cx="1097280" cy="1097280"/>
          </a:xfrm>
          <a:prstGeom prst="rect">
            <a:avLst/>
          </a:prstGeom>
          <a:noFill/>
          <a:ln/>
        </p:spPr>
        <p:txBody>
          <a:bodyPr wrap="square" lIns="0" tIns="0" rIns="0" bIns="0" rtlCol="0" anchor="t"/>
          <a:lstStyle/>
          <a:p>
            <a:pPr indent="0" marL="0">
              <a:buNone/>
            </a:pPr>
            <a:r>
              <a:rPr lang="en-US" sz="7200" b="1" dirty="0">
                <a:solidFill>
                  <a:srgbClr val="E2711D"/>
                </a:solidFill>
                <a:latin typeface="Hiragino Sans" pitchFamily="34" charset="0"/>
                <a:ea typeface="Hiragino Sans" pitchFamily="34" charset="-122"/>
                <a:cs typeface="Hiragino Sans" pitchFamily="34" charset="-120"/>
              </a:rPr>
              <a:t>2</a:t>
            </a:r>
            <a:endParaRPr lang="en-US" sz="7200" dirty="0"/>
          </a:p>
        </p:txBody>
      </p:sp>
      <p:sp>
        <p:nvSpPr>
          <p:cNvPr id="3" name="Text 1"/>
          <p:cNvSpPr txBox="1"/>
          <p:nvPr/>
        </p:nvSpPr>
        <p:spPr>
          <a:xfrm>
            <a:off x="2011680" y="2377440"/>
            <a:ext cx="9144000" cy="822960"/>
          </a:xfrm>
          <a:prstGeom prst="rect">
            <a:avLst/>
          </a:prstGeom>
          <a:noFill/>
          <a:ln/>
        </p:spPr>
        <p:txBody>
          <a:bodyPr wrap="square" lIns="0" tIns="0" rIns="0" bIns="0" rtlCol="0" anchor="t"/>
          <a:lstStyle/>
          <a:p>
            <a:pPr indent="0" marL="0">
              <a:buNone/>
            </a:pPr>
            <a:r>
              <a:rPr lang="en-US" sz="3200" b="1" dirty="0">
                <a:solidFill>
                  <a:srgbClr val="FFFFFF"/>
                </a:solidFill>
                <a:latin typeface="Hiragino Sans" pitchFamily="34" charset="0"/>
                <a:ea typeface="Hiragino Sans" pitchFamily="34" charset="-122"/>
                <a:cs typeface="Hiragino Sans" pitchFamily="34" charset="-120"/>
              </a:rPr>
              <a:t>作った過程 — Claude と 1 日で</a:t>
            </a:r>
            <a:endParaRPr lang="en-US" sz="3200" dirty="0"/>
          </a:p>
        </p:txBody>
      </p:sp>
      <p:sp>
        <p:nvSpPr>
          <p:cNvPr id="4" name="Text 2"/>
          <p:cNvSpPr txBox="1"/>
          <p:nvPr/>
        </p:nvSpPr>
        <p:spPr>
          <a:xfrm>
            <a:off x="2011680" y="3200400"/>
            <a:ext cx="9144000" cy="548640"/>
          </a:xfrm>
          <a:prstGeom prst="rect">
            <a:avLst/>
          </a:prstGeom>
          <a:noFill/>
          <a:ln/>
        </p:spPr>
        <p:txBody>
          <a:bodyPr wrap="square" lIns="0" tIns="0" rIns="0" bIns="0" rtlCol="0" anchor="t"/>
          <a:lstStyle/>
          <a:p>
            <a:pPr indent="0" marL="0">
              <a:buNone/>
            </a:pPr>
            <a:r>
              <a:rPr lang="en-US" sz="1600" dirty="0">
                <a:solidFill>
                  <a:srgbClr val="8FE3F5"/>
                </a:solidFill>
                <a:latin typeface="Hiragino Sans" pitchFamily="34" charset="0"/>
                <a:ea typeface="Hiragino Sans" pitchFamily="34" charset="-122"/>
                <a:cs typeface="Hiragino Sans" pitchFamily="34" charset="-120"/>
              </a:rPr>
              <a:t>アイデア → 依頼 → 実装 → 検証 → 直す、の往復。コードは 1 行も自分で書いていない</a:t>
            </a:r>
            <a:endParaRPr lang="en-US" sz="1600" dirty="0"/>
          </a:p>
        </p:txBody>
      </p:sp>
      <p:sp>
        <p:nvSpPr>
          <p:cNvPr id="5" name="Text 3"/>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① 最初のアイデア</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「生成 AI がなかった頃はけっこう面倒だった天気予報アプリ」を、Claude に作らせてみる</a:t>
            </a:r>
            <a:endParaRPr lang="en-US" sz="1400" dirty="0"/>
          </a:p>
        </p:txBody>
      </p:sp>
      <p:sp>
        <p:nvSpPr>
          <p:cNvPr id="4" name="Shape 2"/>
          <p:cNvSpPr/>
          <p:nvPr/>
        </p:nvSpPr>
        <p:spPr>
          <a:xfrm>
            <a:off x="548640" y="1554480"/>
            <a:ext cx="5394960" cy="2011680"/>
          </a:xfrm>
          <a:prstGeom prst="roundRect">
            <a:avLst>
              <a:gd name="adj" fmla="val 5455"/>
            </a:avLst>
          </a:prstGeom>
          <a:solidFill>
            <a:srgbClr val="F7F9FB"/>
          </a:solidFill>
          <a:ln w="12700">
            <a:solidFill>
              <a:srgbClr val="F7F9FB"/>
            </a:solidFill>
            <a:prstDash val="solid"/>
          </a:ln>
        </p:spPr>
      </p:sp>
      <p:sp>
        <p:nvSpPr>
          <p:cNvPr id="5" name="Text 3"/>
          <p:cNvSpPr txBox="1"/>
          <p:nvPr/>
        </p:nvSpPr>
        <p:spPr>
          <a:xfrm>
            <a:off x="777240" y="1737360"/>
            <a:ext cx="4937760" cy="41148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面倒だったのは、データ取得ではない</a:t>
            </a:r>
            <a:endParaRPr lang="en-US" sz="1500" dirty="0"/>
          </a:p>
        </p:txBody>
      </p:sp>
      <p:sp>
        <p:nvSpPr>
          <p:cNvPr id="6" name="Text 4"/>
          <p:cNvSpPr txBox="1"/>
          <p:nvPr/>
        </p:nvSpPr>
        <p:spPr>
          <a:xfrm>
            <a:off x="777240" y="2148840"/>
            <a:ext cx="4937760" cy="123444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気象庁の JSON は昔から 1 行で取れる。面倒だったのは</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・日本語の曖昧な条件(「来週末」「京都と大阪」)を API と引数に翻訳すること</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・複数のデータを組み合わせて 1 つの答えにすること</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・数字の羅列を、用途に合った文章にすること</a:t>
            </a:r>
            <a:endParaRPr lang="en-US" sz="1250" dirty="0"/>
          </a:p>
        </p:txBody>
      </p:sp>
      <p:sp>
        <p:nvSpPr>
          <p:cNvPr id="7" name="Shape 5"/>
          <p:cNvSpPr/>
          <p:nvPr/>
        </p:nvSpPr>
        <p:spPr>
          <a:xfrm>
            <a:off x="6217920" y="1554480"/>
            <a:ext cx="5394960" cy="2011680"/>
          </a:xfrm>
          <a:prstGeom prst="roundRect">
            <a:avLst>
              <a:gd name="adj" fmla="val 5455"/>
            </a:avLst>
          </a:prstGeom>
          <a:solidFill>
            <a:srgbClr val="F7F9FB"/>
          </a:solidFill>
          <a:ln w="12700">
            <a:solidFill>
              <a:srgbClr val="F7F9FB"/>
            </a:solidFill>
            <a:prstDash val="solid"/>
          </a:ln>
        </p:spPr>
      </p:sp>
      <p:sp>
        <p:nvSpPr>
          <p:cNvPr id="8" name="Text 6"/>
          <p:cNvSpPr txBox="1"/>
          <p:nvPr/>
        </p:nvSpPr>
        <p:spPr>
          <a:xfrm>
            <a:off x="6446520" y="1737360"/>
            <a:ext cx="493776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Tool Use はこの 3 つを LLM に任せる仕組み</a:t>
            </a:r>
            <a:endParaRPr lang="en-US" sz="1500" dirty="0"/>
          </a:p>
        </p:txBody>
      </p:sp>
      <p:sp>
        <p:nvSpPr>
          <p:cNvPr id="9" name="Text 7"/>
          <p:cNvSpPr txBox="1"/>
          <p:nvPr/>
        </p:nvSpPr>
        <p:spPr>
          <a:xfrm>
            <a:off x="6446520" y="2148840"/>
            <a:ext cx="4937760" cy="123444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① 翻訳 → LLM が関数と引数を決める</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② 組み合わせ → LLM が複数の関数を順に・並列に呼ぶ</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③ 文章化 → LLM の得意技そのもの</a:t>
            </a:r>
            <a:endParaRPr lang="en-US" sz="1250" dirty="0"/>
          </a:p>
        </p:txBody>
      </p:sp>
      <p:sp>
        <p:nvSpPr>
          <p:cNvPr id="10" name="Shape 8"/>
          <p:cNvSpPr/>
          <p:nvPr/>
        </p:nvSpPr>
        <p:spPr>
          <a:xfrm>
            <a:off x="548640" y="3840480"/>
            <a:ext cx="11064240" cy="1005840"/>
          </a:xfrm>
          <a:prstGeom prst="roundRect">
            <a:avLst>
              <a:gd name="adj" fmla="val 10909"/>
            </a:avLst>
          </a:prstGeom>
          <a:solidFill>
            <a:srgbClr val="0E2A47"/>
          </a:solidFill>
          <a:ln w="12700">
            <a:solidFill>
              <a:srgbClr val="0E2A47"/>
            </a:solidFill>
            <a:prstDash val="solid"/>
          </a:ln>
        </p:spPr>
      </p:sp>
      <p:sp>
        <p:nvSpPr>
          <p:cNvPr id="11" name="Text 9"/>
          <p:cNvSpPr txBox="1"/>
          <p:nvPr/>
        </p:nvSpPr>
        <p:spPr>
          <a:xfrm>
            <a:off x="822960" y="3977640"/>
            <a:ext cx="10515600" cy="457200"/>
          </a:xfrm>
          <a:prstGeom prst="rect">
            <a:avLst/>
          </a:prstGeom>
          <a:noFill/>
          <a:ln/>
        </p:spPr>
        <p:txBody>
          <a:bodyPr wrap="square" lIns="0" tIns="0" rIns="0" bIns="0" rtlCol="0" anchor="t"/>
          <a:lstStyle/>
          <a:p>
            <a:pPr indent="0" marL="0">
              <a:buNone/>
            </a:pPr>
            <a:r>
              <a:rPr lang="en-US" sz="2000" b="1" dirty="0">
                <a:solidFill>
                  <a:srgbClr val="FFFFFF"/>
                </a:solidFill>
                <a:latin typeface="Hiragino Sans" pitchFamily="34" charset="0"/>
                <a:ea typeface="Hiragino Sans" pitchFamily="34" charset="-122"/>
                <a:cs typeface="Hiragino Sans" pitchFamily="34" charset="-120"/>
              </a:rPr>
              <a:t>コンセプト: 「気象庁の公式データに、日本語で質問できる窓口」</a:t>
            </a:r>
            <a:endParaRPr lang="en-US" sz="2000" dirty="0"/>
          </a:p>
        </p:txBody>
      </p:sp>
      <p:sp>
        <p:nvSpPr>
          <p:cNvPr id="12" name="Text 10"/>
          <p:cNvSpPr txBox="1"/>
          <p:nvPr/>
        </p:nvSpPr>
        <p:spPr>
          <a:xfrm>
            <a:off x="822960" y="4434840"/>
            <a:ext cx="10515600" cy="365760"/>
          </a:xfrm>
          <a:prstGeom prst="rect">
            <a:avLst/>
          </a:prstGeom>
          <a:noFill/>
          <a:ln/>
        </p:spPr>
        <p:txBody>
          <a:bodyPr wrap="square" lIns="0" tIns="0" rIns="0" bIns="0" rtlCol="0" anchor="t"/>
          <a:lstStyle/>
          <a:p>
            <a:pPr indent="0" marL="0">
              <a:buNone/>
            </a:pPr>
            <a:r>
              <a:rPr lang="en-US" sz="1300" dirty="0">
                <a:solidFill>
                  <a:srgbClr val="8FE3F5"/>
                </a:solidFill>
                <a:latin typeface="Hiragino Sans" pitchFamily="34" charset="0"/>
                <a:ea typeface="Hiragino Sans" pitchFamily="34" charset="-122"/>
                <a:cs typeface="Hiragino Sans" pitchFamily="34" charset="-120"/>
              </a:rPr>
              <a:t>無料・Colab 完結・API キーなし・国内の気象庁データのみ・出口は Markdown(表つき)で記事化もできる</a:t>
            </a:r>
            <a:endParaRPr lang="en-US" sz="1300" dirty="0"/>
          </a:p>
        </p:txBody>
      </p:sp>
      <p:sp>
        <p:nvSpPr>
          <p:cNvPr id="13" name="Text 11"/>
          <p:cNvSpPr txBox="1"/>
          <p:nvPr/>
        </p:nvSpPr>
        <p:spPr>
          <a:xfrm>
            <a:off x="640080" y="5120640"/>
            <a:ext cx="10972800" cy="1280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0F2A44"/>
                </a:solidFill>
                <a:latin typeface="Hiragino Sans" pitchFamily="34" charset="0"/>
                <a:ea typeface="Hiragino Sans" pitchFamily="34" charset="-122"/>
                <a:cs typeface="Hiragino Sans" pitchFamily="34" charset="-120"/>
              </a:rPr>
              <a:t>参加者ごとの関心を想定して Tool を選定: 風力(風の予報・実況)、寒地(最低気温・積雪)、山岳(信頼度・日の出)、報道(概況文 → 記事)、防災(警報)</a:t>
            </a:r>
            <a:endParaRPr lang="en-US" sz="1350" dirty="0"/>
          </a:p>
          <a:p>
            <a:pPr marL="342900" indent="-342900">
              <a:spcAft>
                <a:spcPts val="600"/>
              </a:spcAft>
              <a:buSzPct val="100000"/>
              <a:buChar char="•"/>
            </a:pPr>
            <a:r>
              <a:rPr lang="en-US" sz="1350" dirty="0">
                <a:solidFill>
                  <a:srgbClr val="0F2A44"/>
                </a:solidFill>
                <a:latin typeface="Hiragino Sans" pitchFamily="34" charset="0"/>
                <a:ea typeface="Hiragino Sans" pitchFamily="34" charset="-122"/>
                <a:cs typeface="Hiragino Sans" pitchFamily="34" charset="-120"/>
              </a:rPr>
              <a:t>見送ったもの: 海外モデル(Open-Meteo)、地点指定、有料 API、RAG</a:t>
            </a:r>
            <a:endParaRPr lang="en-US" sz="1350" dirty="0"/>
          </a:p>
        </p:txBody>
      </p:sp>
      <p:sp>
        <p:nvSpPr>
          <p:cNvPr id="14" name="Text 12"/>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10</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② Claude への依頼(要約)</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仕様は先に決めておく。「無料で・T4 で・Tool は関数を足せば増える構造で・嘘 → Tool 1 つ → 増やす の順に」</a:t>
            </a:r>
            <a:endParaRPr lang="en-US" sz="1400" dirty="0"/>
          </a:p>
        </p:txBody>
      </p:sp>
      <p:sp>
        <p:nvSpPr>
          <p:cNvPr id="4" name="Shape 2"/>
          <p:cNvSpPr/>
          <p:nvPr/>
        </p:nvSpPr>
        <p:spPr>
          <a:xfrm>
            <a:off x="548640" y="1554480"/>
            <a:ext cx="6949440" cy="4846320"/>
          </a:xfrm>
          <a:prstGeom prst="roundRect">
            <a:avLst>
              <a:gd name="adj" fmla="val 2264"/>
            </a:avLst>
          </a:prstGeom>
          <a:solidFill>
            <a:srgbClr val="F7F9FB"/>
          </a:solidFill>
          <a:ln w="12700">
            <a:solidFill>
              <a:srgbClr val="F7F9FB"/>
            </a:solidFill>
            <a:prstDash val="solid"/>
          </a:ln>
        </p:spPr>
      </p:sp>
      <p:sp>
        <p:nvSpPr>
          <p:cNvPr id="5" name="Text 3"/>
          <p:cNvSpPr txBox="1"/>
          <p:nvPr/>
        </p:nvSpPr>
        <p:spPr>
          <a:xfrm>
            <a:off x="822960" y="1737360"/>
            <a:ext cx="6400800" cy="4572000"/>
          </a:xfrm>
          <a:prstGeom prst="rect">
            <a:avLst/>
          </a:prstGeom>
          <a:noFill/>
          <a:ln/>
        </p:spPr>
        <p:txBody>
          <a:bodyPr wrap="square" lIns="0" tIns="0" rIns="0" bIns="0" rtlCol="0" anchor="t"/>
          <a:lstStyle/>
          <a:p>
            <a:pPr indent="0" marL="0">
              <a:buNone/>
            </a:pPr>
            <a:r>
              <a:rPr lang="en-US" sz="1150" dirty="0">
                <a:solidFill>
                  <a:srgbClr val="0F2A44"/>
                </a:solidFill>
                <a:latin typeface="Hiragino Sans" pitchFamily="34" charset="0"/>
                <a:ea typeface="Hiragino Sans" pitchFamily="34" charset="-122"/>
                <a:cs typeface="Hiragino Sans" pitchFamily="34" charset="-120"/>
              </a:rPr>
              <a:t>気象庁が公開している天気予報データを、日本語で質問して答えてもらえる「天気予報アプリ」を Google Colab 上に作りたい。</a:t>
            </a:r>
            <a:endParaRPr lang="en-US" sz="1150" dirty="0"/>
          </a:p>
          <a:p>
            <a:pPr indent="0" marL="0">
              <a:buNone/>
            </a:pPr>
            <a:endParaRPr lang="en-US" sz="1150" dirty="0"/>
          </a:p>
          <a:p>
            <a:pPr indent="0" marL="0">
              <a:buNone/>
            </a:pPr>
            <a:r>
              <a:rPr lang="en-US" sz="1150" dirty="0">
                <a:solidFill>
                  <a:srgbClr val="0F2A44"/>
                </a:solidFill>
                <a:latin typeface="Hiragino Sans" pitchFamily="34" charset="0"/>
                <a:ea typeface="Hiragino Sans" pitchFamily="34" charset="-122"/>
                <a:cs typeface="Hiragino Sans" pitchFamily="34" charset="-120"/>
              </a:rPr>
              <a:t>背景: 気象データアナリストの勉強会で、エンジニアでない人にも「LLM の Tool Use とは何か」を体験してもらうデモ。参加者に .ipynb を配って、各自の Colab(無料枠の T4)で動かしてもらう。</a:t>
            </a:r>
            <a:endParaRPr lang="en-US" sz="1150" dirty="0"/>
          </a:p>
          <a:p>
            <a:pPr indent="0" marL="0">
              <a:buNone/>
            </a:pPr>
            <a:endParaRPr lang="en-US" sz="1150" dirty="0"/>
          </a:p>
          <a:p>
            <a:pPr indent="0" marL="0">
              <a:buNone/>
            </a:pPr>
            <a:r>
              <a:rPr lang="en-US" sz="1150" dirty="0">
                <a:solidFill>
                  <a:srgbClr val="0F2A44"/>
                </a:solidFill>
                <a:latin typeface="Hiragino Sans" pitchFamily="34" charset="0"/>
                <a:ea typeface="Hiragino Sans" pitchFamily="34" charset="-122"/>
                <a:cs typeface="Hiragino Sans" pitchFamily="34" charset="-120"/>
              </a:rPr>
              <a:t>条件:</a:t>
            </a:r>
            <a:endParaRPr lang="en-US" sz="1150" dirty="0"/>
          </a:p>
          <a:p>
            <a:pPr indent="0" marL="0">
              <a:buNone/>
            </a:pPr>
            <a:r>
              <a:rPr lang="en-US" sz="1150" dirty="0">
                <a:solidFill>
                  <a:srgbClr val="0F2A44"/>
                </a:solidFill>
                <a:latin typeface="Hiragino Sans" pitchFamily="34" charset="0"/>
                <a:ea typeface="Hiragino Sans" pitchFamily="34" charset="-122"/>
                <a:cs typeface="Hiragino Sans" pitchFamily="34" charset="-120"/>
              </a:rPr>
              <a:t>・無料で動くこと。API キーや Hugging Face トークンは使わない。LLM は Qwen3 を 4bit 量子化してローカル推論</a:t>
            </a:r>
            <a:endParaRPr lang="en-US" sz="1150" dirty="0"/>
          </a:p>
          <a:p>
            <a:pPr indent="0" marL="0">
              <a:buNone/>
            </a:pPr>
            <a:r>
              <a:rPr lang="en-US" sz="1150" dirty="0">
                <a:solidFill>
                  <a:srgbClr val="0F2A44"/>
                </a:solidFill>
                <a:latin typeface="Hiragino Sans" pitchFamily="34" charset="0"/>
                <a:ea typeface="Hiragino Sans" pitchFamily="34" charset="-122"/>
                <a:cs typeface="Hiragino Sans" pitchFamily="34" charset="-120"/>
              </a:rPr>
              <a:t>・冒頭で GPU に合わせてモデルを選べるプルダウン</a:t>
            </a:r>
            <a:endParaRPr lang="en-US" sz="1150" dirty="0"/>
          </a:p>
          <a:p>
            <a:pPr indent="0" marL="0">
              <a:buNone/>
            </a:pPr>
            <a:r>
              <a:rPr lang="en-US" sz="1150" dirty="0">
                <a:solidFill>
                  <a:srgbClr val="0F2A44"/>
                </a:solidFill>
                <a:latin typeface="Hiragino Sans" pitchFamily="34" charset="0"/>
                <a:ea typeface="Hiragino Sans" pitchFamily="34" charset="-122"/>
                <a:cs typeface="Hiragino Sans" pitchFamily="34" charset="-120"/>
              </a:rPr>
              <a:t>・データは気象庁の bosai 配下の JSON のみ。府県単位、国内限定</a:t>
            </a:r>
            <a:endParaRPr lang="en-US" sz="1150" dirty="0"/>
          </a:p>
          <a:p>
            <a:pPr indent="0" marL="0">
              <a:buNone/>
            </a:pPr>
            <a:r>
              <a:rPr lang="en-US" sz="1150" dirty="0">
                <a:solidFill>
                  <a:srgbClr val="0F2A44"/>
                </a:solidFill>
                <a:latin typeface="Hiragino Sans" pitchFamily="34" charset="0"/>
                <a:ea typeface="Hiragino Sans" pitchFamily="34" charset="-122"/>
                <a:cs typeface="Hiragino Sans" pitchFamily="34" charset="-120"/>
              </a:rPr>
              <a:t>・Tool は Python 関数として書き、関数を 1 つ足せば Tool が増える構造</a:t>
            </a:r>
            <a:endParaRPr lang="en-US" sz="1150" dirty="0"/>
          </a:p>
          <a:p>
            <a:pPr indent="0" marL="0">
              <a:buNone/>
            </a:pPr>
            <a:r>
              <a:rPr lang="en-US" sz="1150" dirty="0">
                <a:solidFill>
                  <a:srgbClr val="0F2A44"/>
                </a:solidFill>
                <a:latin typeface="Hiragino Sans" pitchFamily="34" charset="0"/>
                <a:ea typeface="Hiragino Sans" pitchFamily="34" charset="-122"/>
                <a:cs typeface="Hiragino Sans" pitchFamily="34" charset="-120"/>
              </a:rPr>
              <a:t>・「LLM 単体は嘘をつく」→「Tool を 1 つ足して正答」→「Tool を増やす」の順で構成。Tool 呼び出しのログはターンごとに表示</a:t>
            </a:r>
            <a:endParaRPr lang="en-US" sz="1150" dirty="0"/>
          </a:p>
          <a:p>
            <a:pPr indent="0" marL="0">
              <a:buNone/>
            </a:pPr>
            <a:r>
              <a:rPr lang="en-US" sz="1150" dirty="0">
                <a:solidFill>
                  <a:srgbClr val="0F2A44"/>
                </a:solidFill>
                <a:latin typeface="Hiragino Sans" pitchFamily="34" charset="0"/>
                <a:ea typeface="Hiragino Sans" pitchFamily="34" charset="-122"/>
                <a:cs typeface="Hiragino Sans" pitchFamily="34" charset="-120"/>
              </a:rPr>
              <a:t>・最終回答は Markdown(見出し・表)で表示し、.md と .html で保存</a:t>
            </a:r>
            <a:endParaRPr lang="en-US" sz="1150" dirty="0"/>
          </a:p>
          <a:p>
            <a:pPr indent="0" marL="0">
              <a:buNone/>
            </a:pPr>
            <a:r>
              <a:rPr lang="en-US" sz="1150" dirty="0">
                <a:solidFill>
                  <a:srgbClr val="0F2A44"/>
                </a:solidFill>
                <a:latin typeface="Hiragino Sans" pitchFamily="34" charset="0"/>
                <a:ea typeface="Hiragino Sans" pitchFamily="34" charset="-122"/>
                <a:cs typeface="Hiragino Sans" pitchFamily="34" charset="-120"/>
              </a:rPr>
              <a:t>・既存の教材やサンプルのコードは使わず、一から書く</a:t>
            </a:r>
            <a:endParaRPr lang="en-US" sz="1150" dirty="0"/>
          </a:p>
        </p:txBody>
      </p:sp>
      <p:sp>
        <p:nvSpPr>
          <p:cNvPr id="6" name="Shape 4"/>
          <p:cNvSpPr/>
          <p:nvPr/>
        </p:nvSpPr>
        <p:spPr>
          <a:xfrm>
            <a:off x="7772400" y="1554480"/>
            <a:ext cx="3840480" cy="1463040"/>
          </a:xfrm>
          <a:prstGeom prst="roundRect">
            <a:avLst>
              <a:gd name="adj" fmla="val 7500"/>
            </a:avLst>
          </a:prstGeom>
          <a:solidFill>
            <a:srgbClr val="F7F9FB"/>
          </a:solidFill>
          <a:ln w="12700">
            <a:solidFill>
              <a:srgbClr val="F7F9FB"/>
            </a:solidFill>
            <a:prstDash val="solid"/>
          </a:ln>
        </p:spPr>
      </p:sp>
      <p:sp>
        <p:nvSpPr>
          <p:cNvPr id="7" name="Text 5"/>
          <p:cNvSpPr txBox="1"/>
          <p:nvPr/>
        </p:nvSpPr>
        <p:spPr>
          <a:xfrm>
            <a:off x="8001000" y="1737360"/>
            <a:ext cx="3383280" cy="41148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Claude 側でやったこと</a:t>
            </a:r>
            <a:endParaRPr lang="en-US" sz="1500" dirty="0"/>
          </a:p>
        </p:txBody>
      </p:sp>
      <p:sp>
        <p:nvSpPr>
          <p:cNvPr id="8" name="Text 6"/>
          <p:cNvSpPr txBox="1"/>
          <p:nvPr/>
        </p:nvSpPr>
        <p:spPr>
          <a:xfrm>
            <a:off x="8001000" y="2148840"/>
            <a:ext cx="3383280" cy="6858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気象庁 JSON の構造を実データで調査 → Tool 6 個を書いて実データでテスト → Tool 呼び出しループ → ノートブック 43 セル → 全セルの自動実行テスト</a:t>
            </a:r>
            <a:endParaRPr lang="en-US" sz="1250" dirty="0"/>
          </a:p>
        </p:txBody>
      </p:sp>
      <p:sp>
        <p:nvSpPr>
          <p:cNvPr id="9" name="Shape 7"/>
          <p:cNvSpPr/>
          <p:nvPr/>
        </p:nvSpPr>
        <p:spPr>
          <a:xfrm>
            <a:off x="7772400" y="3200400"/>
            <a:ext cx="3840480" cy="1463040"/>
          </a:xfrm>
          <a:prstGeom prst="roundRect">
            <a:avLst>
              <a:gd name="adj" fmla="val 7500"/>
            </a:avLst>
          </a:prstGeom>
          <a:solidFill>
            <a:srgbClr val="F7F9FB"/>
          </a:solidFill>
          <a:ln w="12700">
            <a:solidFill>
              <a:srgbClr val="F7F9FB"/>
            </a:solidFill>
            <a:prstDash val="solid"/>
          </a:ln>
        </p:spPr>
      </p:sp>
      <p:sp>
        <p:nvSpPr>
          <p:cNvPr id="10" name="Text 8"/>
          <p:cNvSpPr txBox="1"/>
          <p:nvPr/>
        </p:nvSpPr>
        <p:spPr>
          <a:xfrm>
            <a:off x="8001000" y="3383280"/>
            <a:ext cx="338328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私(人間)がやったこと</a:t>
            </a:r>
            <a:endParaRPr lang="en-US" sz="1500" dirty="0"/>
          </a:p>
        </p:txBody>
      </p:sp>
      <p:sp>
        <p:nvSpPr>
          <p:cNvPr id="11" name="Text 9"/>
          <p:cNvSpPr txBox="1"/>
          <p:nvPr/>
        </p:nvSpPr>
        <p:spPr>
          <a:xfrm>
            <a:off x="8001000" y="3794760"/>
            <a:ext cx="3383280" cy="6858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仕様と質問例の決定、Colab での実行、結果の照合(本家の気象庁ページと)、崩れた箇所の報告、方針判断(何を見せるか)</a:t>
            </a:r>
            <a:endParaRPr lang="en-US" sz="1250" dirty="0"/>
          </a:p>
        </p:txBody>
      </p:sp>
      <p:sp>
        <p:nvSpPr>
          <p:cNvPr id="12" name="Shape 10"/>
          <p:cNvSpPr/>
          <p:nvPr/>
        </p:nvSpPr>
        <p:spPr>
          <a:xfrm>
            <a:off x="7772400" y="4846320"/>
            <a:ext cx="3840480" cy="1554480"/>
          </a:xfrm>
          <a:prstGeom prst="roundRect">
            <a:avLst>
              <a:gd name="adj" fmla="val 7059"/>
            </a:avLst>
          </a:prstGeom>
          <a:solidFill>
            <a:srgbClr val="F7F9FB"/>
          </a:solidFill>
          <a:ln w="12700">
            <a:solidFill>
              <a:srgbClr val="F7F9FB"/>
            </a:solidFill>
            <a:prstDash val="solid"/>
          </a:ln>
        </p:spPr>
      </p:sp>
      <p:sp>
        <p:nvSpPr>
          <p:cNvPr id="13" name="Text 11"/>
          <p:cNvSpPr txBox="1"/>
          <p:nvPr/>
        </p:nvSpPr>
        <p:spPr>
          <a:xfrm>
            <a:off x="8001000" y="5029200"/>
            <a:ext cx="3383280" cy="411480"/>
          </a:xfrm>
          <a:prstGeom prst="rect">
            <a:avLst/>
          </a:prstGeom>
          <a:noFill/>
          <a:ln/>
        </p:spPr>
        <p:txBody>
          <a:bodyPr wrap="square" lIns="0" tIns="0" rIns="0" bIns="0" rtlCol="0" anchor="t"/>
          <a:lstStyle/>
          <a:p>
            <a:pPr indent="0" marL="0">
              <a:buNone/>
            </a:pPr>
            <a:r>
              <a:rPr lang="en-US" sz="1500" b="1" dirty="0">
                <a:solidFill>
                  <a:srgbClr val="E2711D"/>
                </a:solidFill>
                <a:latin typeface="Hiragino Sans" pitchFamily="34" charset="0"/>
                <a:ea typeface="Hiragino Sans" pitchFamily="34" charset="-122"/>
                <a:cs typeface="Hiragino Sans" pitchFamily="34" charset="-120"/>
              </a:rPr>
              <a:t>かかった時間</a:t>
            </a:r>
            <a:endParaRPr lang="en-US" sz="1500" dirty="0"/>
          </a:p>
        </p:txBody>
      </p:sp>
      <p:sp>
        <p:nvSpPr>
          <p:cNvPr id="14" name="Text 12"/>
          <p:cNvSpPr txBox="1"/>
          <p:nvPr/>
        </p:nvSpPr>
        <p:spPr>
          <a:xfrm>
            <a:off x="8001000" y="5440680"/>
            <a:ext cx="3383280" cy="77724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設計 2 時間 → 実装 2 時間 → Colab 検証と修正 6 時間(修正 7 件)。1 日</a:t>
            </a:r>
            <a:endParaRPr lang="en-US" sz="1250" dirty="0"/>
          </a:p>
        </p:txBody>
      </p:sp>
      <p:sp>
        <p:nvSpPr>
          <p:cNvPr id="16" name="Text 13"/>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11</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③ 途中で分かったこと — 警報の配信形式が 5 月に変わっていた</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AI の「記憶」で書いていたら、古い意味で名称を返すところだった</a:t>
            </a:r>
            <a:endParaRPr lang="en-US" sz="1400" dirty="0"/>
          </a:p>
        </p:txBody>
      </p:sp>
      <p:sp>
        <p:nvSpPr>
          <p:cNvPr id="4" name="Shape 2"/>
          <p:cNvSpPr/>
          <p:nvPr/>
        </p:nvSpPr>
        <p:spPr>
          <a:xfrm>
            <a:off x="548640" y="1554480"/>
            <a:ext cx="5394960" cy="2377440"/>
          </a:xfrm>
          <a:prstGeom prst="roundRect">
            <a:avLst>
              <a:gd name="adj" fmla="val 4615"/>
            </a:avLst>
          </a:prstGeom>
          <a:solidFill>
            <a:srgbClr val="F7F9FB"/>
          </a:solidFill>
          <a:ln w="12700">
            <a:solidFill>
              <a:srgbClr val="F7F9FB"/>
            </a:solidFill>
            <a:prstDash val="solid"/>
          </a:ln>
        </p:spPr>
      </p:sp>
      <p:sp>
        <p:nvSpPr>
          <p:cNvPr id="5" name="Text 3"/>
          <p:cNvSpPr txBox="1"/>
          <p:nvPr/>
        </p:nvSpPr>
        <p:spPr>
          <a:xfrm>
            <a:off x="777240" y="1737360"/>
            <a:ext cx="4937760" cy="411480"/>
          </a:xfrm>
          <a:prstGeom prst="rect">
            <a:avLst/>
          </a:prstGeom>
          <a:noFill/>
          <a:ln/>
        </p:spPr>
        <p:txBody>
          <a:bodyPr wrap="square" lIns="0" tIns="0" rIns="0" bIns="0" rtlCol="0" anchor="t"/>
          <a:lstStyle/>
          <a:p>
            <a:pPr indent="0" marL="0">
              <a:buNone/>
            </a:pPr>
            <a:r>
              <a:rPr lang="en-US" sz="1500" b="1" dirty="0">
                <a:solidFill>
                  <a:srgbClr val="D9534F"/>
                </a:solidFill>
                <a:latin typeface="Hiragino Sans" pitchFamily="34" charset="0"/>
                <a:ea typeface="Hiragino Sans" pitchFamily="34" charset="-122"/>
                <a:cs typeface="Hiragino Sans" pitchFamily="34" charset="-120"/>
              </a:rPr>
              <a:t>何が起きたか</a:t>
            </a:r>
            <a:endParaRPr lang="en-US" sz="1500" dirty="0"/>
          </a:p>
        </p:txBody>
      </p:sp>
      <p:sp>
        <p:nvSpPr>
          <p:cNvPr id="6" name="Text 4"/>
          <p:cNvSpPr txBox="1"/>
          <p:nvPr/>
        </p:nvSpPr>
        <p:spPr>
          <a:xfrm>
            <a:off x="777240" y="2148840"/>
            <a:ext cx="4937760" cy="16002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警報・注意報の JSON を実データで確認したら、全国どの気象台も 2026-05-28 で更新が止まっていた。気象庁のページを見ると新形式(r8)に移行済みで、種類コードの意味も変更されていた</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旧: 02=大雨警報, 03=洪水警報</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新: 03=大雨警報, 02=暴風雪警報, 43=大雨危険警報(新設)…</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洪水警報は河川ごとの「氾濫」情報に分離</a:t>
            </a:r>
            <a:endParaRPr lang="en-US" sz="1250" dirty="0"/>
          </a:p>
        </p:txBody>
      </p:sp>
      <p:sp>
        <p:nvSpPr>
          <p:cNvPr id="7" name="Shape 5"/>
          <p:cNvSpPr/>
          <p:nvPr/>
        </p:nvSpPr>
        <p:spPr>
          <a:xfrm>
            <a:off x="6217920" y="1554480"/>
            <a:ext cx="5394960" cy="2377440"/>
          </a:xfrm>
          <a:prstGeom prst="roundRect">
            <a:avLst>
              <a:gd name="adj" fmla="val 4615"/>
            </a:avLst>
          </a:prstGeom>
          <a:solidFill>
            <a:srgbClr val="F7F9FB"/>
          </a:solidFill>
          <a:ln w="12700">
            <a:solidFill>
              <a:srgbClr val="F7F9FB"/>
            </a:solidFill>
            <a:prstDash val="solid"/>
          </a:ln>
        </p:spPr>
      </p:sp>
      <p:sp>
        <p:nvSpPr>
          <p:cNvPr id="8" name="Text 6"/>
          <p:cNvSpPr txBox="1"/>
          <p:nvPr/>
        </p:nvSpPr>
        <p:spPr>
          <a:xfrm>
            <a:off x="6446520" y="1737360"/>
            <a:ext cx="493776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どう対処したか</a:t>
            </a:r>
            <a:endParaRPr lang="en-US" sz="1500" dirty="0"/>
          </a:p>
        </p:txBody>
      </p:sp>
      <p:sp>
        <p:nvSpPr>
          <p:cNvPr id="9" name="Text 7"/>
          <p:cNvSpPr txBox="1"/>
          <p:nvPr/>
        </p:nvSpPr>
        <p:spPr>
          <a:xfrm>
            <a:off x="6446520" y="2148840"/>
            <a:ext cx="4937760" cy="16002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気象庁の警報ページが実際に使っている対応表(JavaScript の定数)を取ってきて、そこから名称表を作った。天気コード(118 種)も同じ方法で予報ページから取得</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 Claude(2026 年 6 月までの知識)にも、この変更は「記憶」としては無かった。実データを見に行ったから防げた</a:t>
            </a:r>
            <a:endParaRPr lang="en-US" sz="1250" dirty="0"/>
          </a:p>
        </p:txBody>
      </p:sp>
      <p:sp>
        <p:nvSpPr>
          <p:cNvPr id="10" name="Shape 8"/>
          <p:cNvSpPr/>
          <p:nvPr/>
        </p:nvSpPr>
        <p:spPr>
          <a:xfrm>
            <a:off x="548640" y="4206240"/>
            <a:ext cx="11064240" cy="914400"/>
          </a:xfrm>
          <a:prstGeom prst="roundRect">
            <a:avLst>
              <a:gd name="adj" fmla="val 12000"/>
            </a:avLst>
          </a:prstGeom>
          <a:solidFill>
            <a:srgbClr val="0E2A47"/>
          </a:solidFill>
          <a:ln w="12700">
            <a:solidFill>
              <a:srgbClr val="0E2A47"/>
            </a:solidFill>
            <a:prstDash val="solid"/>
          </a:ln>
        </p:spPr>
      </p:sp>
      <p:sp>
        <p:nvSpPr>
          <p:cNvPr id="11" name="Text 9"/>
          <p:cNvSpPr txBox="1"/>
          <p:nvPr/>
        </p:nvSpPr>
        <p:spPr>
          <a:xfrm>
            <a:off x="822960" y="4343400"/>
            <a:ext cx="10515600" cy="640080"/>
          </a:xfrm>
          <a:prstGeom prst="rect">
            <a:avLst/>
          </a:prstGeom>
          <a:noFill/>
          <a:ln/>
        </p:spPr>
        <p:txBody>
          <a:bodyPr wrap="square" lIns="0" tIns="0" rIns="0" bIns="0" rtlCol="0" anchor="t"/>
          <a:lstStyle/>
          <a:p>
            <a:pPr indent="0" marL="0">
              <a:buNone/>
            </a:pPr>
            <a:r>
              <a:rPr lang="en-US" sz="1500" b="1" dirty="0">
                <a:solidFill>
                  <a:srgbClr val="FFFFFF"/>
                </a:solidFill>
                <a:latin typeface="Hiragino Sans" pitchFamily="34" charset="0"/>
                <a:ea typeface="Hiragino Sans" pitchFamily="34" charset="-122"/>
                <a:cs typeface="Hiragino Sans" pitchFamily="34" charset="-120"/>
              </a:rPr>
              <a:t>教訓: AI に作らせるときも、検証すべきは AI の記憶ではなく「今のデータ」。これは後で出てくる「LLM は Tool の出力を疑わない」と同じ構図</a:t>
            </a:r>
            <a:endParaRPr lang="en-US" sz="1500" dirty="0"/>
          </a:p>
        </p:txBody>
      </p:sp>
      <p:sp>
        <p:nvSpPr>
          <p:cNvPr id="12" name="Text 10"/>
          <p:cNvSpPr txBox="1"/>
          <p:nvPr/>
        </p:nvSpPr>
        <p:spPr>
          <a:xfrm>
            <a:off x="640080" y="5303520"/>
            <a:ext cx="10972800" cy="11887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F2A44"/>
                </a:solidFill>
                <a:latin typeface="Hiragino Sans" pitchFamily="34" charset="0"/>
                <a:ea typeface="Hiragino Sans" pitchFamily="34" charset="-122"/>
                <a:cs typeface="Hiragino Sans" pitchFamily="34" charset="-120"/>
              </a:rPr>
              <a:t>ほかにも: 予報区コードは 58(北海道は 7 地方、鹿児島は奄美と別、沖縄は 4 地方)。「北海道」は札幌周辺を既定に</a:t>
            </a:r>
            <a:endParaRPr lang="en-US" sz="1250" dirty="0"/>
          </a:p>
          <a:p>
            <a:pPr marL="342900" indent="-342900">
              <a:spcAft>
                <a:spcPts val="600"/>
              </a:spcAft>
              <a:buSzPct val="100000"/>
              <a:buChar char="•"/>
            </a:pPr>
            <a:r>
              <a:rPr lang="en-US" sz="1250" dirty="0">
                <a:solidFill>
                  <a:srgbClr val="0F2A44"/>
                </a:solidFill>
                <a:latin typeface="Hiragino Sans" pitchFamily="34" charset="0"/>
                <a:ea typeface="Hiragino Sans" pitchFamily="34" charset="-122"/>
                <a:cs typeface="Hiragino Sans" pitchFamily="34" charset="-120"/>
              </a:rPr>
              <a:t>アメダスは 1,286 地点。地点番号の上 2 桁が府県番号(京都 = 61)で府県に紐づく</a:t>
            </a:r>
            <a:endParaRPr lang="en-US" sz="1250" dirty="0"/>
          </a:p>
          <a:p>
            <a:pPr marL="342900" indent="-342900">
              <a:spcAft>
                <a:spcPts val="600"/>
              </a:spcAft>
              <a:buSzPct val="100000"/>
              <a:buChar char="•"/>
            </a:pPr>
            <a:r>
              <a:rPr lang="en-US" sz="1250" dirty="0">
                <a:solidFill>
                  <a:srgbClr val="0F2A44"/>
                </a:solidFill>
                <a:latin typeface="Hiragino Sans" pitchFamily="34" charset="0"/>
                <a:ea typeface="Hiragino Sans" pitchFamily="34" charset="-122"/>
                <a:cs typeface="Hiragino Sans" pitchFamily="34" charset="-120"/>
              </a:rPr>
              <a:t>17 時発表からは「今日の最高気温」が予報から消える(気象庁の仕様)→ 夕方に「今日の予報と実況の差」は聞けない</a:t>
            </a:r>
            <a:endParaRPr lang="en-US" sz="1250" dirty="0"/>
          </a:p>
        </p:txBody>
      </p:sp>
      <p:sp>
        <p:nvSpPr>
          <p:cNvPr id="13" name="Text 11"/>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12</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④ できたもの — Colab ノートブック 1 本(43 セル)</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上から順に実行するだけ。モデルの読み込みに 5〜6 分、質問 1 件は 2〜12 秒(A100 級)</a:t>
            </a:r>
            <a:endParaRPr lang="en-US" sz="1400" dirty="0"/>
          </a:p>
        </p:txBody>
      </p:sp>
      <p:sp>
        <p:nvSpPr>
          <p:cNvPr id="4" name="Shape 2"/>
          <p:cNvSpPr/>
          <p:nvPr/>
        </p:nvSpPr>
        <p:spPr>
          <a:xfrm>
            <a:off x="548640" y="1600200"/>
            <a:ext cx="384048" cy="384048"/>
          </a:xfrm>
          <a:prstGeom prst="ellipse">
            <a:avLst/>
          </a:prstGeom>
          <a:solidFill>
            <a:srgbClr val="16406A"/>
          </a:solidFill>
          <a:ln w="12700">
            <a:solidFill>
              <a:srgbClr val="16406A"/>
            </a:solidFill>
            <a:prstDash val="solid"/>
          </a:ln>
        </p:spPr>
      </p:sp>
      <p:sp>
        <p:nvSpPr>
          <p:cNvPr id="5" name="Text 3"/>
          <p:cNvSpPr txBox="1"/>
          <p:nvPr/>
        </p:nvSpPr>
        <p:spPr>
          <a:xfrm>
            <a:off x="548640" y="162763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1</a:t>
            </a:r>
            <a:endParaRPr lang="en-US" sz="1400" dirty="0"/>
          </a:p>
        </p:txBody>
      </p:sp>
      <p:sp>
        <p:nvSpPr>
          <p:cNvPr id="6" name="Text 4"/>
          <p:cNvSpPr txBox="1"/>
          <p:nvPr/>
        </p:nvSpPr>
        <p:spPr>
          <a:xfrm>
            <a:off x="1051560" y="1554480"/>
            <a:ext cx="4937760" cy="365760"/>
          </a:xfrm>
          <a:prstGeom prst="rect">
            <a:avLst/>
          </a:prstGeom>
          <a:noFill/>
          <a:ln/>
        </p:spPr>
        <p:txBody>
          <a:bodyPr wrap="square" lIns="0" tIns="0" rIns="0" bIns="0" rtlCol="0" anchor="t"/>
          <a:lstStyle/>
          <a:p>
            <a:pPr indent="0" marL="0">
              <a:buNone/>
            </a:pPr>
            <a:r>
              <a:rPr lang="en-US" sz="1450" b="1" dirty="0">
                <a:solidFill>
                  <a:srgbClr val="0E2A47"/>
                </a:solidFill>
                <a:latin typeface="Hiragino Sans" pitchFamily="34" charset="0"/>
                <a:ea typeface="Hiragino Sans" pitchFamily="34" charset="-122"/>
                <a:cs typeface="Hiragino Sans" pitchFamily="34" charset="-120"/>
              </a:rPr>
              <a:t>モデルを選ぶ</a:t>
            </a:r>
            <a:endParaRPr lang="en-US" sz="1450" dirty="0"/>
          </a:p>
        </p:txBody>
      </p:sp>
      <p:sp>
        <p:nvSpPr>
          <p:cNvPr id="7" name="Text 5"/>
          <p:cNvSpPr txBox="1"/>
          <p:nvPr/>
        </p:nvSpPr>
        <p:spPr>
          <a:xfrm>
            <a:off x="1051560" y="1920240"/>
            <a:ext cx="4937760" cy="411480"/>
          </a:xfrm>
          <a:prstGeom prst="rect">
            <a:avLst/>
          </a:prstGeom>
          <a:noFill/>
          <a:ln/>
        </p:spPr>
        <p:txBody>
          <a:bodyPr wrap="square" lIns="0" tIns="0" rIns="0" bIns="0" rtlCol="0" anchor="t"/>
          <a:lstStyle/>
          <a:p>
            <a:pPr indent="0" marL="0">
              <a:buNone/>
            </a:pPr>
            <a:r>
              <a:rPr lang="en-US" sz="1150" dirty="0">
                <a:solidFill>
                  <a:srgbClr val="5A6470"/>
                </a:solidFill>
                <a:latin typeface="Hiragino Sans" pitchFamily="34" charset="0"/>
                <a:ea typeface="Hiragino Sans" pitchFamily="34" charset="-122"/>
                <a:cs typeface="Hiragino Sans" pitchFamily="34" charset="-120"/>
              </a:rPr>
              <a:t>GPU に合わせてプルダウン。載らない組み合わせは警告</a:t>
            </a:r>
            <a:endParaRPr lang="en-US" sz="1150" dirty="0"/>
          </a:p>
        </p:txBody>
      </p:sp>
      <p:sp>
        <p:nvSpPr>
          <p:cNvPr id="8" name="Shape 6"/>
          <p:cNvSpPr/>
          <p:nvPr/>
        </p:nvSpPr>
        <p:spPr>
          <a:xfrm>
            <a:off x="548640" y="2468880"/>
            <a:ext cx="384048" cy="384048"/>
          </a:xfrm>
          <a:prstGeom prst="ellipse">
            <a:avLst/>
          </a:prstGeom>
          <a:solidFill>
            <a:srgbClr val="16406A"/>
          </a:solidFill>
          <a:ln w="12700">
            <a:solidFill>
              <a:srgbClr val="16406A"/>
            </a:solidFill>
            <a:prstDash val="solid"/>
          </a:ln>
        </p:spPr>
      </p:sp>
      <p:sp>
        <p:nvSpPr>
          <p:cNvPr id="9" name="Text 7"/>
          <p:cNvSpPr txBox="1"/>
          <p:nvPr/>
        </p:nvSpPr>
        <p:spPr>
          <a:xfrm>
            <a:off x="548640" y="24963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2</a:t>
            </a:r>
            <a:endParaRPr lang="en-US" sz="1400" dirty="0"/>
          </a:p>
        </p:txBody>
      </p:sp>
      <p:sp>
        <p:nvSpPr>
          <p:cNvPr id="10" name="Text 8"/>
          <p:cNvSpPr txBox="1"/>
          <p:nvPr/>
        </p:nvSpPr>
        <p:spPr>
          <a:xfrm>
            <a:off x="1051560" y="2423160"/>
            <a:ext cx="4937760" cy="365760"/>
          </a:xfrm>
          <a:prstGeom prst="rect">
            <a:avLst/>
          </a:prstGeom>
          <a:noFill/>
          <a:ln/>
        </p:spPr>
        <p:txBody>
          <a:bodyPr wrap="square" lIns="0" tIns="0" rIns="0" bIns="0" rtlCol="0" anchor="t"/>
          <a:lstStyle/>
          <a:p>
            <a:pPr indent="0" marL="0">
              <a:buNone/>
            </a:pPr>
            <a:r>
              <a:rPr lang="en-US" sz="1450" b="1" dirty="0">
                <a:solidFill>
                  <a:srgbClr val="0E2A47"/>
                </a:solidFill>
                <a:latin typeface="Hiragino Sans" pitchFamily="34" charset="0"/>
                <a:ea typeface="Hiragino Sans" pitchFamily="34" charset="-122"/>
                <a:cs typeface="Hiragino Sans" pitchFamily="34" charset="-120"/>
              </a:rPr>
              <a:t>LLM の読み込み</a:t>
            </a:r>
            <a:endParaRPr lang="en-US" sz="1450" dirty="0"/>
          </a:p>
        </p:txBody>
      </p:sp>
      <p:sp>
        <p:nvSpPr>
          <p:cNvPr id="11" name="Text 9"/>
          <p:cNvSpPr txBox="1"/>
          <p:nvPr/>
        </p:nvSpPr>
        <p:spPr>
          <a:xfrm>
            <a:off x="1051560" y="2788920"/>
            <a:ext cx="4937760" cy="411480"/>
          </a:xfrm>
          <a:prstGeom prst="rect">
            <a:avLst/>
          </a:prstGeom>
          <a:noFill/>
          <a:ln/>
        </p:spPr>
        <p:txBody>
          <a:bodyPr wrap="square" lIns="0" tIns="0" rIns="0" bIns="0" rtlCol="0" anchor="t"/>
          <a:lstStyle/>
          <a:p>
            <a:pPr indent="0" marL="0">
              <a:buNone/>
            </a:pPr>
            <a:r>
              <a:rPr lang="en-US" sz="1150" dirty="0">
                <a:solidFill>
                  <a:srgbClr val="5A6470"/>
                </a:solidFill>
                <a:latin typeface="Hiragino Sans" pitchFamily="34" charset="0"/>
                <a:ea typeface="Hiragino Sans" pitchFamily="34" charset="-122"/>
                <a:cs typeface="Hiragino Sans" pitchFamily="34" charset="-120"/>
              </a:rPr>
              <a:t>Tool Use の仕組み(ask 関数)もここ</a:t>
            </a:r>
            <a:endParaRPr lang="en-US" sz="1150" dirty="0"/>
          </a:p>
        </p:txBody>
      </p:sp>
      <p:sp>
        <p:nvSpPr>
          <p:cNvPr id="12" name="Shape 10"/>
          <p:cNvSpPr/>
          <p:nvPr/>
        </p:nvSpPr>
        <p:spPr>
          <a:xfrm>
            <a:off x="548640" y="3337560"/>
            <a:ext cx="384048" cy="384048"/>
          </a:xfrm>
          <a:prstGeom prst="ellipse">
            <a:avLst/>
          </a:prstGeom>
          <a:solidFill>
            <a:srgbClr val="E2711D"/>
          </a:solidFill>
          <a:ln w="12700">
            <a:solidFill>
              <a:srgbClr val="E2711D"/>
            </a:solidFill>
            <a:prstDash val="solid"/>
          </a:ln>
        </p:spPr>
      </p:sp>
      <p:sp>
        <p:nvSpPr>
          <p:cNvPr id="13" name="Text 11"/>
          <p:cNvSpPr txBox="1"/>
          <p:nvPr/>
        </p:nvSpPr>
        <p:spPr>
          <a:xfrm>
            <a:off x="548640" y="336499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3</a:t>
            </a:r>
            <a:endParaRPr lang="en-US" sz="1400" dirty="0"/>
          </a:p>
        </p:txBody>
      </p:sp>
      <p:sp>
        <p:nvSpPr>
          <p:cNvPr id="14" name="Text 12"/>
          <p:cNvSpPr txBox="1"/>
          <p:nvPr/>
        </p:nvSpPr>
        <p:spPr>
          <a:xfrm>
            <a:off x="1051560" y="3291840"/>
            <a:ext cx="4937760" cy="365760"/>
          </a:xfrm>
          <a:prstGeom prst="rect">
            <a:avLst/>
          </a:prstGeom>
          <a:noFill/>
          <a:ln/>
        </p:spPr>
        <p:txBody>
          <a:bodyPr wrap="square" lIns="0" tIns="0" rIns="0" bIns="0" rtlCol="0" anchor="t"/>
          <a:lstStyle/>
          <a:p>
            <a:pPr indent="0" marL="0">
              <a:buNone/>
            </a:pPr>
            <a:r>
              <a:rPr lang="en-US" sz="1450" b="1" dirty="0">
                <a:solidFill>
                  <a:srgbClr val="0E2A47"/>
                </a:solidFill>
                <a:latin typeface="Hiragino Sans" pitchFamily="34" charset="0"/>
                <a:ea typeface="Hiragino Sans" pitchFamily="34" charset="-122"/>
                <a:cs typeface="Hiragino Sans" pitchFamily="34" charset="-120"/>
              </a:rPr>
              <a:t>LLM 単体に聞く</a:t>
            </a:r>
            <a:endParaRPr lang="en-US" sz="1450" dirty="0"/>
          </a:p>
        </p:txBody>
      </p:sp>
      <p:sp>
        <p:nvSpPr>
          <p:cNvPr id="15" name="Text 13"/>
          <p:cNvSpPr txBox="1"/>
          <p:nvPr/>
        </p:nvSpPr>
        <p:spPr>
          <a:xfrm>
            <a:off x="1051560" y="3657600"/>
            <a:ext cx="4937760" cy="411480"/>
          </a:xfrm>
          <a:prstGeom prst="rect">
            <a:avLst/>
          </a:prstGeom>
          <a:noFill/>
          <a:ln/>
        </p:spPr>
        <p:txBody>
          <a:bodyPr wrap="square" lIns="0" tIns="0" rIns="0" bIns="0" rtlCol="0" anchor="t"/>
          <a:lstStyle/>
          <a:p>
            <a:pPr indent="0" marL="0">
              <a:buNone/>
            </a:pPr>
            <a:r>
              <a:rPr lang="en-US" sz="1150" dirty="0">
                <a:solidFill>
                  <a:srgbClr val="5A6470"/>
                </a:solidFill>
                <a:latin typeface="Hiragino Sans" pitchFamily="34" charset="0"/>
                <a:ea typeface="Hiragino Sans" pitchFamily="34" charset="-122"/>
                <a:cs typeface="Hiragino Sans" pitchFamily="34" charset="-120"/>
              </a:rPr>
              <a:t>「もっともらしい嘘」を見る</a:t>
            </a:r>
            <a:endParaRPr lang="en-US" sz="1150" dirty="0"/>
          </a:p>
        </p:txBody>
      </p:sp>
      <p:sp>
        <p:nvSpPr>
          <p:cNvPr id="16" name="Shape 14"/>
          <p:cNvSpPr/>
          <p:nvPr/>
        </p:nvSpPr>
        <p:spPr>
          <a:xfrm>
            <a:off x="548640" y="4206240"/>
            <a:ext cx="384048" cy="384048"/>
          </a:xfrm>
          <a:prstGeom prst="ellipse">
            <a:avLst/>
          </a:prstGeom>
          <a:solidFill>
            <a:srgbClr val="16406A"/>
          </a:solidFill>
          <a:ln w="12700">
            <a:solidFill>
              <a:srgbClr val="16406A"/>
            </a:solidFill>
            <a:prstDash val="solid"/>
          </a:ln>
        </p:spPr>
      </p:sp>
      <p:sp>
        <p:nvSpPr>
          <p:cNvPr id="17" name="Text 15"/>
          <p:cNvSpPr txBox="1"/>
          <p:nvPr/>
        </p:nvSpPr>
        <p:spPr>
          <a:xfrm>
            <a:off x="548640" y="423367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4</a:t>
            </a:r>
            <a:endParaRPr lang="en-US" sz="1400" dirty="0"/>
          </a:p>
        </p:txBody>
      </p:sp>
      <p:sp>
        <p:nvSpPr>
          <p:cNvPr id="18" name="Text 16"/>
          <p:cNvSpPr txBox="1"/>
          <p:nvPr/>
        </p:nvSpPr>
        <p:spPr>
          <a:xfrm>
            <a:off x="1051560" y="4160520"/>
            <a:ext cx="4937760" cy="365760"/>
          </a:xfrm>
          <a:prstGeom prst="rect">
            <a:avLst/>
          </a:prstGeom>
          <a:noFill/>
          <a:ln/>
        </p:spPr>
        <p:txBody>
          <a:bodyPr wrap="square" lIns="0" tIns="0" rIns="0" bIns="0" rtlCol="0" anchor="t"/>
          <a:lstStyle/>
          <a:p>
            <a:pPr indent="0" marL="0">
              <a:buNone/>
            </a:pPr>
            <a:r>
              <a:rPr lang="en-US" sz="1450" b="1" dirty="0">
                <a:solidFill>
                  <a:srgbClr val="0E2A47"/>
                </a:solidFill>
                <a:latin typeface="Hiragino Sans" pitchFamily="34" charset="0"/>
                <a:ea typeface="Hiragino Sans" pitchFamily="34" charset="-122"/>
                <a:cs typeface="Hiragino Sans" pitchFamily="34" charset="-120"/>
              </a:rPr>
              <a:t>Tool を 1 つ渡す</a:t>
            </a:r>
            <a:endParaRPr lang="en-US" sz="1450" dirty="0"/>
          </a:p>
        </p:txBody>
      </p:sp>
      <p:sp>
        <p:nvSpPr>
          <p:cNvPr id="19" name="Text 17"/>
          <p:cNvSpPr txBox="1"/>
          <p:nvPr/>
        </p:nvSpPr>
        <p:spPr>
          <a:xfrm>
            <a:off x="1051560" y="4526280"/>
            <a:ext cx="4937760" cy="411480"/>
          </a:xfrm>
          <a:prstGeom prst="rect">
            <a:avLst/>
          </a:prstGeom>
          <a:noFill/>
          <a:ln/>
        </p:spPr>
        <p:txBody>
          <a:bodyPr wrap="square" lIns="0" tIns="0" rIns="0" bIns="0" rtlCol="0" anchor="t"/>
          <a:lstStyle/>
          <a:p>
            <a:pPr indent="0" marL="0">
              <a:buNone/>
            </a:pPr>
            <a:r>
              <a:rPr lang="en-US" sz="1150" dirty="0">
                <a:solidFill>
                  <a:srgbClr val="5A6470"/>
                </a:solidFill>
                <a:latin typeface="Hiragino Sans" pitchFamily="34" charset="0"/>
                <a:ea typeface="Hiragino Sans" pitchFamily="34" charset="-122"/>
                <a:cs typeface="Hiragino Sans" pitchFamily="34" charset="-120"/>
              </a:rPr>
              <a:t>同じ質問で正答。呼び出しログをターンごとに表示</a:t>
            </a:r>
            <a:endParaRPr lang="en-US" sz="1150" dirty="0"/>
          </a:p>
        </p:txBody>
      </p:sp>
      <p:sp>
        <p:nvSpPr>
          <p:cNvPr id="20" name="Shape 18"/>
          <p:cNvSpPr/>
          <p:nvPr/>
        </p:nvSpPr>
        <p:spPr>
          <a:xfrm>
            <a:off x="548640" y="5074920"/>
            <a:ext cx="384048" cy="384048"/>
          </a:xfrm>
          <a:prstGeom prst="ellipse">
            <a:avLst/>
          </a:prstGeom>
          <a:solidFill>
            <a:srgbClr val="16406A"/>
          </a:solidFill>
          <a:ln w="12700">
            <a:solidFill>
              <a:srgbClr val="16406A"/>
            </a:solidFill>
            <a:prstDash val="solid"/>
          </a:ln>
        </p:spPr>
      </p:sp>
      <p:sp>
        <p:nvSpPr>
          <p:cNvPr id="21" name="Text 19"/>
          <p:cNvSpPr txBox="1"/>
          <p:nvPr/>
        </p:nvSpPr>
        <p:spPr>
          <a:xfrm>
            <a:off x="548640" y="510235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5</a:t>
            </a:r>
            <a:endParaRPr lang="en-US" sz="1400" dirty="0"/>
          </a:p>
        </p:txBody>
      </p:sp>
      <p:sp>
        <p:nvSpPr>
          <p:cNvPr id="22" name="Text 20"/>
          <p:cNvSpPr txBox="1"/>
          <p:nvPr/>
        </p:nvSpPr>
        <p:spPr>
          <a:xfrm>
            <a:off x="1051560" y="5029200"/>
            <a:ext cx="4937760" cy="365760"/>
          </a:xfrm>
          <a:prstGeom prst="rect">
            <a:avLst/>
          </a:prstGeom>
          <a:noFill/>
          <a:ln/>
        </p:spPr>
        <p:txBody>
          <a:bodyPr wrap="square" lIns="0" tIns="0" rIns="0" bIns="0" rtlCol="0" anchor="t"/>
          <a:lstStyle/>
          <a:p>
            <a:pPr indent="0" marL="0">
              <a:buNone/>
            </a:pPr>
            <a:r>
              <a:rPr lang="en-US" sz="1450" b="1" dirty="0">
                <a:solidFill>
                  <a:srgbClr val="0E2A47"/>
                </a:solidFill>
                <a:latin typeface="Hiragino Sans" pitchFamily="34" charset="0"/>
                <a:ea typeface="Hiragino Sans" pitchFamily="34" charset="-122"/>
                <a:cs typeface="Hiragino Sans" pitchFamily="34" charset="-120"/>
              </a:rPr>
              <a:t>Tool を増やす</a:t>
            </a:r>
            <a:endParaRPr lang="en-US" sz="1450" dirty="0"/>
          </a:p>
        </p:txBody>
      </p:sp>
      <p:sp>
        <p:nvSpPr>
          <p:cNvPr id="23" name="Text 21"/>
          <p:cNvSpPr txBox="1"/>
          <p:nvPr/>
        </p:nvSpPr>
        <p:spPr>
          <a:xfrm>
            <a:off x="1051560" y="5394960"/>
            <a:ext cx="4937760" cy="411480"/>
          </a:xfrm>
          <a:prstGeom prst="rect">
            <a:avLst/>
          </a:prstGeom>
          <a:noFill/>
          <a:ln/>
        </p:spPr>
        <p:txBody>
          <a:bodyPr wrap="square" lIns="0" tIns="0" rIns="0" bIns="0" rtlCol="0" anchor="t"/>
          <a:lstStyle/>
          <a:p>
            <a:pPr indent="0" marL="0">
              <a:buNone/>
            </a:pPr>
            <a:r>
              <a:rPr lang="en-US" sz="1150" dirty="0">
                <a:solidFill>
                  <a:srgbClr val="5A6470"/>
                </a:solidFill>
                <a:latin typeface="Hiragino Sans" pitchFamily="34" charset="0"/>
                <a:ea typeface="Hiragino Sans" pitchFamily="34" charset="-122"/>
                <a:cs typeface="Hiragino Sans" pitchFamily="34" charset="-120"/>
              </a:rPr>
              <a:t>6 個登録 → 2 段呼び出し(週間予報 → 平均)</a:t>
            </a:r>
            <a:endParaRPr lang="en-US" sz="1150" dirty="0"/>
          </a:p>
        </p:txBody>
      </p:sp>
      <p:sp>
        <p:nvSpPr>
          <p:cNvPr id="24" name="Shape 22"/>
          <p:cNvSpPr/>
          <p:nvPr/>
        </p:nvSpPr>
        <p:spPr>
          <a:xfrm>
            <a:off x="6217920" y="1600200"/>
            <a:ext cx="384048" cy="384048"/>
          </a:xfrm>
          <a:prstGeom prst="ellipse">
            <a:avLst/>
          </a:prstGeom>
          <a:solidFill>
            <a:srgbClr val="16406A"/>
          </a:solidFill>
          <a:ln w="12700">
            <a:solidFill>
              <a:srgbClr val="16406A"/>
            </a:solidFill>
            <a:prstDash val="solid"/>
          </a:ln>
        </p:spPr>
      </p:sp>
      <p:sp>
        <p:nvSpPr>
          <p:cNvPr id="25" name="Text 23"/>
          <p:cNvSpPr txBox="1"/>
          <p:nvPr/>
        </p:nvSpPr>
        <p:spPr>
          <a:xfrm>
            <a:off x="6217920" y="162763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6</a:t>
            </a:r>
            <a:endParaRPr lang="en-US" sz="1400" dirty="0"/>
          </a:p>
        </p:txBody>
      </p:sp>
      <p:sp>
        <p:nvSpPr>
          <p:cNvPr id="26" name="Text 24"/>
          <p:cNvSpPr txBox="1"/>
          <p:nvPr/>
        </p:nvSpPr>
        <p:spPr>
          <a:xfrm>
            <a:off x="6720840" y="1554480"/>
            <a:ext cx="4937760" cy="365760"/>
          </a:xfrm>
          <a:prstGeom prst="rect">
            <a:avLst/>
          </a:prstGeom>
          <a:noFill/>
          <a:ln/>
        </p:spPr>
        <p:txBody>
          <a:bodyPr wrap="square" lIns="0" tIns="0" rIns="0" bIns="0" rtlCol="0" anchor="t"/>
          <a:lstStyle/>
          <a:p>
            <a:pPr indent="0" marL="0">
              <a:buNone/>
            </a:pPr>
            <a:r>
              <a:rPr lang="en-US" sz="1450" b="1" dirty="0">
                <a:solidFill>
                  <a:srgbClr val="0E2A47"/>
                </a:solidFill>
                <a:latin typeface="Hiragino Sans" pitchFamily="34" charset="0"/>
                <a:ea typeface="Hiragino Sans" pitchFamily="34" charset="-122"/>
                <a:cs typeface="Hiragino Sans" pitchFamily="34" charset="-120"/>
              </a:rPr>
              <a:t>質問例と検証状況</a:t>
            </a:r>
            <a:endParaRPr lang="en-US" sz="1450" dirty="0"/>
          </a:p>
        </p:txBody>
      </p:sp>
      <p:sp>
        <p:nvSpPr>
          <p:cNvPr id="27" name="Text 25"/>
          <p:cNvSpPr txBox="1"/>
          <p:nvPr/>
        </p:nvSpPr>
        <p:spPr>
          <a:xfrm>
            <a:off x="6720840" y="1920240"/>
            <a:ext cx="4937760" cy="411480"/>
          </a:xfrm>
          <a:prstGeom prst="rect">
            <a:avLst/>
          </a:prstGeom>
          <a:noFill/>
          <a:ln/>
        </p:spPr>
        <p:txBody>
          <a:bodyPr wrap="square" lIns="0" tIns="0" rIns="0" bIns="0" rtlCol="0" anchor="t"/>
          <a:lstStyle/>
          <a:p>
            <a:pPr indent="0" marL="0">
              <a:buNone/>
            </a:pPr>
            <a:r>
              <a:rPr lang="en-US" sz="1150" dirty="0">
                <a:solidFill>
                  <a:srgbClr val="5A6470"/>
                </a:solidFill>
                <a:latin typeface="Hiragino Sans" pitchFamily="34" charset="0"/>
                <a:ea typeface="Hiragino Sans" pitchFamily="34" charset="-122"/>
                <a:cs typeface="Hiragino Sans" pitchFamily="34" charset="-120"/>
              </a:rPr>
              <a:t>16 問 × 結果(○△✕—)の表</a:t>
            </a:r>
            <a:endParaRPr lang="en-US" sz="1150" dirty="0"/>
          </a:p>
        </p:txBody>
      </p:sp>
      <p:sp>
        <p:nvSpPr>
          <p:cNvPr id="28" name="Shape 26"/>
          <p:cNvSpPr/>
          <p:nvPr/>
        </p:nvSpPr>
        <p:spPr>
          <a:xfrm>
            <a:off x="6217920" y="2468880"/>
            <a:ext cx="384048" cy="384048"/>
          </a:xfrm>
          <a:prstGeom prst="ellipse">
            <a:avLst/>
          </a:prstGeom>
          <a:solidFill>
            <a:srgbClr val="16406A"/>
          </a:solidFill>
          <a:ln w="12700">
            <a:solidFill>
              <a:srgbClr val="16406A"/>
            </a:solidFill>
            <a:prstDash val="solid"/>
          </a:ln>
        </p:spPr>
      </p:sp>
      <p:sp>
        <p:nvSpPr>
          <p:cNvPr id="29" name="Text 27"/>
          <p:cNvSpPr txBox="1"/>
          <p:nvPr/>
        </p:nvSpPr>
        <p:spPr>
          <a:xfrm>
            <a:off x="6217920" y="24963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7</a:t>
            </a:r>
            <a:endParaRPr lang="en-US" sz="1400" dirty="0"/>
          </a:p>
        </p:txBody>
      </p:sp>
      <p:sp>
        <p:nvSpPr>
          <p:cNvPr id="30" name="Text 28"/>
          <p:cNvSpPr txBox="1"/>
          <p:nvPr/>
        </p:nvSpPr>
        <p:spPr>
          <a:xfrm>
            <a:off x="6720840" y="2423160"/>
            <a:ext cx="4937760" cy="365760"/>
          </a:xfrm>
          <a:prstGeom prst="rect">
            <a:avLst/>
          </a:prstGeom>
          <a:noFill/>
          <a:ln/>
        </p:spPr>
        <p:txBody>
          <a:bodyPr wrap="square" lIns="0" tIns="0" rIns="0" bIns="0" rtlCol="0" anchor="t"/>
          <a:lstStyle/>
          <a:p>
            <a:pPr indent="0" marL="0">
              <a:buNone/>
            </a:pPr>
            <a:r>
              <a:rPr lang="en-US" sz="1450" b="1" dirty="0">
                <a:solidFill>
                  <a:srgbClr val="0E2A47"/>
                </a:solidFill>
                <a:latin typeface="Hiragino Sans" pitchFamily="34" charset="0"/>
                <a:ea typeface="Hiragino Sans" pitchFamily="34" charset="-122"/>
                <a:cs typeface="Hiragino Sans" pitchFamily="34" charset="-120"/>
              </a:rPr>
              <a:t>記事・お知らせ文</a:t>
            </a:r>
            <a:endParaRPr lang="en-US" sz="1450" dirty="0"/>
          </a:p>
        </p:txBody>
      </p:sp>
      <p:sp>
        <p:nvSpPr>
          <p:cNvPr id="31" name="Text 29"/>
          <p:cNvSpPr txBox="1"/>
          <p:nvPr/>
        </p:nvSpPr>
        <p:spPr>
          <a:xfrm>
            <a:off x="6720840" y="2788920"/>
            <a:ext cx="4937760" cy="411480"/>
          </a:xfrm>
          <a:prstGeom prst="rect">
            <a:avLst/>
          </a:prstGeom>
          <a:noFill/>
          <a:ln/>
        </p:spPr>
        <p:txBody>
          <a:bodyPr wrap="square" lIns="0" tIns="0" rIns="0" bIns="0" rtlCol="0" anchor="t"/>
          <a:lstStyle/>
          <a:p>
            <a:pPr indent="0" marL="0">
              <a:buNone/>
            </a:pPr>
            <a:r>
              <a:rPr lang="en-US" sz="1150" dirty="0">
                <a:solidFill>
                  <a:srgbClr val="5A6470"/>
                </a:solidFill>
                <a:latin typeface="Hiragino Sans" pitchFamily="34" charset="0"/>
                <a:ea typeface="Hiragino Sans" pitchFamily="34" charset="-122"/>
                <a:cs typeface="Hiragino Sans" pitchFamily="34" charset="-120"/>
              </a:rPr>
              <a:t>Markdown で表示 → .md / .html で保存・ダウンロード</a:t>
            </a:r>
            <a:endParaRPr lang="en-US" sz="1150" dirty="0"/>
          </a:p>
        </p:txBody>
      </p:sp>
      <p:sp>
        <p:nvSpPr>
          <p:cNvPr id="32" name="Shape 30"/>
          <p:cNvSpPr/>
          <p:nvPr/>
        </p:nvSpPr>
        <p:spPr>
          <a:xfrm>
            <a:off x="6217920" y="3337560"/>
            <a:ext cx="384048" cy="384048"/>
          </a:xfrm>
          <a:prstGeom prst="ellipse">
            <a:avLst/>
          </a:prstGeom>
          <a:solidFill>
            <a:srgbClr val="D9534F"/>
          </a:solidFill>
          <a:ln w="12700">
            <a:solidFill>
              <a:srgbClr val="D9534F"/>
            </a:solidFill>
            <a:prstDash val="solid"/>
          </a:ln>
        </p:spPr>
      </p:sp>
      <p:sp>
        <p:nvSpPr>
          <p:cNvPr id="33" name="Text 31"/>
          <p:cNvSpPr txBox="1"/>
          <p:nvPr/>
        </p:nvSpPr>
        <p:spPr>
          <a:xfrm>
            <a:off x="6217920" y="336499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8</a:t>
            </a:r>
            <a:endParaRPr lang="en-US" sz="1400" dirty="0"/>
          </a:p>
        </p:txBody>
      </p:sp>
      <p:sp>
        <p:nvSpPr>
          <p:cNvPr id="34" name="Text 32"/>
          <p:cNvSpPr txBox="1"/>
          <p:nvPr/>
        </p:nvSpPr>
        <p:spPr>
          <a:xfrm>
            <a:off x="6720840" y="3291840"/>
            <a:ext cx="4937760" cy="365760"/>
          </a:xfrm>
          <a:prstGeom prst="rect">
            <a:avLst/>
          </a:prstGeom>
          <a:noFill/>
          <a:ln/>
        </p:spPr>
        <p:txBody>
          <a:bodyPr wrap="square" lIns="0" tIns="0" rIns="0" bIns="0" rtlCol="0" anchor="t"/>
          <a:lstStyle/>
          <a:p>
            <a:pPr indent="0" marL="0">
              <a:buNone/>
            </a:pPr>
            <a:r>
              <a:rPr lang="en-US" sz="1450" b="1" dirty="0">
                <a:solidFill>
                  <a:srgbClr val="0E2A47"/>
                </a:solidFill>
                <a:latin typeface="Hiragino Sans" pitchFamily="34" charset="0"/>
                <a:ea typeface="Hiragino Sans" pitchFamily="34" charset="-122"/>
                <a:cs typeface="Hiragino Sans" pitchFamily="34" charset="-120"/>
              </a:rPr>
              <a:t>落とし穴</a:t>
            </a:r>
            <a:endParaRPr lang="en-US" sz="1450" dirty="0"/>
          </a:p>
        </p:txBody>
      </p:sp>
      <p:sp>
        <p:nvSpPr>
          <p:cNvPr id="35" name="Text 33"/>
          <p:cNvSpPr txBox="1"/>
          <p:nvPr/>
        </p:nvSpPr>
        <p:spPr>
          <a:xfrm>
            <a:off x="6720840" y="3657600"/>
            <a:ext cx="4937760" cy="411480"/>
          </a:xfrm>
          <a:prstGeom prst="rect">
            <a:avLst/>
          </a:prstGeom>
          <a:noFill/>
          <a:ln/>
        </p:spPr>
        <p:txBody>
          <a:bodyPr wrap="square" lIns="0" tIns="0" rIns="0" bIns="0" rtlCol="0" anchor="t"/>
          <a:lstStyle/>
          <a:p>
            <a:pPr indent="0" marL="0">
              <a:buNone/>
            </a:pPr>
            <a:r>
              <a:rPr lang="en-US" sz="1150" dirty="0">
                <a:solidFill>
                  <a:srgbClr val="5A6470"/>
                </a:solidFill>
                <a:latin typeface="Hiragino Sans" pitchFamily="34" charset="0"/>
                <a:ea typeface="Hiragino Sans" pitchFamily="34" charset="-122"/>
                <a:cs typeface="Hiragino Sans" pitchFamily="34" charset="-120"/>
              </a:rPr>
              <a:t>わざと失敗させて、原因と直し方を見る</a:t>
            </a:r>
            <a:endParaRPr lang="en-US" sz="1150" dirty="0"/>
          </a:p>
        </p:txBody>
      </p:sp>
      <p:sp>
        <p:nvSpPr>
          <p:cNvPr id="36" name="Shape 34"/>
          <p:cNvSpPr/>
          <p:nvPr/>
        </p:nvSpPr>
        <p:spPr>
          <a:xfrm>
            <a:off x="6217920" y="4206240"/>
            <a:ext cx="384048" cy="384048"/>
          </a:xfrm>
          <a:prstGeom prst="ellipse">
            <a:avLst/>
          </a:prstGeom>
          <a:solidFill>
            <a:srgbClr val="16406A"/>
          </a:solidFill>
          <a:ln w="12700">
            <a:solidFill>
              <a:srgbClr val="16406A"/>
            </a:solidFill>
            <a:prstDash val="solid"/>
          </a:ln>
        </p:spPr>
      </p:sp>
      <p:sp>
        <p:nvSpPr>
          <p:cNvPr id="37" name="Text 35"/>
          <p:cNvSpPr txBox="1"/>
          <p:nvPr/>
        </p:nvSpPr>
        <p:spPr>
          <a:xfrm>
            <a:off x="6217920" y="423367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9</a:t>
            </a:r>
            <a:endParaRPr lang="en-US" sz="1400" dirty="0"/>
          </a:p>
        </p:txBody>
      </p:sp>
      <p:sp>
        <p:nvSpPr>
          <p:cNvPr id="38" name="Text 36"/>
          <p:cNvSpPr txBox="1"/>
          <p:nvPr/>
        </p:nvSpPr>
        <p:spPr>
          <a:xfrm>
            <a:off x="6720840" y="4160520"/>
            <a:ext cx="4937760" cy="365760"/>
          </a:xfrm>
          <a:prstGeom prst="rect">
            <a:avLst/>
          </a:prstGeom>
          <a:noFill/>
          <a:ln/>
        </p:spPr>
        <p:txBody>
          <a:bodyPr wrap="square" lIns="0" tIns="0" rIns="0" bIns="0" rtlCol="0" anchor="t"/>
          <a:lstStyle/>
          <a:p>
            <a:pPr indent="0" marL="0">
              <a:buNone/>
            </a:pPr>
            <a:r>
              <a:rPr lang="en-US" sz="1450" b="1" dirty="0">
                <a:solidFill>
                  <a:srgbClr val="0E2A47"/>
                </a:solidFill>
                <a:latin typeface="Hiragino Sans" pitchFamily="34" charset="0"/>
                <a:ea typeface="Hiragino Sans" pitchFamily="34" charset="-122"/>
                <a:cs typeface="Hiragino Sans" pitchFamily="34" charset="-120"/>
              </a:rPr>
              <a:t>自分の Tool を書く</a:t>
            </a:r>
            <a:endParaRPr lang="en-US" sz="1450" dirty="0"/>
          </a:p>
        </p:txBody>
      </p:sp>
      <p:sp>
        <p:nvSpPr>
          <p:cNvPr id="39" name="Text 37"/>
          <p:cNvSpPr txBox="1"/>
          <p:nvPr/>
        </p:nvSpPr>
        <p:spPr>
          <a:xfrm>
            <a:off x="6720840" y="4526280"/>
            <a:ext cx="4937760" cy="411480"/>
          </a:xfrm>
          <a:prstGeom prst="rect">
            <a:avLst/>
          </a:prstGeom>
          <a:noFill/>
          <a:ln/>
        </p:spPr>
        <p:txBody>
          <a:bodyPr wrap="square" lIns="0" tIns="0" rIns="0" bIns="0" rtlCol="0" anchor="t"/>
          <a:lstStyle/>
          <a:p>
            <a:pPr indent="0" marL="0">
              <a:buNone/>
            </a:pPr>
            <a:r>
              <a:rPr lang="en-US" sz="1150" dirty="0">
                <a:solidFill>
                  <a:srgbClr val="5A6470"/>
                </a:solidFill>
                <a:latin typeface="Hiragino Sans" pitchFamily="34" charset="0"/>
                <a:ea typeface="Hiragino Sans" pitchFamily="34" charset="-122"/>
                <a:cs typeface="Hiragino Sans" pitchFamily="34" charset="-120"/>
              </a:rPr>
              <a:t>例: 日の出・日の入り(計算で求める Tool)</a:t>
            </a:r>
            <a:endParaRPr lang="en-US" sz="1150" dirty="0"/>
          </a:p>
        </p:txBody>
      </p:sp>
      <p:sp>
        <p:nvSpPr>
          <p:cNvPr id="40" name="Shape 38"/>
          <p:cNvSpPr/>
          <p:nvPr/>
        </p:nvSpPr>
        <p:spPr>
          <a:xfrm>
            <a:off x="6217920" y="5074920"/>
            <a:ext cx="384048" cy="384048"/>
          </a:xfrm>
          <a:prstGeom prst="ellipse">
            <a:avLst/>
          </a:prstGeom>
          <a:solidFill>
            <a:srgbClr val="16406A"/>
          </a:solidFill>
          <a:ln w="12700">
            <a:solidFill>
              <a:srgbClr val="16406A"/>
            </a:solidFill>
            <a:prstDash val="solid"/>
          </a:ln>
        </p:spPr>
      </p:sp>
      <p:sp>
        <p:nvSpPr>
          <p:cNvPr id="41" name="Text 39"/>
          <p:cNvSpPr txBox="1"/>
          <p:nvPr/>
        </p:nvSpPr>
        <p:spPr>
          <a:xfrm>
            <a:off x="6217920" y="510235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10</a:t>
            </a:r>
            <a:endParaRPr lang="en-US" sz="1400" dirty="0"/>
          </a:p>
        </p:txBody>
      </p:sp>
      <p:sp>
        <p:nvSpPr>
          <p:cNvPr id="42" name="Text 40"/>
          <p:cNvSpPr txBox="1"/>
          <p:nvPr/>
        </p:nvSpPr>
        <p:spPr>
          <a:xfrm>
            <a:off x="6720840" y="5029200"/>
            <a:ext cx="4937760" cy="365760"/>
          </a:xfrm>
          <a:prstGeom prst="rect">
            <a:avLst/>
          </a:prstGeom>
          <a:noFill/>
          <a:ln/>
        </p:spPr>
        <p:txBody>
          <a:bodyPr wrap="square" lIns="0" tIns="0" rIns="0" bIns="0" rtlCol="0" anchor="t"/>
          <a:lstStyle/>
          <a:p>
            <a:pPr indent="0" marL="0">
              <a:buNone/>
            </a:pPr>
            <a:r>
              <a:rPr lang="en-US" sz="1450" b="1" dirty="0">
                <a:solidFill>
                  <a:srgbClr val="0E2A47"/>
                </a:solidFill>
                <a:latin typeface="Hiragino Sans" pitchFamily="34" charset="0"/>
                <a:ea typeface="Hiragino Sans" pitchFamily="34" charset="-122"/>
                <a:cs typeface="Hiragino Sans" pitchFamily="34" charset="-120"/>
              </a:rPr>
              <a:t>まとめ・検証メモ</a:t>
            </a:r>
            <a:endParaRPr lang="en-US" sz="1450" dirty="0"/>
          </a:p>
        </p:txBody>
      </p:sp>
      <p:sp>
        <p:nvSpPr>
          <p:cNvPr id="43" name="Text 41"/>
          <p:cNvSpPr txBox="1"/>
          <p:nvPr/>
        </p:nvSpPr>
        <p:spPr>
          <a:xfrm>
            <a:off x="6720840" y="5394960"/>
            <a:ext cx="4937760" cy="411480"/>
          </a:xfrm>
          <a:prstGeom prst="rect">
            <a:avLst/>
          </a:prstGeom>
          <a:noFill/>
          <a:ln/>
        </p:spPr>
        <p:txBody>
          <a:bodyPr wrap="square" lIns="0" tIns="0" rIns="0" bIns="0" rtlCol="0" anchor="t"/>
          <a:lstStyle/>
          <a:p>
            <a:pPr indent="0" marL="0">
              <a:buNone/>
            </a:pPr>
            <a:r>
              <a:rPr lang="en-US" sz="1150" dirty="0">
                <a:solidFill>
                  <a:srgbClr val="5A6470"/>
                </a:solidFill>
                <a:latin typeface="Hiragino Sans" pitchFamily="34" charset="0"/>
                <a:ea typeface="Hiragino Sans" pitchFamily="34" charset="-122"/>
                <a:cs typeface="Hiragino Sans" pitchFamily="34" charset="-120"/>
              </a:rPr>
              <a:t>8B で分かったこと、次にできること</a:t>
            </a:r>
            <a:endParaRPr lang="en-US" sz="1150" dirty="0"/>
          </a:p>
        </p:txBody>
      </p:sp>
      <p:sp>
        <p:nvSpPr>
          <p:cNvPr id="44" name="Shape 42"/>
          <p:cNvSpPr/>
          <p:nvPr/>
        </p:nvSpPr>
        <p:spPr>
          <a:xfrm>
            <a:off x="548640" y="5943600"/>
            <a:ext cx="11064240" cy="548640"/>
          </a:xfrm>
          <a:prstGeom prst="roundRect">
            <a:avLst>
              <a:gd name="adj" fmla="val 16667"/>
            </a:avLst>
          </a:prstGeom>
          <a:solidFill>
            <a:srgbClr val="F7F9FB"/>
          </a:solidFill>
          <a:ln w="12700">
            <a:solidFill>
              <a:srgbClr val="F7F9FB"/>
            </a:solidFill>
            <a:prstDash val="solid"/>
          </a:ln>
        </p:spPr>
      </p:sp>
      <p:sp>
        <p:nvSpPr>
          <p:cNvPr id="45" name="Text 43"/>
          <p:cNvSpPr txBox="1"/>
          <p:nvPr/>
        </p:nvSpPr>
        <p:spPr>
          <a:xfrm>
            <a:off x="822960" y="6053328"/>
            <a:ext cx="10515600" cy="365760"/>
          </a:xfrm>
          <a:prstGeom prst="rect">
            <a:avLst/>
          </a:prstGeom>
          <a:noFill/>
          <a:ln/>
        </p:spPr>
        <p:txBody>
          <a:bodyPr wrap="square" lIns="0" tIns="0" rIns="0" bIns="0" rtlCol="0" anchor="t"/>
          <a:lstStyle/>
          <a:p>
            <a:pPr indent="0" marL="0">
              <a:buNone/>
            </a:pPr>
            <a:r>
              <a:rPr lang="en-US" sz="1300" dirty="0">
                <a:solidFill>
                  <a:srgbClr val="16406A"/>
                </a:solidFill>
                <a:latin typeface="Hiragino Sans" pitchFamily="34" charset="0"/>
                <a:ea typeface="Hiragino Sans" pitchFamily="34" charset="-122"/>
                <a:cs typeface="Hiragino Sans" pitchFamily="34" charset="-120"/>
              </a:rPr>
              <a:t>github.com/deepkick/jma-tool-use-weather  →  README の「Open in Colab」から開く。必要なのは Google アカウントだけ</a:t>
            </a:r>
            <a:endParaRPr lang="en-US" sz="1300" dirty="0"/>
          </a:p>
        </p:txBody>
      </p:sp>
      <p:sp>
        <p:nvSpPr>
          <p:cNvPr id="46" name="Text 44"/>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13</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2A47"/>
        </a:solidFill>
      </p:bgPr>
    </p:bg>
    <p:spTree>
      <p:nvGrpSpPr>
        <p:cNvPr id="1" name=""/>
        <p:cNvGrpSpPr/>
        <p:nvPr/>
      </p:nvGrpSpPr>
      <p:grpSpPr>
        <a:xfrm>
          <a:off x="0" y="0"/>
          <a:ext cx="0" cy="0"/>
          <a:chOff x="0" y="0"/>
          <a:chExt cx="0" cy="0"/>
        </a:xfrm>
      </p:grpSpPr>
      <p:sp>
        <p:nvSpPr>
          <p:cNvPr id="9001" name="deco9001"/>
          <p:cNvSpPr/>
          <p:nvPr/>
        </p:nvSpPr>
        <p:spPr>
          <a:xfrm>
            <a:off x="-1828800" y="-2377440"/>
            <a:ext cx="5486400" cy="5486400"/>
          </a:xfrm>
          <a:prstGeom prst="ellipse">
            <a:avLst/>
          </a:prstGeom>
          <a:solidFill>
            <a:srgbClr val="16406A"/>
          </a:solidFill>
          <a:ln>
            <a:noFill/>
          </a:ln>
        </p:spPr>
        <p:txBody>
          <a:bodyPr/>
          <a:lstStyle/>
          <a:p>
            <a:endParaRPr lang="en-US"/>
          </a:p>
        </p:txBody>
      </p:sp>
      <p:sp>
        <p:nvSpPr>
          <p:cNvPr id="9002" name="deco9002"/>
          <p:cNvSpPr/>
          <p:nvPr/>
        </p:nvSpPr>
        <p:spPr>
          <a:xfrm>
            <a:off x="8961120" y="3840480"/>
            <a:ext cx="4937760" cy="4937760"/>
          </a:xfrm>
          <a:prstGeom prst="ellipse">
            <a:avLst/>
          </a:prstGeom>
          <a:solidFill>
            <a:srgbClr val="16406A"/>
          </a:solidFill>
          <a:ln>
            <a:noFill/>
          </a:ln>
        </p:spPr>
        <p:txBody>
          <a:bodyPr/>
          <a:lstStyle/>
          <a:p>
            <a:endParaRPr lang="en-US"/>
          </a:p>
        </p:txBody>
      </p:sp>
      <p:sp>
        <p:nvSpPr>
          <p:cNvPr id="2" name="Text 0"/>
          <p:cNvSpPr txBox="1"/>
          <p:nvPr/>
        </p:nvSpPr>
        <p:spPr>
          <a:xfrm>
            <a:off x="731520" y="2194560"/>
            <a:ext cx="1097280" cy="1097280"/>
          </a:xfrm>
          <a:prstGeom prst="rect">
            <a:avLst/>
          </a:prstGeom>
          <a:noFill/>
          <a:ln/>
        </p:spPr>
        <p:txBody>
          <a:bodyPr wrap="square" lIns="0" tIns="0" rIns="0" bIns="0" rtlCol="0" anchor="t"/>
          <a:lstStyle/>
          <a:p>
            <a:pPr indent="0" marL="0">
              <a:buNone/>
            </a:pPr>
            <a:r>
              <a:rPr lang="en-US" sz="7200" b="1" dirty="0">
                <a:solidFill>
                  <a:srgbClr val="E2711D"/>
                </a:solidFill>
                <a:latin typeface="Hiragino Sans" pitchFamily="34" charset="0"/>
                <a:ea typeface="Hiragino Sans" pitchFamily="34" charset="-122"/>
                <a:cs typeface="Hiragino Sans" pitchFamily="34" charset="-120"/>
              </a:rPr>
              <a:t>3</a:t>
            </a:r>
            <a:endParaRPr lang="en-US" sz="7200" dirty="0"/>
          </a:p>
        </p:txBody>
      </p:sp>
      <p:sp>
        <p:nvSpPr>
          <p:cNvPr id="3" name="Text 1"/>
          <p:cNvSpPr txBox="1"/>
          <p:nvPr/>
        </p:nvSpPr>
        <p:spPr>
          <a:xfrm>
            <a:off x="2011680" y="2377440"/>
            <a:ext cx="9144000" cy="822960"/>
          </a:xfrm>
          <a:prstGeom prst="rect">
            <a:avLst/>
          </a:prstGeom>
          <a:noFill/>
          <a:ln/>
        </p:spPr>
        <p:txBody>
          <a:bodyPr wrap="square" lIns="0" tIns="0" rIns="0" bIns="0" rtlCol="0" anchor="t"/>
          <a:lstStyle/>
          <a:p>
            <a:pPr indent="0" marL="0">
              <a:buNone/>
            </a:pPr>
            <a:r>
              <a:rPr lang="en-US" sz="3200" b="1" dirty="0">
                <a:solidFill>
                  <a:srgbClr val="FFFFFF"/>
                </a:solidFill>
                <a:latin typeface="Hiragino Sans" pitchFamily="34" charset="0"/>
                <a:ea typeface="Hiragino Sans" pitchFamily="34" charset="-122"/>
                <a:cs typeface="Hiragino Sans" pitchFamily="34" charset="-120"/>
              </a:rPr>
              <a:t>動かして分かったこと</a:t>
            </a:r>
            <a:endParaRPr lang="en-US" sz="3200" dirty="0"/>
          </a:p>
        </p:txBody>
      </p:sp>
      <p:sp>
        <p:nvSpPr>
          <p:cNvPr id="4" name="Text 2"/>
          <p:cNvSpPr txBox="1"/>
          <p:nvPr/>
        </p:nvSpPr>
        <p:spPr>
          <a:xfrm>
            <a:off x="2011680" y="3200400"/>
            <a:ext cx="9144000" cy="548640"/>
          </a:xfrm>
          <a:prstGeom prst="rect">
            <a:avLst/>
          </a:prstGeom>
          <a:noFill/>
          <a:ln/>
        </p:spPr>
        <p:txBody>
          <a:bodyPr wrap="square" lIns="0" tIns="0" rIns="0" bIns="0" rtlCol="0" anchor="t"/>
          <a:lstStyle/>
          <a:p>
            <a:pPr indent="0" marL="0">
              <a:buNone/>
            </a:pPr>
            <a:r>
              <a:rPr lang="en-US" sz="1600" dirty="0">
                <a:solidFill>
                  <a:srgbClr val="8FE3F5"/>
                </a:solidFill>
                <a:latin typeface="Hiragino Sans" pitchFamily="34" charset="0"/>
                <a:ea typeface="Hiragino Sans" pitchFamily="34" charset="-122"/>
                <a:cs typeface="Hiragino Sans" pitchFamily="34" charset="-120"/>
              </a:rPr>
              <a:t>うまくいったこと → 検証の表 → 落とし穴と直し方 → 8B の限界</a:t>
            </a:r>
            <a:endParaRPr lang="en-US" sz="1600" dirty="0"/>
          </a:p>
        </p:txBody>
      </p:sp>
      <p:sp>
        <p:nvSpPr>
          <p:cNvPr id="5" name="Text 3"/>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Tool を 1 つ渡すと、同じ質問に気象庁の値で答える</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 が LLM の判断(関数を選んで引数を決めた)、🟢 が Python が返した結果。この 2 行があるかどうかがすべて</a:t>
            </a:r>
            <a:endParaRPr lang="en-US" sz="1400" dirty="0"/>
          </a:p>
        </p:txBody>
      </p:sp>
      <p:sp>
        <p:nvSpPr>
          <p:cNvPr id="4" name="Shape 2"/>
          <p:cNvSpPr/>
          <p:nvPr/>
        </p:nvSpPr>
        <p:spPr>
          <a:xfrm>
            <a:off x="512064" y="1687746"/>
            <a:ext cx="7022592" cy="3573949"/>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5" name="Image 0" descr="/home/claude/slides/img/s4_tool_correct.png">    </p:cNvPr>
          <p:cNvPicPr>
            <a:picLocks noChangeAspect="1"/>
          </p:cNvPicPr>
          <p:nvPr/>
        </p:nvPicPr>
        <p:blipFill>
          <a:blip r:embed="rId1"/>
          <a:stretch>
            <a:fillRect/>
          </a:stretch>
        </p:blipFill>
        <p:spPr>
          <a:xfrm>
            <a:off x="548640" y="1724322"/>
            <a:ext cx="6949440" cy="3500797"/>
          </a:xfrm>
          <a:prstGeom prst="rect">
            <a:avLst/>
          </a:prstGeom>
        </p:spPr>
      </p:pic>
      <p:sp>
        <p:nvSpPr>
          <p:cNvPr id="6" name="Shape 3"/>
          <p:cNvSpPr/>
          <p:nvPr/>
        </p:nvSpPr>
        <p:spPr>
          <a:xfrm>
            <a:off x="7772400" y="1554480"/>
            <a:ext cx="3840480" cy="3840480"/>
          </a:xfrm>
          <a:prstGeom prst="roundRect">
            <a:avLst>
              <a:gd name="adj" fmla="val 2857"/>
            </a:avLst>
          </a:prstGeom>
          <a:solidFill>
            <a:srgbClr val="F7F9FB"/>
          </a:solidFill>
          <a:ln w="12700">
            <a:solidFill>
              <a:srgbClr val="F7F9FB"/>
            </a:solidFill>
            <a:prstDash val="solid"/>
          </a:ln>
        </p:spPr>
      </p:sp>
      <p:sp>
        <p:nvSpPr>
          <p:cNvPr id="7" name="Text 4"/>
          <p:cNvSpPr txBox="1"/>
          <p:nvPr/>
        </p:nvSpPr>
        <p:spPr>
          <a:xfrm>
            <a:off x="8001000" y="1737360"/>
            <a:ext cx="3383280" cy="41148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起きていること</a:t>
            </a:r>
            <a:endParaRPr lang="en-US" sz="1500" dirty="0"/>
          </a:p>
        </p:txBody>
      </p:sp>
      <p:sp>
        <p:nvSpPr>
          <p:cNvPr id="8" name="Text 5"/>
          <p:cNvSpPr txBox="1"/>
          <p:nvPr/>
        </p:nvSpPr>
        <p:spPr>
          <a:xfrm>
            <a:off x="8001000" y="2148840"/>
            <a:ext cx="3383280" cy="306324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1. LLM が「週間予報の関数が要る」と判断し、引数に「京都」を入れる(→ Tool 側で京都府に解決)</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2. Python が気象庁から JSON を取得し、整えて LLM に返す</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3. LLM が値をそのまま使って回答。表と出典つき</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所要 2 秒。§3 の「晴れ・28℃」と並べると、違いは Tool の有無だけ。ただし常に正しいわけではない(→ 16 問の検証表へ)</a:t>
            </a:r>
            <a:endParaRPr lang="en-US" sz="1250" dirty="0"/>
          </a:p>
        </p:txBody>
      </p:sp>
      <p:sp>
        <p:nvSpPr>
          <p:cNvPr id="9" name="Text 6"/>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600" b="1" dirty="0">
                <a:solidFill>
                  <a:srgbClr val="0E2A47"/>
                </a:solidFill>
                <a:latin typeface="Hiragino Sans" pitchFamily="34" charset="0"/>
                <a:ea typeface="Hiragino Sans" pitchFamily="34" charset="-122"/>
                <a:cs typeface="Hiragino Sans" pitchFamily="34" charset="-120"/>
              </a:rPr>
              <a:t>同じモデル・同じ質問・違いは Tool の有無だけ</a:t>
            </a:r>
            <a:endParaRPr lang="en-US" sz="1600" dirty="0"/>
          </a:p>
        </p:txBody>
      </p:sp>
      <p:sp>
        <p:nvSpPr>
          <p:cNvPr id="10" name="Text 7"/>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15</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2 段階の呼び出し — 週間予報を取ってから、平均を計算する</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「京都の今週の最高気温の平均は?」に、LLM が自分で 2 つの Tool を順に呼ぶ</a:t>
            </a:r>
            <a:endParaRPr lang="en-US" sz="1400" dirty="0"/>
          </a:p>
        </p:txBody>
      </p:sp>
      <p:sp>
        <p:nvSpPr>
          <p:cNvPr id="4" name="Shape 2"/>
          <p:cNvSpPr/>
          <p:nvPr/>
        </p:nvSpPr>
        <p:spPr>
          <a:xfrm>
            <a:off x="702361" y="1472184"/>
            <a:ext cx="5727599" cy="5010912"/>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5" name="Image 0" descr="/home/claude/slides/img/s5_two_stage.png">    </p:cNvPr>
          <p:cNvPicPr>
            <a:picLocks noChangeAspect="1"/>
          </p:cNvPicPr>
          <p:nvPr/>
        </p:nvPicPr>
        <p:blipFill>
          <a:blip r:embed="rId1"/>
          <a:stretch>
            <a:fillRect/>
          </a:stretch>
        </p:blipFill>
        <p:spPr>
          <a:xfrm>
            <a:off x="738937" y="1508760"/>
            <a:ext cx="5654447" cy="4937760"/>
          </a:xfrm>
          <a:prstGeom prst="rect">
            <a:avLst/>
          </a:prstGeom>
        </p:spPr>
      </p:pic>
      <p:sp>
        <p:nvSpPr>
          <p:cNvPr id="6" name="Shape 3"/>
          <p:cNvSpPr/>
          <p:nvPr/>
        </p:nvSpPr>
        <p:spPr>
          <a:xfrm>
            <a:off x="6858000" y="1508760"/>
            <a:ext cx="4754880" cy="2286000"/>
          </a:xfrm>
          <a:prstGeom prst="roundRect">
            <a:avLst>
              <a:gd name="adj" fmla="val 4800"/>
            </a:avLst>
          </a:prstGeom>
          <a:solidFill>
            <a:srgbClr val="F7F9FB"/>
          </a:solidFill>
          <a:ln w="12700">
            <a:solidFill>
              <a:srgbClr val="F7F9FB"/>
            </a:solidFill>
            <a:prstDash val="solid"/>
          </a:ln>
        </p:spPr>
      </p:sp>
      <p:sp>
        <p:nvSpPr>
          <p:cNvPr id="7" name="Text 4"/>
          <p:cNvSpPr txBox="1"/>
          <p:nvPr/>
        </p:nvSpPr>
        <p:spPr>
          <a:xfrm>
            <a:off x="7086600" y="1691640"/>
            <a:ext cx="429768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ターン 1 → 2 → 3</a:t>
            </a:r>
            <a:endParaRPr lang="en-US" sz="1500" dirty="0"/>
          </a:p>
        </p:txBody>
      </p:sp>
      <p:sp>
        <p:nvSpPr>
          <p:cNvPr id="8" name="Text 5"/>
          <p:cNvSpPr txBox="1"/>
          <p:nvPr/>
        </p:nvSpPr>
        <p:spPr>
          <a:xfrm>
            <a:off x="7086600" y="2103120"/>
            <a:ext cx="4297680" cy="150876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① get_weekly_forecast(京都) で 7 日分を取得</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② calc_stats([27,24,25,27,26,26,25]) で平均</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③ 25.7℃ と回答、日別の表つき</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人間が指示したのは質問文だけ。順番は LLM が決めた</a:t>
            </a:r>
            <a:endParaRPr lang="en-US" sz="1250" dirty="0"/>
          </a:p>
        </p:txBody>
      </p:sp>
      <p:sp>
        <p:nvSpPr>
          <p:cNvPr id="9" name="Shape 6"/>
          <p:cNvSpPr/>
          <p:nvPr/>
        </p:nvSpPr>
        <p:spPr>
          <a:xfrm>
            <a:off x="6858000" y="3977640"/>
            <a:ext cx="4754880" cy="2468880"/>
          </a:xfrm>
          <a:prstGeom prst="roundRect">
            <a:avLst>
              <a:gd name="adj" fmla="val 4444"/>
            </a:avLst>
          </a:prstGeom>
          <a:solidFill>
            <a:srgbClr val="F7F9FB"/>
          </a:solidFill>
          <a:ln w="12700">
            <a:solidFill>
              <a:srgbClr val="F7F9FB"/>
            </a:solidFill>
            <a:prstDash val="solid"/>
          </a:ln>
        </p:spPr>
      </p:sp>
      <p:sp>
        <p:nvSpPr>
          <p:cNvPr id="10" name="Text 7"/>
          <p:cNvSpPr txBox="1"/>
          <p:nvPr/>
        </p:nvSpPr>
        <p:spPr>
          <a:xfrm>
            <a:off x="7086600" y="4160520"/>
            <a:ext cx="4297680" cy="41148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なぜ「平均」を関数にしたか</a:t>
            </a:r>
            <a:endParaRPr lang="en-US" sz="1500" dirty="0"/>
          </a:p>
        </p:txBody>
      </p:sp>
      <p:sp>
        <p:nvSpPr>
          <p:cNvPr id="11" name="Text 8"/>
          <p:cNvSpPr txBox="1"/>
          <p:nvPr/>
        </p:nvSpPr>
        <p:spPr>
          <a:xfrm>
            <a:off x="7086600" y="4572000"/>
            <a:ext cx="4297680" cy="169164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LLM に暗算させると間違えるから(次のスライド群で実例)。</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Tool Use の役割分担: 判断と文章は LLM、計算と取得は Python。この線引きが、今日の話の一番のポイント</a:t>
            </a:r>
            <a:endParaRPr lang="en-US" sz="1250" dirty="0"/>
          </a:p>
        </p:txBody>
      </p:sp>
      <p:sp>
        <p:nvSpPr>
          <p:cNvPr id="12" name="Text 9"/>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16</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並列の呼び出し — 3 府県の警報を 1 ターンで</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「京都府・大阪府・兵庫県で警報・注意報が出ている市町村は?」</a:t>
            </a:r>
            <a:endParaRPr lang="en-US" sz="1400" dirty="0"/>
          </a:p>
        </p:txBody>
      </p:sp>
      <p:sp>
        <p:nvSpPr>
          <p:cNvPr id="4" name="Shape 2"/>
          <p:cNvSpPr/>
          <p:nvPr/>
        </p:nvSpPr>
        <p:spPr>
          <a:xfrm>
            <a:off x="587396" y="1472184"/>
            <a:ext cx="5774647" cy="5010912"/>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5" name="Image 0" descr="/home/claude/slides/img/warnings3.png">    </p:cNvPr>
          <p:cNvPicPr>
            <a:picLocks noChangeAspect="1"/>
          </p:cNvPicPr>
          <p:nvPr/>
        </p:nvPicPr>
        <p:blipFill>
          <a:blip r:embed="rId1"/>
          <a:stretch>
            <a:fillRect/>
          </a:stretch>
        </p:blipFill>
        <p:spPr>
          <a:xfrm>
            <a:off x="623972" y="1508760"/>
            <a:ext cx="5701495" cy="4937760"/>
          </a:xfrm>
          <a:prstGeom prst="rect">
            <a:avLst/>
          </a:prstGeom>
        </p:spPr>
      </p:pic>
      <p:sp>
        <p:nvSpPr>
          <p:cNvPr id="6" name="Shape 3"/>
          <p:cNvSpPr/>
          <p:nvPr/>
        </p:nvSpPr>
        <p:spPr>
          <a:xfrm>
            <a:off x="6675120" y="1508760"/>
            <a:ext cx="4937760" cy="2103120"/>
          </a:xfrm>
          <a:prstGeom prst="roundRect">
            <a:avLst>
              <a:gd name="adj" fmla="val 5217"/>
            </a:avLst>
          </a:prstGeom>
          <a:solidFill>
            <a:srgbClr val="F7F9FB"/>
          </a:solidFill>
          <a:ln w="12700">
            <a:solidFill>
              <a:srgbClr val="F7F9FB"/>
            </a:solidFill>
            <a:prstDash val="solid"/>
          </a:ln>
        </p:spPr>
      </p:sp>
      <p:sp>
        <p:nvSpPr>
          <p:cNvPr id="7" name="Text 4"/>
          <p:cNvSpPr txBox="1"/>
          <p:nvPr/>
        </p:nvSpPr>
        <p:spPr>
          <a:xfrm>
            <a:off x="6903720" y="1691640"/>
            <a:ext cx="448056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1 ターンで 3 回</a:t>
            </a:r>
            <a:endParaRPr lang="en-US" sz="1500" dirty="0"/>
          </a:p>
        </p:txBody>
      </p:sp>
      <p:sp>
        <p:nvSpPr>
          <p:cNvPr id="8" name="Text 5"/>
          <p:cNvSpPr txBox="1"/>
          <p:nvPr/>
        </p:nvSpPr>
        <p:spPr>
          <a:xfrm>
            <a:off x="6903720" y="2103120"/>
            <a:ext cx="4480560" cy="132588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LLM は「3 つの府県 → get_warnings を 3 回」と判断し、1 度の出力で 3 つの呼び出しを並べた。Python 側が順に実行して 3 つの結果を返す</a:t>
            </a:r>
            <a:endParaRPr lang="en-US" sz="1250" dirty="0"/>
          </a:p>
        </p:txBody>
      </p:sp>
      <p:sp>
        <p:nvSpPr>
          <p:cNvPr id="9" name="Shape 6"/>
          <p:cNvSpPr/>
          <p:nvPr/>
        </p:nvSpPr>
        <p:spPr>
          <a:xfrm>
            <a:off x="6675120" y="3794760"/>
            <a:ext cx="4937760" cy="2651760"/>
          </a:xfrm>
          <a:prstGeom prst="roundRect">
            <a:avLst>
              <a:gd name="adj" fmla="val 4138"/>
            </a:avLst>
          </a:prstGeom>
          <a:solidFill>
            <a:srgbClr val="F7F9FB"/>
          </a:solidFill>
          <a:ln w="12700">
            <a:solidFill>
              <a:srgbClr val="F7F9FB"/>
            </a:solidFill>
            <a:prstDash val="solid"/>
          </a:ln>
        </p:spPr>
      </p:sp>
      <p:sp>
        <p:nvSpPr>
          <p:cNvPr id="10" name="Text 7"/>
          <p:cNvSpPr txBox="1"/>
          <p:nvPr/>
        </p:nvSpPr>
        <p:spPr>
          <a:xfrm>
            <a:off x="6903720" y="3977640"/>
            <a:ext cx="4480560" cy="41148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中身も一致</a:t>
            </a:r>
            <a:endParaRPr lang="en-US" sz="1500" dirty="0"/>
          </a:p>
        </p:txBody>
      </p:sp>
      <p:sp>
        <p:nvSpPr>
          <p:cNvPr id="11" name="Text 8"/>
          <p:cNvSpPr txBox="1"/>
          <p:nvPr/>
        </p:nvSpPr>
        <p:spPr>
          <a:xfrm>
            <a:off x="6903720" y="4389120"/>
            <a:ext cx="4480560" cy="187452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雷注意報(竜巻)が 3 府県とも、市町村数(26 / 43 / 49)と名称は気象庁の発表どおり。20 を超える市町村は Tool 側で「ほか N 市町村」に畳んでいる</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同じ形で「京都と大阪、週末はどちらが天気がいい?」も 2 府並列で正答</a:t>
            </a:r>
            <a:endParaRPr lang="en-US" sz="1250" dirty="0"/>
          </a:p>
        </p:txBody>
      </p:sp>
      <p:sp>
        <p:nvSpPr>
          <p:cNvPr id="12" name="Text 9"/>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17</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出口は文章 — 記事、平易な説明、そして保存</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同じ Tool で、用途に合った文章に変える。ここは LLM の本領</a:t>
            </a:r>
            <a:endParaRPr lang="en-US" sz="1400" dirty="0"/>
          </a:p>
        </p:txBody>
      </p:sp>
      <p:sp>
        <p:nvSpPr>
          <p:cNvPr id="4" name="Shape 2"/>
          <p:cNvSpPr/>
          <p:nvPr/>
        </p:nvSpPr>
        <p:spPr>
          <a:xfrm>
            <a:off x="548640" y="1554480"/>
            <a:ext cx="3566160" cy="4206240"/>
          </a:xfrm>
          <a:prstGeom prst="roundRect">
            <a:avLst>
              <a:gd name="adj" fmla="val 3077"/>
            </a:avLst>
          </a:prstGeom>
          <a:solidFill>
            <a:srgbClr val="F7F9FB"/>
          </a:solidFill>
          <a:ln w="12700">
            <a:solidFill>
              <a:srgbClr val="F7F9FB"/>
            </a:solidFill>
            <a:prstDash val="solid"/>
          </a:ln>
        </p:spPr>
      </p:sp>
      <p:sp>
        <p:nvSpPr>
          <p:cNvPr id="5" name="Text 3"/>
          <p:cNvSpPr txBox="1"/>
          <p:nvPr/>
        </p:nvSpPr>
        <p:spPr>
          <a:xfrm>
            <a:off x="777240" y="1737360"/>
            <a:ext cx="3108960" cy="41148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地方紙の天気コーナー向け 300 字</a:t>
            </a:r>
            <a:endParaRPr lang="en-US" sz="1500" dirty="0"/>
          </a:p>
        </p:txBody>
      </p:sp>
      <p:sp>
        <p:nvSpPr>
          <p:cNvPr id="6" name="Text 4"/>
          <p:cNvSpPr txBox="1"/>
          <p:nvPr/>
        </p:nvSpPr>
        <p:spPr>
          <a:xfrm>
            <a:off x="777240" y="2148840"/>
            <a:ext cx="3108960" cy="34290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宮城県の週間予報 → 見出し・本文・日別の表。「10 月 1 日は降水確率 70%」「10 月 3 日以降は 13℃ 前後に下がる」と、数値はすべて予報どおり</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.md と .html で保存し、ブラウザにダウンロード</a:t>
            </a:r>
            <a:endParaRPr lang="en-US" sz="1250" dirty="0"/>
          </a:p>
        </p:txBody>
      </p:sp>
      <p:sp>
        <p:nvSpPr>
          <p:cNvPr id="7" name="Shape 5"/>
          <p:cNvSpPr/>
          <p:nvPr/>
        </p:nvSpPr>
        <p:spPr>
          <a:xfrm>
            <a:off x="4315968" y="1554480"/>
            <a:ext cx="3566160" cy="4206240"/>
          </a:xfrm>
          <a:prstGeom prst="roundRect">
            <a:avLst>
              <a:gd name="adj" fmla="val 3077"/>
            </a:avLst>
          </a:prstGeom>
          <a:solidFill>
            <a:srgbClr val="F7F9FB"/>
          </a:solidFill>
          <a:ln w="12700">
            <a:solidFill>
              <a:srgbClr val="F7F9FB"/>
            </a:solidFill>
            <a:prstDash val="solid"/>
          </a:ln>
        </p:spPr>
      </p:sp>
      <p:sp>
        <p:nvSpPr>
          <p:cNvPr id="8" name="Text 6"/>
          <p:cNvSpPr txBox="1"/>
          <p:nvPr/>
        </p:nvSpPr>
        <p:spPr>
          <a:xfrm>
            <a:off x="4544568" y="1737360"/>
            <a:ext cx="3108960" cy="411480"/>
          </a:xfrm>
          <a:prstGeom prst="rect">
            <a:avLst/>
          </a:prstGeom>
          <a:noFill/>
          <a:ln/>
        </p:spPr>
        <p:txBody>
          <a:bodyPr wrap="square" lIns="0" tIns="0" rIns="0" bIns="0" rtlCol="0" anchor="t"/>
          <a:lstStyle/>
          <a:p>
            <a:pPr indent="0" marL="0">
              <a:buNone/>
            </a:pPr>
            <a:r>
              <a:rPr lang="en-US" sz="1500" b="1" dirty="0">
                <a:solidFill>
                  <a:srgbClr val="E2711D"/>
                </a:solidFill>
                <a:latin typeface="Hiragino Sans" pitchFamily="34" charset="0"/>
                <a:ea typeface="Hiragino Sans" pitchFamily="34" charset="-122"/>
                <a:cs typeface="Hiragino Sans" pitchFamily="34" charset="-120"/>
              </a:rPr>
              <a:t>小学生向け</a:t>
            </a:r>
            <a:endParaRPr lang="en-US" sz="1500" dirty="0"/>
          </a:p>
        </p:txBody>
      </p:sp>
      <p:sp>
        <p:nvSpPr>
          <p:cNvPr id="9" name="Text 7"/>
          <p:cNvSpPr txBox="1"/>
          <p:nvPr/>
        </p:nvSpPr>
        <p:spPr>
          <a:xfrm>
            <a:off x="4544568" y="2148840"/>
            <a:ext cx="3108960" cy="34290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3 日間予報と概況文を並列に取得し、「傘を持って出かけましょう」「雷の日は建物の中へ」と注意点つきで書き換え</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初回は「昼は晴れますが」と予報にない描写を足した(実際は雨)。→ プロンプトに「結果にない描写を足さない」を加えて解消</a:t>
            </a:r>
            <a:endParaRPr lang="en-US" sz="1250" dirty="0"/>
          </a:p>
        </p:txBody>
      </p:sp>
      <p:sp>
        <p:nvSpPr>
          <p:cNvPr id="10" name="Shape 8"/>
          <p:cNvSpPr/>
          <p:nvPr/>
        </p:nvSpPr>
        <p:spPr>
          <a:xfrm>
            <a:off x="8083296" y="1554480"/>
            <a:ext cx="3566160" cy="4206240"/>
          </a:xfrm>
          <a:prstGeom prst="roundRect">
            <a:avLst>
              <a:gd name="adj" fmla="val 3077"/>
            </a:avLst>
          </a:prstGeom>
          <a:solidFill>
            <a:srgbClr val="F7F9FB"/>
          </a:solidFill>
          <a:ln w="12700">
            <a:solidFill>
              <a:srgbClr val="F7F9FB"/>
            </a:solidFill>
            <a:prstDash val="solid"/>
          </a:ln>
        </p:spPr>
      </p:sp>
      <p:sp>
        <p:nvSpPr>
          <p:cNvPr id="11" name="Text 9"/>
          <p:cNvSpPr txBox="1"/>
          <p:nvPr/>
        </p:nvSpPr>
        <p:spPr>
          <a:xfrm>
            <a:off x="8311896" y="1737360"/>
            <a:ext cx="310896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概況文の解説</a:t>
            </a:r>
            <a:endParaRPr lang="en-US" sz="1500" dirty="0"/>
          </a:p>
        </p:txBody>
      </p:sp>
      <p:sp>
        <p:nvSpPr>
          <p:cNvPr id="12" name="Text 10"/>
          <p:cNvSpPr txBox="1"/>
          <p:nvPr/>
        </p:nvSpPr>
        <p:spPr>
          <a:xfrm>
            <a:off x="8311896" y="2148840"/>
            <a:ext cx="3108960" cy="34290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気象台の概況文(「前線や湿った空気の影響で…」)をもとに、今日・明日の天気の背景を説明。内容は概況文に忠実</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報道・防災向けには、この「公式文書を平易に言い換える」使い方が一番現実的</a:t>
            </a:r>
            <a:endParaRPr lang="en-US" sz="1250" dirty="0"/>
          </a:p>
        </p:txBody>
      </p:sp>
      <p:sp>
        <p:nvSpPr>
          <p:cNvPr id="13" name="Text 11"/>
          <p:cNvSpPr txBox="1"/>
          <p:nvPr/>
        </p:nvSpPr>
        <p:spPr>
          <a:xfrm>
            <a:off x="548640" y="5943600"/>
            <a:ext cx="11064240" cy="457200"/>
          </a:xfrm>
          <a:prstGeom prst="rect">
            <a:avLst/>
          </a:prstGeom>
          <a:noFill/>
          <a:ln/>
        </p:spPr>
        <p:txBody>
          <a:bodyPr wrap="square" lIns="0" tIns="0" rIns="0" bIns="0" rtlCol="0" anchor="t"/>
          <a:lstStyle/>
          <a:p>
            <a:pPr indent="0" marL="0">
              <a:buNone/>
            </a:pPr>
            <a:r>
              <a:rPr lang="en-US" sz="1350" dirty="0">
                <a:solidFill>
                  <a:srgbClr val="5A6470"/>
                </a:solidFill>
                <a:latin typeface="Hiragino Sans" pitchFamily="34" charset="0"/>
                <a:ea typeface="Hiragino Sans" pitchFamily="34" charset="-122"/>
                <a:cs typeface="Hiragino Sans" pitchFamily="34" charset="-120"/>
              </a:rPr>
              <a:t>文章化は得意だが、「データにない情景を足す」癖がある。禁止を明示すれば止まる — これも後で「落とし穴」として</a:t>
            </a:r>
            <a:endParaRPr lang="en-US" sz="1350" dirty="0"/>
          </a:p>
        </p:txBody>
      </p:sp>
      <p:sp>
        <p:nvSpPr>
          <p:cNvPr id="14" name="Text 12"/>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18</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16 の質問で検証 — 結果は本家(気象庁ページ)と照合</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 期待どおり(数値一致)  △ 答えは合っているが課題あり  ✕ 誤答(→ 対策済み)  — 未実施</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365760"/>
                <a:gridCol w="731520"/>
                <a:gridCol w="4206240"/>
                <a:gridCol w="1371600"/>
                <a:gridCol w="640080"/>
                <a:gridCol w="3931920"/>
              </a:tblGrid>
              <a:tr h="283464">
                <a:tc>
                  <a:txBody>
                    <a:bodyPr/>
                    <a:lstStyle/>
                    <a:p>
                      <a:pPr algn="ctr" indent="0" marL="0">
                        <a:buNone/>
                      </a:pPr>
                      <a:r>
                        <a:rPr lang="en-US" sz="1050" b="1" dirty="0">
                          <a:solidFill>
                            <a:srgbClr val="FFFFFF"/>
                          </a:solidFill>
                          <a:latin typeface="Hiragino Sans" pitchFamily="34" charset="0"/>
                          <a:ea typeface="Hiragino Sans" pitchFamily="34" charset="-122"/>
                          <a:cs typeface="Hiragino Sans" pitchFamily="34" charset="-120"/>
                        </a:rPr>
                        <a:t>#</a:t>
                      </a:r>
                      <a:endParaRPr lang="en-US" sz="10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050" b="1" dirty="0">
                          <a:solidFill>
                            <a:srgbClr val="FFFFFF"/>
                          </a:solidFill>
                          <a:latin typeface="Hiragino Sans" pitchFamily="34" charset="0"/>
                          <a:ea typeface="Hiragino Sans" pitchFamily="34" charset="-122"/>
                          <a:cs typeface="Hiragino Sans" pitchFamily="34" charset="-120"/>
                        </a:rPr>
                        <a:t>分野</a:t>
                      </a:r>
                      <a:endParaRPr lang="en-US" sz="10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050" b="1" dirty="0">
                          <a:solidFill>
                            <a:srgbClr val="FFFFFF"/>
                          </a:solidFill>
                          <a:latin typeface="Hiragino Sans" pitchFamily="34" charset="0"/>
                          <a:ea typeface="Hiragino Sans" pitchFamily="34" charset="-122"/>
                          <a:cs typeface="Hiragino Sans" pitchFamily="34" charset="-120"/>
                        </a:rPr>
                        <a:t>質問</a:t>
                      </a:r>
                      <a:endParaRPr lang="en-US" sz="10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050" b="1" dirty="0">
                          <a:solidFill>
                            <a:srgbClr val="FFFFFF"/>
                          </a:solidFill>
                          <a:latin typeface="Hiragino Sans" pitchFamily="34" charset="0"/>
                          <a:ea typeface="Hiragino Sans" pitchFamily="34" charset="-122"/>
                          <a:cs typeface="Hiragino Sans" pitchFamily="34" charset="-120"/>
                        </a:rPr>
                        <a:t>Tool</a:t>
                      </a:r>
                      <a:endParaRPr lang="en-US" sz="10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050" b="1" dirty="0">
                          <a:solidFill>
                            <a:srgbClr val="FFFFFF"/>
                          </a:solidFill>
                          <a:latin typeface="Hiragino Sans" pitchFamily="34" charset="0"/>
                          <a:ea typeface="Hiragino Sans" pitchFamily="34" charset="-122"/>
                          <a:cs typeface="Hiragino Sans" pitchFamily="34" charset="-120"/>
                        </a:rPr>
                        <a:t>結果</a:t>
                      </a:r>
                      <a:endParaRPr lang="en-US" sz="10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050" b="1" dirty="0">
                          <a:solidFill>
                            <a:srgbClr val="FFFFFF"/>
                          </a:solidFill>
                          <a:latin typeface="Hiragino Sans" pitchFamily="34" charset="0"/>
                          <a:ea typeface="Hiragino Sans" pitchFamily="34" charset="-122"/>
                          <a:cs typeface="Hiragino Sans" pitchFamily="34" charset="-120"/>
                        </a:rPr>
                        <a:t>メモ</a:t>
                      </a:r>
                      <a:endParaRPr lang="en-US" sz="10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6406A"/>
                    </a:solidFill>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1</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生活</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明日の京都府の天気と、降水確率が高い時間帯は?</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3 日間予報</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F7A6D"/>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南部・北部の 6 時間ごとの値まで一致</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2</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生活</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今週の京都で、傘がいらない日はどれ?</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週間予報</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C98A00"/>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本文と結論が矛盾。思考モードで解消</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3</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生活</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今週末の京都と大阪、どちらが天気がいい?</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週間予報 ×2</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F7A6D"/>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2 府を並列取得、全数値一致</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4</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集計</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京都の今週の最低気温の平均と、いちばん冷え込む日は?</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週間 → 統計</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C98A00"/>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値は正しいが、思考モードでは統計 Tool を呼ばず</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5</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寒地</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石狩・空知・後志地方の今週の最低気温。氷点下の日は?</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週間予報</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F7A6D"/>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値は一致。地方名を 4 つに分解して呼ぶ無駄</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6</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寒地</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今、石狩・空知・後志地方で雪が観測されている地点は?</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アメダス</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D9534F"/>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降水量 1.5mm を積雪 1.5cm と誤読 → Tool に要約を追加</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7</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風力</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青森県の今日〜明後日の風の予報を地域別に</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3 日間予報</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C98A00"/>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今日・明日は一致、明後日を落とした</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8</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風力</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今、青森県で風速が最も強い観測所は?</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アメダス</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5A6470"/>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要約に「最大風速の地点」を追加済み</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9</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山岳</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長野県の週間予報で、信頼度が低い日は?</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週間予報</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F7A6D"/>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C は 10/2 のみ、一致</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10</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山岳</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明日の京都の日の出・日の入りと天気</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日の出 + 予報</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F7A6D"/>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自作 Tool を選び、予報と並列に呼んだ</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11</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報道</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宮城県の今週の天気を 300 字の記事に</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週間予報</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F7A6D"/>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表・出典つき、保存まで動作</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12</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報道</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京都府の今日・明日を小学生向けに</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予報 + 概況</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F7A6D"/>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初回は予報にない描写 → プロンプトで解消</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13</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防災</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京都・大阪・兵庫で警報が出ている市町村は?</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警報 ×3</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F7A6D"/>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3 府県を並列取得、市町村数・名称一致</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14</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実況</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今の京都府で気温が最も高い/低い観測所は?</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アメダス</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F7A6D"/>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一致</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15</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解説</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京都府の天気の背景を概況文をもとに</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概況文</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F7A6D"/>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概況文に忠実</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83464">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16</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分析</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今の京都の気温は、平年の最高気温と比べてどう?</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実況 + 週間</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F7A6D"/>
                          </a:solidFill>
                          <a:latin typeface="Hiragino Sans" pitchFamily="34" charset="0"/>
                          <a:ea typeface="Hiragino Sans" pitchFamily="34" charset="-122"/>
                          <a:cs typeface="Hiragino Sans" pitchFamily="34" charset="-120"/>
                        </a:rPr>
                        <a:t>○</a:t>
                      </a:r>
                      <a:endParaRPr lang="en-US" sz="120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0F2A44"/>
                          </a:solidFill>
                          <a:latin typeface="Hiragino Sans" pitchFamily="34" charset="0"/>
                          <a:ea typeface="Hiragino Sans" pitchFamily="34" charset="-122"/>
                          <a:cs typeface="Hiragino Sans" pitchFamily="34" charset="-120"/>
                        </a:rPr>
                        <a:t>docstring に平年値を書く前は「データが必要」と答えた</a:t>
                      </a:r>
                      <a:endParaRPr lang="en-US" sz="950" dirty="0">
                        <a:latin typeface="Hiragino Sans" charset="0"/>
                        <a:ea typeface="Hiragino Sans" charset="0"/>
                        <a:cs typeface="Hiragino Sans" charset="0"/>
                      </a:endParaRPr>
                    </a:p>
                  </a:txBody>
                  <a:tcPr marL="27432" marR="2743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5" name="Text 2"/>
          <p:cNvSpPr txBox="1"/>
          <p:nvPr/>
        </p:nvSpPr>
        <p:spPr>
          <a:xfrm>
            <a:off x="548640" y="6263640"/>
            <a:ext cx="10972800" cy="274320"/>
          </a:xfrm>
          <a:prstGeom prst="rect">
            <a:avLst/>
          </a:prstGeom>
          <a:noFill/>
          <a:ln/>
        </p:spPr>
        <p:txBody>
          <a:bodyPr wrap="square" lIns="0" tIns="0" rIns="0" bIns="0" rtlCol="0" anchor="t"/>
          <a:lstStyle/>
          <a:p>
            <a:pPr indent="0" marL="0">
              <a:buNone/>
            </a:pPr>
            <a:r>
              <a:rPr lang="en-US" sz="1050" dirty="0">
                <a:solidFill>
                  <a:srgbClr val="5A6470"/>
                </a:solidFill>
                <a:latin typeface="Hiragino Sans" pitchFamily="34" charset="0"/>
                <a:ea typeface="Hiragino Sans" pitchFamily="34" charset="-122"/>
                <a:cs typeface="Hiragino Sans" pitchFamily="34" charset="-120"/>
              </a:rPr>
              <a:t>○ 11 / △ 3 / ✕ 1 / — 1。Qwen3-8B・思考 OFF 基準(△ の一部は思考 ON)。2026-09-27 の気象庁データ</a:t>
            </a:r>
            <a:endParaRPr lang="en-US" sz="1050" dirty="0"/>
          </a:p>
        </p:txBody>
      </p:sp>
      <p:sp>
        <p:nvSpPr>
          <p:cNvPr id="6" name="Text 3"/>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19</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照合の例 — 本家の気象庁ページと突き合わせる</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数値を LLM が「作っていない」ことは、元データと並べて初めて言える</a:t>
            </a:r>
            <a:endParaRPr lang="en-US" sz="1400" dirty="0"/>
          </a:p>
        </p:txBody>
      </p:sp>
      <p:sp>
        <p:nvSpPr>
          <p:cNvPr id="4" name="Shape 2"/>
          <p:cNvSpPr/>
          <p:nvPr/>
        </p:nvSpPr>
        <p:spPr>
          <a:xfrm>
            <a:off x="512064" y="1832687"/>
            <a:ext cx="5193792" cy="4289906"/>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5" name="Image 0" descr="/home/claude/slides/img/jma_site.png">    </p:cNvPr>
          <p:cNvPicPr>
            <a:picLocks noChangeAspect="1"/>
          </p:cNvPicPr>
          <p:nvPr/>
        </p:nvPicPr>
        <p:blipFill>
          <a:blip r:embed="rId1"/>
          <a:stretch>
            <a:fillRect/>
          </a:stretch>
        </p:blipFill>
        <p:spPr>
          <a:xfrm>
            <a:off x="548640" y="1869263"/>
            <a:ext cx="5120640" cy="4216754"/>
          </a:xfrm>
          <a:prstGeom prst="rect">
            <a:avLst/>
          </a:prstGeom>
        </p:spPr>
      </p:pic>
      <p:sp>
        <p:nvSpPr>
          <p:cNvPr id="6" name="Shape 3"/>
          <p:cNvSpPr/>
          <p:nvPr/>
        </p:nvSpPr>
        <p:spPr>
          <a:xfrm>
            <a:off x="5907024" y="1572912"/>
            <a:ext cx="5742432" cy="2614896"/>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7" name="Image 1" descr="/home/claude/slides/img/avg_thinking.png">    </p:cNvPr>
          <p:cNvPicPr>
            <a:picLocks noChangeAspect="1"/>
          </p:cNvPicPr>
          <p:nvPr/>
        </p:nvPicPr>
        <p:blipFill>
          <a:blip r:embed="rId2"/>
          <a:stretch>
            <a:fillRect/>
          </a:stretch>
        </p:blipFill>
        <p:spPr>
          <a:xfrm>
            <a:off x="5943600" y="1609488"/>
            <a:ext cx="5669280" cy="2541744"/>
          </a:xfrm>
          <a:prstGeom prst="rect">
            <a:avLst/>
          </a:prstGeom>
        </p:spPr>
      </p:pic>
      <p:sp>
        <p:nvSpPr>
          <p:cNvPr id="8" name="Shape 4"/>
          <p:cNvSpPr/>
          <p:nvPr/>
        </p:nvSpPr>
        <p:spPr>
          <a:xfrm>
            <a:off x="5943600" y="4434840"/>
            <a:ext cx="5669280" cy="2103120"/>
          </a:xfrm>
          <a:prstGeom prst="roundRect">
            <a:avLst>
              <a:gd name="adj" fmla="val 5217"/>
            </a:avLst>
          </a:prstGeom>
          <a:solidFill>
            <a:srgbClr val="F7F9FB"/>
          </a:solidFill>
          <a:ln w="12700">
            <a:solidFill>
              <a:srgbClr val="F7F9FB"/>
            </a:solidFill>
            <a:prstDash val="solid"/>
          </a:ln>
        </p:spPr>
      </p:sp>
      <p:sp>
        <p:nvSpPr>
          <p:cNvPr id="9" name="Text 5"/>
          <p:cNvSpPr txBox="1"/>
          <p:nvPr/>
        </p:nvSpPr>
        <p:spPr>
          <a:xfrm>
            <a:off x="6172200" y="4617720"/>
            <a:ext cx="5212080" cy="411480"/>
          </a:xfrm>
          <a:prstGeom prst="rect">
            <a:avLst/>
          </a:prstGeom>
          <a:noFill/>
          <a:ln/>
        </p:spPr>
        <p:txBody>
          <a:bodyPr wrap="square" lIns="0" tIns="0" rIns="0" bIns="0" rtlCol="0" anchor="t"/>
          <a:lstStyle/>
          <a:p>
            <a:pPr indent="0" marL="0">
              <a:buNone/>
            </a:pPr>
            <a:r>
              <a:rPr lang="en-US" sz="1500" b="1" dirty="0">
                <a:solidFill>
                  <a:srgbClr val="E2711D"/>
                </a:solidFill>
                <a:latin typeface="Hiragino Sans" pitchFamily="34" charset="0"/>
                <a:ea typeface="Hiragino Sans" pitchFamily="34" charset="-122"/>
                <a:cs typeface="Hiragino Sans" pitchFamily="34" charset="-120"/>
              </a:rPr>
              <a:t>結果: 最低気温 7 日分と平均 18.4℃ がすべて一致</a:t>
            </a:r>
            <a:endParaRPr lang="en-US" sz="1500" dirty="0"/>
          </a:p>
        </p:txBody>
      </p:sp>
      <p:sp>
        <p:nvSpPr>
          <p:cNvPr id="10" name="Text 6"/>
          <p:cNvSpPr txBox="1"/>
          <p:nvPr/>
        </p:nvSpPr>
        <p:spPr>
          <a:xfrm>
            <a:off x="6172200" y="5029200"/>
            <a:ext cx="5212080" cy="132588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ただしログを見ると calc_stats は呼ばれていない。回答文の「calc_stats に渡すと」は実際には起きていない手順の記述で、計算は思考の中で行っていた</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 回答文ではなく、ログ(🔵🟢)を信じる。ログは Python が出しているので嘘をつけない</a:t>
            </a:r>
            <a:endParaRPr lang="en-US" sz="1250" dirty="0"/>
          </a:p>
        </p:txBody>
      </p:sp>
      <p:sp>
        <p:nvSpPr>
          <p:cNvPr id="11" name="Text 7"/>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20</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2A47"/>
        </a:solidFill>
      </p:bgPr>
    </p:bg>
    <p:spTree>
      <p:nvGrpSpPr>
        <p:cNvPr id="1" name=""/>
        <p:cNvGrpSpPr/>
        <p:nvPr/>
      </p:nvGrpSpPr>
      <p:grpSpPr>
        <a:xfrm>
          <a:off x="0" y="0"/>
          <a:ext cx="0" cy="0"/>
          <a:chOff x="0" y="0"/>
          <a:chExt cx="0" cy="0"/>
        </a:xfrm>
      </p:grpSpPr>
      <p:sp>
        <p:nvSpPr>
          <p:cNvPr id="9001" name="deco9001"/>
          <p:cNvSpPr/>
          <p:nvPr/>
        </p:nvSpPr>
        <p:spPr>
          <a:xfrm>
            <a:off x="-1828800" y="-2377440"/>
            <a:ext cx="5486400" cy="5486400"/>
          </a:xfrm>
          <a:prstGeom prst="ellipse">
            <a:avLst/>
          </a:prstGeom>
          <a:solidFill>
            <a:srgbClr val="16406A"/>
          </a:solidFill>
          <a:ln>
            <a:noFill/>
          </a:ln>
        </p:spPr>
        <p:txBody>
          <a:bodyPr/>
          <a:lstStyle/>
          <a:p>
            <a:endParaRPr lang="en-US"/>
          </a:p>
        </p:txBody>
      </p:sp>
      <p:sp>
        <p:nvSpPr>
          <p:cNvPr id="9002" name="deco9002"/>
          <p:cNvSpPr/>
          <p:nvPr/>
        </p:nvSpPr>
        <p:spPr>
          <a:xfrm>
            <a:off x="8961120" y="3840480"/>
            <a:ext cx="4937760" cy="4937760"/>
          </a:xfrm>
          <a:prstGeom prst="ellipse">
            <a:avLst/>
          </a:prstGeom>
          <a:solidFill>
            <a:srgbClr val="16406A"/>
          </a:solidFill>
          <a:ln>
            <a:noFill/>
          </a:ln>
        </p:spPr>
        <p:txBody>
          <a:bodyPr/>
          <a:lstStyle/>
          <a:p>
            <a:endParaRPr lang="en-US"/>
          </a:p>
        </p:txBody>
      </p:sp>
      <p:sp>
        <p:nvSpPr>
          <p:cNvPr id="2" name="Text 0"/>
          <p:cNvSpPr txBox="1"/>
          <p:nvPr/>
        </p:nvSpPr>
        <p:spPr>
          <a:xfrm>
            <a:off x="731520" y="2103120"/>
            <a:ext cx="10789920" cy="822960"/>
          </a:xfrm>
          <a:prstGeom prst="rect">
            <a:avLst/>
          </a:prstGeom>
          <a:noFill/>
          <a:ln/>
        </p:spPr>
        <p:txBody>
          <a:bodyPr wrap="square" lIns="0" tIns="0" rIns="0" bIns="0" rtlCol="0" anchor="t"/>
          <a:lstStyle/>
          <a:p>
            <a:pPr indent="0" marL="0">
              <a:buNone/>
            </a:pPr>
            <a:r>
              <a:rPr lang="en-US" sz="3200" b="1" dirty="0">
                <a:solidFill>
                  <a:srgbClr val="FFFFFF"/>
                </a:solidFill>
                <a:latin typeface="Hiragino Sans" pitchFamily="34" charset="0"/>
                <a:ea typeface="Hiragino Sans" pitchFamily="34" charset="-122"/>
                <a:cs typeface="Hiragino Sans" pitchFamily="34" charset="-120"/>
              </a:rPr>
              <a:t>落とし穴と、直し方</a:t>
            </a:r>
            <a:endParaRPr lang="en-US" sz="3200" dirty="0"/>
          </a:p>
        </p:txBody>
      </p:sp>
      <p:sp>
        <p:nvSpPr>
          <p:cNvPr id="3" name="Text 1"/>
          <p:cNvSpPr txBox="1"/>
          <p:nvPr/>
        </p:nvSpPr>
        <p:spPr>
          <a:xfrm>
            <a:off x="731520" y="3017520"/>
            <a:ext cx="10789920" cy="1097280"/>
          </a:xfrm>
          <a:prstGeom prst="rect">
            <a:avLst/>
          </a:prstGeom>
          <a:noFill/>
          <a:ln/>
        </p:spPr>
        <p:txBody>
          <a:bodyPr wrap="square" lIns="0" tIns="0" rIns="0" bIns="0" rtlCol="0" anchor="t"/>
          <a:lstStyle/>
          <a:p>
            <a:pPr indent="0" marL="0">
              <a:buNone/>
            </a:pPr>
            <a:r>
              <a:rPr lang="en-US" sz="1600" dirty="0">
                <a:solidFill>
                  <a:srgbClr val="8FE3F5"/>
                </a:solidFill>
                <a:latin typeface="Hiragino Sans" pitchFamily="34" charset="0"/>
                <a:ea typeface="Hiragino Sans" pitchFamily="34" charset="-122"/>
                <a:cs typeface="Hiragino Sans" pitchFamily="34" charset="-120"/>
              </a:rPr>
              <a:t>ここで見る失敗は「AI が嘘をつく」のではなく、小さいモデルに向かない仕事を LLM に振ったときに起きる。</a:t>
            </a:r>
            <a:endParaRPr lang="en-US" sz="1600" dirty="0"/>
          </a:p>
          <a:p>
            <a:pPr indent="0" marL="0">
              <a:buNone/>
            </a:pPr>
            <a:r>
              <a:rPr lang="en-US" sz="1600" dirty="0">
                <a:solidFill>
                  <a:srgbClr val="8FE3F5"/>
                </a:solidFill>
                <a:latin typeface="Hiragino Sans" pitchFamily="34" charset="0"/>
                <a:ea typeface="Hiragino Sans" pitchFamily="34" charset="-122"/>
                <a:cs typeface="Hiragino Sans" pitchFamily="34" charset="-120"/>
              </a:rPr>
              <a:t>直せば直る、を対にして示す</a:t>
            </a:r>
            <a:endParaRPr lang="en-US" sz="1600" dirty="0"/>
          </a:p>
        </p:txBody>
      </p:sp>
      <p:sp>
        <p:nvSpPr>
          <p:cNvPr id="4" name="Text 2"/>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落とし穴 1 — LLM は Tool の出力を疑わない</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週間予報の関数をわざと壊して(最高気温に +10℃)、同じ質問をする</a:t>
            </a:r>
            <a:endParaRPr lang="en-US" sz="1400" dirty="0"/>
          </a:p>
        </p:txBody>
      </p:sp>
      <p:sp>
        <p:nvSpPr>
          <p:cNvPr id="4" name="Shape 2"/>
          <p:cNvSpPr/>
          <p:nvPr/>
        </p:nvSpPr>
        <p:spPr>
          <a:xfrm>
            <a:off x="548640" y="1554480"/>
            <a:ext cx="5394960" cy="4023360"/>
          </a:xfrm>
          <a:prstGeom prst="roundRect">
            <a:avLst>
              <a:gd name="adj" fmla="val 2727"/>
            </a:avLst>
          </a:prstGeom>
          <a:solidFill>
            <a:srgbClr val="F7F9FB"/>
          </a:solidFill>
          <a:ln w="12700">
            <a:solidFill>
              <a:srgbClr val="F7F9FB"/>
            </a:solidFill>
            <a:prstDash val="solid"/>
          </a:ln>
        </p:spPr>
      </p:sp>
      <p:sp>
        <p:nvSpPr>
          <p:cNvPr id="5" name="Text 3"/>
          <p:cNvSpPr txBox="1"/>
          <p:nvPr/>
        </p:nvSpPr>
        <p:spPr>
          <a:xfrm>
            <a:off x="822960" y="1691640"/>
            <a:ext cx="4937760" cy="365760"/>
          </a:xfrm>
          <a:prstGeom prst="rect">
            <a:avLst/>
          </a:prstGeom>
          <a:noFill/>
          <a:ln/>
        </p:spPr>
        <p:txBody>
          <a:bodyPr wrap="square" lIns="0" tIns="0" rIns="0" bIns="0" rtlCol="0" anchor="t"/>
          <a:lstStyle/>
          <a:p>
            <a:pPr indent="0" marL="0">
              <a:buNone/>
            </a:pPr>
            <a:r>
              <a:rPr lang="en-US" sz="1300" b="1" dirty="0">
                <a:solidFill>
                  <a:srgbClr val="D9534F"/>
                </a:solidFill>
                <a:latin typeface="Hiragino Sans" pitchFamily="34" charset="0"/>
                <a:ea typeface="Hiragino Sans" pitchFamily="34" charset="-122"/>
                <a:cs typeface="Hiragino Sans" pitchFamily="34" charset="-120"/>
              </a:rPr>
              <a:t>LLM の回答(抜粋)</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2960" y="2103120"/>
          <a:ext cx="4846320" cy="914400"/>
        </p:xfrm>
        <a:graphic>
          <a:graphicData uri="http://schemas.openxmlformats.org/drawingml/2006/table">
            <a:tbl>
              <a:tblPr/>
              <a:tblGrid>
                <a:gridCol w="1463040"/>
                <a:gridCol w="1645920"/>
                <a:gridCol w="1737360"/>
              </a:tblGrid>
              <a:tr h="310896">
                <a:tc>
                  <a:txBody>
                    <a:bodyPr/>
                    <a:lstStyle/>
                    <a:p>
                      <a:pPr indent="0" marL="0">
                        <a:buNone/>
                      </a:pPr>
                      <a:r>
                        <a:rPr lang="en-US" sz="1200" b="1" dirty="0">
                          <a:solidFill>
                            <a:srgbClr val="000000"/>
                          </a:solidFill>
                          <a:latin typeface="Hiragino Sans" pitchFamily="34" charset="0"/>
                          <a:ea typeface="Hiragino Sans" pitchFamily="34" charset="-122"/>
                          <a:cs typeface="Hiragino Sans" pitchFamily="34" charset="-120"/>
                        </a:rPr>
                        <a:t>日付</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Hiragino Sans" pitchFamily="34" charset="0"/>
                          <a:ea typeface="Hiragino Sans" pitchFamily="34" charset="-122"/>
                          <a:cs typeface="Hiragino Sans" pitchFamily="34" charset="-120"/>
                        </a:rPr>
                        <a:t>最高気温(℃)</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Hiragino Sans" pitchFamily="34" charset="0"/>
                          <a:ea typeface="Hiragino Sans" pitchFamily="34" charset="-122"/>
                          <a:cs typeface="Hiragino Sans" pitchFamily="34" charset="-120"/>
                        </a:rPr>
                        <a:t>最高気温の幅</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0F2A44"/>
                          </a:solidFill>
                          <a:latin typeface="Hiragino Sans" pitchFamily="34" charset="0"/>
                          <a:ea typeface="Hiragino Sans" pitchFamily="34" charset="-122"/>
                          <a:cs typeface="Hiragino Sans" pitchFamily="34" charset="-120"/>
                        </a:rPr>
                        <a:t>9/28(月)</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D9534F"/>
                          </a:solidFill>
                          <a:latin typeface="Hiragino Sans" pitchFamily="34" charset="0"/>
                          <a:ea typeface="Hiragino Sans" pitchFamily="34" charset="-122"/>
                          <a:cs typeface="Hiragino Sans" pitchFamily="34" charset="-120"/>
                        </a:rPr>
                        <a:t>37</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F2A44"/>
                          </a:solidFill>
                          <a:latin typeface="Hiragino Sans" pitchFamily="34" charset="0"/>
                          <a:ea typeface="Hiragino Sans" pitchFamily="34" charset="-122"/>
                          <a:cs typeface="Hiragino Sans" pitchFamily="34" charset="-120"/>
                        </a:rPr>
                        <a:t>22〜26</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10896">
                <a:tc>
                  <a:txBody>
                    <a:bodyPr/>
                    <a:lstStyle/>
                    <a:p>
                      <a:pPr indent="0" marL="0">
                        <a:buNone/>
                      </a:pPr>
                      <a:r>
                        <a:rPr lang="en-US" sz="1200" dirty="0">
                          <a:solidFill>
                            <a:srgbClr val="0F2A44"/>
                          </a:solidFill>
                          <a:latin typeface="Hiragino Sans" pitchFamily="34" charset="0"/>
                          <a:ea typeface="Hiragino Sans" pitchFamily="34" charset="-122"/>
                          <a:cs typeface="Hiragino Sans" pitchFamily="34" charset="-120"/>
                        </a:rPr>
                        <a:t>9/29(火)</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D9534F"/>
                          </a:solidFill>
                          <a:latin typeface="Hiragino Sans" pitchFamily="34" charset="0"/>
                          <a:ea typeface="Hiragino Sans" pitchFamily="34" charset="-122"/>
                          <a:cs typeface="Hiragino Sans" pitchFamily="34" charset="-120"/>
                        </a:rPr>
                        <a:t>34</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F2A44"/>
                          </a:solidFill>
                          <a:latin typeface="Hiragino Sans" pitchFamily="34" charset="0"/>
                          <a:ea typeface="Hiragino Sans" pitchFamily="34" charset="-122"/>
                          <a:cs typeface="Hiragino Sans" pitchFamily="34" charset="-120"/>
                        </a:rPr>
                        <a:t>22〜26</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10896">
                <a:tc>
                  <a:txBody>
                    <a:bodyPr/>
                    <a:lstStyle/>
                    <a:p>
                      <a:pPr indent="0" marL="0">
                        <a:buNone/>
                      </a:pPr>
                      <a:r>
                        <a:rPr lang="en-US" sz="1200" dirty="0">
                          <a:solidFill>
                            <a:srgbClr val="0F2A44"/>
                          </a:solidFill>
                          <a:latin typeface="Hiragino Sans" pitchFamily="34" charset="0"/>
                          <a:ea typeface="Hiragino Sans" pitchFamily="34" charset="-122"/>
                          <a:cs typeface="Hiragino Sans" pitchFamily="34" charset="-120"/>
                        </a:rPr>
                        <a:t>9/30(水)</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D9534F"/>
                          </a:solidFill>
                          <a:latin typeface="Hiragino Sans" pitchFamily="34" charset="0"/>
                          <a:ea typeface="Hiragino Sans" pitchFamily="34" charset="-122"/>
                          <a:cs typeface="Hiragino Sans" pitchFamily="34" charset="-120"/>
                        </a:rPr>
                        <a:t>35</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F2A44"/>
                          </a:solidFill>
                          <a:latin typeface="Hiragino Sans" pitchFamily="34" charset="0"/>
                          <a:ea typeface="Hiragino Sans" pitchFamily="34" charset="-122"/>
                          <a:cs typeface="Hiragino Sans" pitchFamily="34" charset="-120"/>
                        </a:rPr>
                        <a:t>22〜28</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10896">
                <a:tc>
                  <a:txBody>
                    <a:bodyPr/>
                    <a:lstStyle/>
                    <a:p>
                      <a:pPr indent="0" marL="0">
                        <a:buNone/>
                      </a:pPr>
                      <a:r>
                        <a:rPr lang="en-US" sz="1200" dirty="0">
                          <a:solidFill>
                            <a:srgbClr val="0F2A44"/>
                          </a:solidFill>
                          <a:latin typeface="Hiragino Sans" pitchFamily="34" charset="0"/>
                          <a:ea typeface="Hiragino Sans" pitchFamily="34" charset="-122"/>
                          <a:cs typeface="Hiragino Sans" pitchFamily="34" charset="-120"/>
                        </a:rPr>
                        <a:t>10/1(木)</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D9534F"/>
                          </a:solidFill>
                          <a:latin typeface="Hiragino Sans" pitchFamily="34" charset="0"/>
                          <a:ea typeface="Hiragino Sans" pitchFamily="34" charset="-122"/>
                          <a:cs typeface="Hiragino Sans" pitchFamily="34" charset="-120"/>
                        </a:rPr>
                        <a:t>37</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F2A44"/>
                          </a:solidFill>
                          <a:latin typeface="Hiragino Sans" pitchFamily="34" charset="0"/>
                          <a:ea typeface="Hiragino Sans" pitchFamily="34" charset="-122"/>
                          <a:cs typeface="Hiragino Sans" pitchFamily="34" charset="-120"/>
                        </a:rPr>
                        <a:t>24〜29</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10896">
                <a:tc>
                  <a:txBody>
                    <a:bodyPr/>
                    <a:lstStyle/>
                    <a:p>
                      <a:pPr indent="0" marL="0">
                        <a:buNone/>
                      </a:pPr>
                      <a:r>
                        <a:rPr lang="en-US" sz="1200" dirty="0">
                          <a:solidFill>
                            <a:srgbClr val="0F2A44"/>
                          </a:solidFill>
                          <a:latin typeface="Hiragino Sans" pitchFamily="34" charset="0"/>
                          <a:ea typeface="Hiragino Sans" pitchFamily="34" charset="-122"/>
                          <a:cs typeface="Hiragino Sans" pitchFamily="34" charset="-120"/>
                        </a:rPr>
                        <a:t>10/3(土)</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D9534F"/>
                          </a:solidFill>
                          <a:latin typeface="Hiragino Sans" pitchFamily="34" charset="0"/>
                          <a:ea typeface="Hiragino Sans" pitchFamily="34" charset="-122"/>
                          <a:cs typeface="Hiragino Sans" pitchFamily="34" charset="-120"/>
                        </a:rPr>
                        <a:t>36</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F2A44"/>
                          </a:solidFill>
                          <a:latin typeface="Hiragino Sans" pitchFamily="34" charset="0"/>
                          <a:ea typeface="Hiragino Sans" pitchFamily="34" charset="-122"/>
                          <a:cs typeface="Hiragino Sans" pitchFamily="34" charset="-120"/>
                        </a:rPr>
                        <a:t>24〜28</a:t>
                      </a:r>
                      <a:endParaRPr lang="en-US" sz="1200" dirty="0">
                        <a:latin typeface="Hiragino Sans" charset="0"/>
                        <a:ea typeface="Hiragino Sans" charset="0"/>
                        <a:cs typeface="Hiragino Sans" charset="0"/>
                      </a:endParaRPr>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Text 4"/>
          <p:cNvSpPr txBox="1"/>
          <p:nvPr/>
        </p:nvSpPr>
        <p:spPr>
          <a:xfrm>
            <a:off x="822960" y="4114800"/>
            <a:ext cx="4937760" cy="1280160"/>
          </a:xfrm>
          <a:prstGeom prst="rect">
            <a:avLst/>
          </a:prstGeom>
          <a:noFill/>
          <a:ln/>
        </p:spPr>
        <p:txBody>
          <a:bodyPr wrap="square" lIns="0" tIns="0" rIns="0" bIns="0" rtlCol="0" anchor="t"/>
          <a:lstStyle/>
          <a:p>
            <a:pPr indent="0" marL="0">
              <a:buNone/>
            </a:pPr>
            <a:r>
              <a:rPr lang="en-US" sz="1250" i="1" dirty="0">
                <a:solidFill>
                  <a:srgbClr val="0F2A44"/>
                </a:solidFill>
                <a:latin typeface="Hiragino Sans" pitchFamily="34" charset="0"/>
                <a:ea typeface="Hiragino Sans" pitchFamily="34" charset="-122"/>
                <a:cs typeface="Hiragino Sans" pitchFamily="34" charset="-120"/>
              </a:rPr>
              <a:t>「この時期の平年値の最高気温は 26.0℃ です。今週の気温は平年を上回る高温傾向が見られます。」</a:t>
            </a:r>
            <a:endParaRPr lang="en-US" sz="1250" dirty="0"/>
          </a:p>
        </p:txBody>
      </p:sp>
      <p:sp>
        <p:nvSpPr>
          <p:cNvPr id="8" name="Shape 5"/>
          <p:cNvSpPr/>
          <p:nvPr/>
        </p:nvSpPr>
        <p:spPr>
          <a:xfrm>
            <a:off x="6217920" y="1554480"/>
            <a:ext cx="5394960" cy="1920240"/>
          </a:xfrm>
          <a:prstGeom prst="roundRect">
            <a:avLst>
              <a:gd name="adj" fmla="val 5714"/>
            </a:avLst>
          </a:prstGeom>
          <a:solidFill>
            <a:srgbClr val="F7F9FB"/>
          </a:solidFill>
          <a:ln w="12700">
            <a:solidFill>
              <a:srgbClr val="F7F9FB"/>
            </a:solidFill>
            <a:prstDash val="solid"/>
          </a:ln>
        </p:spPr>
      </p:sp>
      <p:sp>
        <p:nvSpPr>
          <p:cNvPr id="9" name="Text 6"/>
          <p:cNvSpPr txBox="1"/>
          <p:nvPr/>
        </p:nvSpPr>
        <p:spPr>
          <a:xfrm>
            <a:off x="6446520" y="1737360"/>
            <a:ext cx="4937760" cy="411480"/>
          </a:xfrm>
          <a:prstGeom prst="rect">
            <a:avLst/>
          </a:prstGeom>
          <a:noFill/>
          <a:ln/>
        </p:spPr>
        <p:txBody>
          <a:bodyPr wrap="square" lIns="0" tIns="0" rIns="0" bIns="0" rtlCol="0" anchor="t"/>
          <a:lstStyle/>
          <a:p>
            <a:pPr indent="0" marL="0">
              <a:buNone/>
            </a:pPr>
            <a:r>
              <a:rPr lang="en-US" sz="1500" b="1" dirty="0">
                <a:solidFill>
                  <a:srgbClr val="D9534F"/>
                </a:solidFill>
                <a:latin typeface="Hiragino Sans" pitchFamily="34" charset="0"/>
                <a:ea typeface="Hiragino Sans" pitchFamily="34" charset="-122"/>
                <a:cs typeface="Hiragino Sans" pitchFamily="34" charset="-120"/>
              </a:rPr>
              <a:t>何が起きたか</a:t>
            </a:r>
            <a:endParaRPr lang="en-US" sz="1500" dirty="0"/>
          </a:p>
        </p:txBody>
      </p:sp>
      <p:sp>
        <p:nvSpPr>
          <p:cNvPr id="10" name="Text 7"/>
          <p:cNvSpPr txBox="1"/>
          <p:nvPr/>
        </p:nvSpPr>
        <p:spPr>
          <a:xfrm>
            <a:off x="6446520" y="2148840"/>
            <a:ext cx="4937760" cy="11430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10 月の京都で 37℃、しかも「幅 22〜26」と矛盾した値が並んでいるのに、LLM は疑わず、平年値と比べて「高温傾向」と解説までした</a:t>
            </a:r>
            <a:endParaRPr lang="en-US" sz="1250" dirty="0"/>
          </a:p>
        </p:txBody>
      </p:sp>
      <p:sp>
        <p:nvSpPr>
          <p:cNvPr id="11" name="Shape 8"/>
          <p:cNvSpPr/>
          <p:nvPr/>
        </p:nvSpPr>
        <p:spPr>
          <a:xfrm>
            <a:off x="6217920" y="3657600"/>
            <a:ext cx="5394960" cy="1920240"/>
          </a:xfrm>
          <a:prstGeom prst="roundRect">
            <a:avLst>
              <a:gd name="adj" fmla="val 5714"/>
            </a:avLst>
          </a:prstGeom>
          <a:solidFill>
            <a:srgbClr val="F7F9FB"/>
          </a:solidFill>
          <a:ln w="12700">
            <a:solidFill>
              <a:srgbClr val="F7F9FB"/>
            </a:solidFill>
            <a:prstDash val="solid"/>
          </a:ln>
        </p:spPr>
      </p:sp>
      <p:sp>
        <p:nvSpPr>
          <p:cNvPr id="12" name="Text 9"/>
          <p:cNvSpPr txBox="1"/>
          <p:nvPr/>
        </p:nvSpPr>
        <p:spPr>
          <a:xfrm>
            <a:off x="6446520" y="3840480"/>
            <a:ext cx="493776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だから</a:t>
            </a:r>
            <a:endParaRPr lang="en-US" sz="1500" dirty="0"/>
          </a:p>
        </p:txBody>
      </p:sp>
      <p:sp>
        <p:nvSpPr>
          <p:cNvPr id="13" name="Text 10"/>
          <p:cNvSpPr txBox="1"/>
          <p:nvPr/>
        </p:nvSpPr>
        <p:spPr>
          <a:xfrm>
            <a:off x="6446520" y="4251960"/>
            <a:ext cx="4937760" cy="11430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この仕組みで検証すべきは LLM の文章力ではなく、Tool と、その元データ。逆に言えば、Tool を気象庁の公式データに固定しているからこそ、この窓口は信頼できる</a:t>
            </a:r>
            <a:endParaRPr lang="en-US" sz="1250" dirty="0"/>
          </a:p>
        </p:txBody>
      </p:sp>
      <p:sp>
        <p:nvSpPr>
          <p:cNvPr id="14" name="Text 11"/>
          <p:cNvSpPr txBox="1"/>
          <p:nvPr/>
        </p:nvSpPr>
        <p:spPr>
          <a:xfrm>
            <a:off x="548640" y="5943600"/>
            <a:ext cx="11064240" cy="457200"/>
          </a:xfrm>
          <a:prstGeom prst="rect">
            <a:avLst/>
          </a:prstGeom>
          <a:noFill/>
          <a:ln/>
        </p:spPr>
        <p:txBody>
          <a:bodyPr wrap="square" lIns="0" tIns="0" rIns="0" bIns="0" rtlCol="0" anchor="t"/>
          <a:lstStyle/>
          <a:p>
            <a:pPr indent="0" marL="0">
              <a:buNone/>
            </a:pPr>
            <a:r>
              <a:rPr lang="en-US" sz="1250" dirty="0">
                <a:solidFill>
                  <a:srgbClr val="5A6470"/>
                </a:solidFill>
                <a:latin typeface="Hiragino Sans" pitchFamily="34" charset="0"/>
                <a:ea typeface="Hiragino Sans" pitchFamily="34" charset="-122"/>
                <a:cs typeface="Hiragino Sans" pitchFamily="34" charset="-120"/>
              </a:rPr>
              <a:t>作成中に実際にあった同じ構図: 警報コードの対応表を AI の記憶で書いていたら、5 月の改正前の意味で名称を返していた</a:t>
            </a:r>
            <a:endParaRPr lang="en-US" sz="1250" dirty="0"/>
          </a:p>
        </p:txBody>
      </p:sp>
      <p:sp>
        <p:nvSpPr>
          <p:cNvPr id="15" name="Text 12"/>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22</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落とし穴 2 — LLM の暗算は信用できない</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同じ質問、同じデータ。プロンプトに 1 行足しただけで、答えが変わる</a:t>
            </a:r>
            <a:endParaRPr lang="en-US" sz="1400" dirty="0"/>
          </a:p>
        </p:txBody>
      </p:sp>
      <p:sp>
        <p:nvSpPr>
          <p:cNvPr id="4" name="Shape 2"/>
          <p:cNvSpPr/>
          <p:nvPr/>
        </p:nvSpPr>
        <p:spPr>
          <a:xfrm>
            <a:off x="512064" y="1516963"/>
            <a:ext cx="5468112" cy="3641194"/>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5" name="Image 0" descr="/home/claude/slides/img/s5_mental_math.png">    </p:cNvPr>
          <p:cNvPicPr>
            <a:picLocks noChangeAspect="1"/>
          </p:cNvPicPr>
          <p:nvPr/>
        </p:nvPicPr>
        <p:blipFill>
          <a:blip r:embed="rId1"/>
          <a:stretch>
            <a:fillRect/>
          </a:stretch>
        </p:blipFill>
        <p:spPr>
          <a:xfrm>
            <a:off x="548640" y="1553539"/>
            <a:ext cx="5394960" cy="3568042"/>
          </a:xfrm>
          <a:prstGeom prst="rect">
            <a:avLst/>
          </a:prstGeom>
        </p:spPr>
      </p:pic>
      <p:sp>
        <p:nvSpPr>
          <p:cNvPr id="6" name="Shape 3"/>
          <p:cNvSpPr/>
          <p:nvPr/>
        </p:nvSpPr>
        <p:spPr>
          <a:xfrm>
            <a:off x="6784585" y="1472184"/>
            <a:ext cx="4261631" cy="3730752"/>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7" name="Image 1" descr="/home/claude/slides/img/s5_two_stage.png">    </p:cNvPr>
          <p:cNvPicPr>
            <a:picLocks noChangeAspect="1"/>
          </p:cNvPicPr>
          <p:nvPr/>
        </p:nvPicPr>
        <p:blipFill>
          <a:blip r:embed="rId2"/>
          <a:stretch>
            <a:fillRect/>
          </a:stretch>
        </p:blipFill>
        <p:spPr>
          <a:xfrm>
            <a:off x="6821161" y="1508760"/>
            <a:ext cx="4188479" cy="3657600"/>
          </a:xfrm>
          <a:prstGeom prst="rect">
            <a:avLst/>
          </a:prstGeom>
        </p:spPr>
      </p:pic>
      <p:sp>
        <p:nvSpPr>
          <p:cNvPr id="8" name="Text 4"/>
          <p:cNvSpPr txBox="1"/>
          <p:nvPr/>
        </p:nvSpPr>
        <p:spPr>
          <a:xfrm>
            <a:off x="548640" y="5257800"/>
            <a:ext cx="5394960" cy="365760"/>
          </a:xfrm>
          <a:prstGeom prst="rect">
            <a:avLst/>
          </a:prstGeom>
          <a:noFill/>
          <a:ln/>
        </p:spPr>
        <p:txBody>
          <a:bodyPr wrap="square" lIns="0" tIns="0" rIns="0" bIns="0" rtlCol="0" anchor="t"/>
          <a:lstStyle/>
          <a:p>
            <a:pPr indent="0" marL="0">
              <a:buNone/>
            </a:pPr>
            <a:r>
              <a:rPr lang="en-US" sz="1300" b="1" dirty="0">
                <a:solidFill>
                  <a:srgbClr val="D9534F"/>
                </a:solidFill>
                <a:latin typeface="Hiragino Sans" pitchFamily="34" charset="0"/>
                <a:ea typeface="Hiragino Sans" pitchFamily="34" charset="-122"/>
                <a:cs typeface="Hiragino Sans" pitchFamily="34" charset="-120"/>
              </a:rPr>
              <a:t>修正前: 統計 Tool を呼ばず自分で計算 → 25.57℃(誤り)</a:t>
            </a:r>
            <a:endParaRPr lang="en-US" sz="1300" dirty="0"/>
          </a:p>
        </p:txBody>
      </p:sp>
      <p:sp>
        <p:nvSpPr>
          <p:cNvPr id="9" name="Text 5"/>
          <p:cNvSpPr txBox="1"/>
          <p:nvPr/>
        </p:nvSpPr>
        <p:spPr>
          <a:xfrm>
            <a:off x="6217920" y="5257800"/>
            <a:ext cx="5394960" cy="365760"/>
          </a:xfrm>
          <a:prstGeom prst="rect">
            <a:avLst/>
          </a:prstGeom>
          <a:noFill/>
          <a:ln/>
        </p:spPr>
        <p:txBody>
          <a:bodyPr wrap="square" lIns="0" tIns="0" rIns="0" bIns="0" rtlCol="0" anchor="t"/>
          <a:lstStyle/>
          <a:p>
            <a:pPr indent="0" marL="0">
              <a:buNone/>
            </a:pPr>
            <a:r>
              <a:rPr lang="en-US" sz="1300" b="1" dirty="0">
                <a:solidFill>
                  <a:srgbClr val="1F7A6D"/>
                </a:solidFill>
                <a:latin typeface="Hiragino Sans" pitchFamily="34" charset="0"/>
                <a:ea typeface="Hiragino Sans" pitchFamily="34" charset="-122"/>
                <a:cs typeface="Hiragino Sans" pitchFamily="34" charset="-120"/>
              </a:rPr>
              <a:t>修正後: 「計算は必ず calc_stats を使う(暗算禁止)」→ 25.7℃(正)</a:t>
            </a:r>
            <a:endParaRPr lang="en-US" sz="1300" dirty="0"/>
          </a:p>
        </p:txBody>
      </p:sp>
      <p:sp>
        <p:nvSpPr>
          <p:cNvPr id="10" name="Text 6"/>
          <p:cNvSpPr txBox="1"/>
          <p:nvPr/>
        </p:nvSpPr>
        <p:spPr>
          <a:xfrm>
            <a:off x="548640" y="5760720"/>
            <a:ext cx="11064240" cy="731520"/>
          </a:xfrm>
          <a:prstGeom prst="rect">
            <a:avLst/>
          </a:prstGeom>
          <a:noFill/>
          <a:ln/>
        </p:spPr>
        <p:txBody>
          <a:bodyPr wrap="square" lIns="0" tIns="0" rIns="0" bIns="0" rtlCol="0" anchor="t"/>
          <a:lstStyle/>
          <a:p>
            <a:pPr indent="0" marL="0">
              <a:buNone/>
            </a:pPr>
            <a:r>
              <a:rPr lang="en-US" sz="1300" dirty="0">
                <a:solidFill>
                  <a:srgbClr val="0F2A44"/>
                </a:solidFill>
                <a:latin typeface="Hiragino Sans" pitchFamily="34" charset="0"/>
                <a:ea typeface="Hiragino Sans" pitchFamily="34" charset="-122"/>
                <a:cs typeface="Hiragino Sans" pitchFamily="34" charset="-120"/>
              </a:rPr>
              <a:t>[27, 24, 25, 27, 26, 26, 25] の合計は 180、平均は 25.71。データの読み取りも表も正しく、「中の計算だけ」が間違う — 人が見ても気づきにくい失敗。LLM に任せるのは判断と文章、計算はプログラムに</a:t>
            </a:r>
            <a:endParaRPr lang="en-US" sz="1300" dirty="0"/>
          </a:p>
        </p:txBody>
      </p:sp>
      <p:sp>
        <p:nvSpPr>
          <p:cNvPr id="11" name="Text 7"/>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23</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落とし穴 3 — 説明文に書いていない情報は LLM に見えない</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「今の京都の気温は、この時期の平年の最高気温と比べてどう?」</a:t>
            </a:r>
            <a:endParaRPr lang="en-US" sz="1400" dirty="0"/>
          </a:p>
        </p:txBody>
      </p:sp>
      <p:sp>
        <p:nvSpPr>
          <p:cNvPr id="4" name="Shape 2"/>
          <p:cNvSpPr/>
          <p:nvPr/>
        </p:nvSpPr>
        <p:spPr>
          <a:xfrm>
            <a:off x="512064" y="1479599"/>
            <a:ext cx="11137392" cy="2435761"/>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5" name="Image 0" descr="/home/claude/slides/img/normals_fail.png">    </p:cNvPr>
          <p:cNvPicPr>
            <a:picLocks noChangeAspect="1"/>
          </p:cNvPicPr>
          <p:nvPr/>
        </p:nvPicPr>
        <p:blipFill>
          <a:blip r:embed="rId1"/>
          <a:stretch>
            <a:fillRect/>
          </a:stretch>
        </p:blipFill>
        <p:spPr>
          <a:xfrm>
            <a:off x="548640" y="1516175"/>
            <a:ext cx="11064240" cy="2362609"/>
          </a:xfrm>
          <a:prstGeom prst="rect">
            <a:avLst/>
          </a:prstGeom>
        </p:spPr>
      </p:pic>
      <p:sp>
        <p:nvSpPr>
          <p:cNvPr id="6" name="Shape 3"/>
          <p:cNvSpPr/>
          <p:nvPr/>
        </p:nvSpPr>
        <p:spPr>
          <a:xfrm>
            <a:off x="548640" y="4069080"/>
            <a:ext cx="5394960" cy="2377440"/>
          </a:xfrm>
          <a:prstGeom prst="roundRect">
            <a:avLst>
              <a:gd name="adj" fmla="val 4615"/>
            </a:avLst>
          </a:prstGeom>
          <a:solidFill>
            <a:srgbClr val="F7F9FB"/>
          </a:solidFill>
          <a:ln w="12700">
            <a:solidFill>
              <a:srgbClr val="F7F9FB"/>
            </a:solidFill>
            <a:prstDash val="solid"/>
          </a:ln>
        </p:spPr>
      </p:sp>
      <p:sp>
        <p:nvSpPr>
          <p:cNvPr id="7" name="Text 4"/>
          <p:cNvSpPr txBox="1"/>
          <p:nvPr/>
        </p:nvSpPr>
        <p:spPr>
          <a:xfrm>
            <a:off x="777240" y="4251960"/>
            <a:ext cx="4937760" cy="411480"/>
          </a:xfrm>
          <a:prstGeom prst="rect">
            <a:avLst/>
          </a:prstGeom>
          <a:noFill/>
          <a:ln/>
        </p:spPr>
        <p:txBody>
          <a:bodyPr wrap="square" lIns="0" tIns="0" rIns="0" bIns="0" rtlCol="0" anchor="t"/>
          <a:lstStyle/>
          <a:p>
            <a:pPr indent="0" marL="0">
              <a:buNone/>
            </a:pPr>
            <a:r>
              <a:rPr lang="en-US" sz="1500" b="1" dirty="0">
                <a:solidFill>
                  <a:srgbClr val="D9534F"/>
                </a:solidFill>
                <a:latin typeface="Hiragino Sans" pitchFamily="34" charset="0"/>
                <a:ea typeface="Hiragino Sans" pitchFamily="34" charset="-122"/>
                <a:cs typeface="Hiragino Sans" pitchFamily="34" charset="-120"/>
              </a:rPr>
              <a:t>修正前</a:t>
            </a:r>
            <a:endParaRPr lang="en-US" sz="1500" dirty="0"/>
          </a:p>
        </p:txBody>
      </p:sp>
      <p:sp>
        <p:nvSpPr>
          <p:cNvPr id="8" name="Text 5"/>
          <p:cNvSpPr txBox="1"/>
          <p:nvPr/>
        </p:nvSpPr>
        <p:spPr>
          <a:xfrm>
            <a:off x="777240" y="4663440"/>
            <a:ext cx="4937760" cy="16002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アメダスだけを取って「具体的な平年データが必要ですが、現在の気温は比較的高い方です」— 平年値は週間予報の返り値に入っているのに、docstring に書いていなかったので LLM はその存在を知らなかった。しかも根拠のない「比較的高い」まで付いた</a:t>
            </a:r>
            <a:endParaRPr lang="en-US" sz="1250" dirty="0"/>
          </a:p>
        </p:txBody>
      </p:sp>
      <p:sp>
        <p:nvSpPr>
          <p:cNvPr id="9" name="Shape 6"/>
          <p:cNvSpPr/>
          <p:nvPr/>
        </p:nvSpPr>
        <p:spPr>
          <a:xfrm>
            <a:off x="6217920" y="4069080"/>
            <a:ext cx="5394960" cy="2377440"/>
          </a:xfrm>
          <a:prstGeom prst="roundRect">
            <a:avLst>
              <a:gd name="adj" fmla="val 4615"/>
            </a:avLst>
          </a:prstGeom>
          <a:solidFill>
            <a:srgbClr val="F7F9FB"/>
          </a:solidFill>
          <a:ln w="12700">
            <a:solidFill>
              <a:srgbClr val="F7F9FB"/>
            </a:solidFill>
            <a:prstDash val="solid"/>
          </a:ln>
        </p:spPr>
      </p:sp>
      <p:sp>
        <p:nvSpPr>
          <p:cNvPr id="10" name="Text 7"/>
          <p:cNvSpPr txBox="1"/>
          <p:nvPr/>
        </p:nvSpPr>
        <p:spPr>
          <a:xfrm>
            <a:off x="6446520" y="4251960"/>
            <a:ext cx="493776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修正後</a:t>
            </a:r>
            <a:endParaRPr lang="en-US" sz="1500" dirty="0"/>
          </a:p>
        </p:txBody>
      </p:sp>
      <p:sp>
        <p:nvSpPr>
          <p:cNvPr id="11" name="Text 8"/>
          <p:cNvSpPr txBox="1"/>
          <p:nvPr/>
        </p:nvSpPr>
        <p:spPr>
          <a:xfrm>
            <a:off x="6446520" y="4663440"/>
            <a:ext cx="4937760" cy="160020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docstring に「この時期の平年値も返す」と 1 行足す → アメダス → 週間予報の 2 段で呼び、「平年の最高 26.0℃ に対し 23.4℃ でやや低い」と正答</a:t>
            </a:r>
            <a:endParaRPr lang="en-US" sz="1250" dirty="0"/>
          </a:p>
          <a:p>
            <a:pPr indent="0" marL="0">
              <a:buNone/>
            </a:pP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Tool を書く = 返り値を説明文に漏れなく書く。それが LLM の「できること」の範囲になる</a:t>
            </a:r>
            <a:endParaRPr lang="en-US" sz="1250" dirty="0"/>
          </a:p>
        </p:txBody>
      </p:sp>
      <p:sp>
        <p:nvSpPr>
          <p:cNvPr id="12" name="Text 9"/>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24</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落とし穴 4 — 大きな表を LLM に読ませない</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「今、石狩・空知・後志地方で雪が観測されている地点は?」(9 月末)</a:t>
            </a:r>
            <a:endParaRPr lang="en-US" sz="1400" dirty="0"/>
          </a:p>
        </p:txBody>
      </p:sp>
      <p:sp>
        <p:nvSpPr>
          <p:cNvPr id="4" name="Shape 2"/>
          <p:cNvSpPr/>
          <p:nvPr/>
        </p:nvSpPr>
        <p:spPr>
          <a:xfrm>
            <a:off x="512064" y="1531921"/>
            <a:ext cx="6839712" cy="2879759"/>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5" name="Image 0" descr="/home/claude/slides/img/snow_false.png">    </p:cNvPr>
          <p:cNvPicPr>
            <a:picLocks noChangeAspect="1"/>
          </p:cNvPicPr>
          <p:nvPr/>
        </p:nvPicPr>
        <p:blipFill>
          <a:blip r:embed="rId1"/>
          <a:stretch>
            <a:fillRect/>
          </a:stretch>
        </p:blipFill>
        <p:spPr>
          <a:xfrm>
            <a:off x="548640" y="1568497"/>
            <a:ext cx="6766560" cy="2806607"/>
          </a:xfrm>
          <a:prstGeom prst="rect">
            <a:avLst/>
          </a:prstGeom>
        </p:spPr>
      </p:pic>
      <p:sp>
        <p:nvSpPr>
          <p:cNvPr id="6" name="Shape 3"/>
          <p:cNvSpPr/>
          <p:nvPr/>
        </p:nvSpPr>
        <p:spPr>
          <a:xfrm>
            <a:off x="7589520" y="1508760"/>
            <a:ext cx="4023360" cy="2926080"/>
          </a:xfrm>
          <a:prstGeom prst="roundRect">
            <a:avLst>
              <a:gd name="adj" fmla="val 3750"/>
            </a:avLst>
          </a:prstGeom>
          <a:solidFill>
            <a:srgbClr val="F7F9FB"/>
          </a:solidFill>
          <a:ln w="12700">
            <a:solidFill>
              <a:srgbClr val="F7F9FB"/>
            </a:solidFill>
            <a:prstDash val="solid"/>
          </a:ln>
        </p:spPr>
      </p:sp>
      <p:sp>
        <p:nvSpPr>
          <p:cNvPr id="7" name="Text 4"/>
          <p:cNvSpPr txBox="1"/>
          <p:nvPr/>
        </p:nvSpPr>
        <p:spPr>
          <a:xfrm>
            <a:off x="7818120" y="1691640"/>
            <a:ext cx="3566160" cy="411480"/>
          </a:xfrm>
          <a:prstGeom prst="rect">
            <a:avLst/>
          </a:prstGeom>
          <a:noFill/>
          <a:ln/>
        </p:spPr>
        <p:txBody>
          <a:bodyPr wrap="square" lIns="0" tIns="0" rIns="0" bIns="0" rtlCol="0" anchor="t"/>
          <a:lstStyle/>
          <a:p>
            <a:pPr indent="0" marL="0">
              <a:buNone/>
            </a:pPr>
            <a:r>
              <a:rPr lang="en-US" sz="1500" b="1" dirty="0">
                <a:solidFill>
                  <a:srgbClr val="D9534F"/>
                </a:solidFill>
                <a:latin typeface="Hiragino Sans" pitchFamily="34" charset="0"/>
                <a:ea typeface="Hiragino Sans" pitchFamily="34" charset="-122"/>
                <a:cs typeface="Hiragino Sans" pitchFamily="34" charset="-120"/>
              </a:rPr>
              <a:t>偽陽性</a:t>
            </a:r>
            <a:endParaRPr lang="en-US" sz="1500" dirty="0"/>
          </a:p>
        </p:txBody>
      </p:sp>
      <p:sp>
        <p:nvSpPr>
          <p:cNvPr id="8" name="Text 5"/>
          <p:cNvSpPr txBox="1"/>
          <p:nvPr/>
        </p:nvSpPr>
        <p:spPr>
          <a:xfrm>
            <a:off x="7818120" y="2103120"/>
            <a:ext cx="3566160" cy="214884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30 地点 × 8 項目の表を思考の中で走査するうちに、幌加内の「降水量 1.5mm」を「積雪深 1.5cm」の列と取り違えた。9 月末・15℃ で積雪あり、という気象的にあり得ない答え。実際は全国どこにも積雪はない</a:t>
            </a:r>
            <a:endParaRPr lang="en-US" sz="1250" dirty="0"/>
          </a:p>
        </p:txBody>
      </p:sp>
      <p:sp>
        <p:nvSpPr>
          <p:cNvPr id="9" name="Shape 6"/>
          <p:cNvSpPr/>
          <p:nvPr/>
        </p:nvSpPr>
        <p:spPr>
          <a:xfrm>
            <a:off x="548640" y="4617720"/>
            <a:ext cx="5394960" cy="1828800"/>
          </a:xfrm>
          <a:prstGeom prst="roundRect">
            <a:avLst>
              <a:gd name="adj" fmla="val 6000"/>
            </a:avLst>
          </a:prstGeom>
          <a:solidFill>
            <a:srgbClr val="F7F9FB"/>
          </a:solidFill>
          <a:ln w="12700">
            <a:solidFill>
              <a:srgbClr val="F7F9FB"/>
            </a:solidFill>
            <a:prstDash val="solid"/>
          </a:ln>
        </p:spPr>
      </p:sp>
      <p:sp>
        <p:nvSpPr>
          <p:cNvPr id="10" name="Text 7"/>
          <p:cNvSpPr txBox="1"/>
          <p:nvPr/>
        </p:nvSpPr>
        <p:spPr>
          <a:xfrm>
            <a:off x="777240" y="4800600"/>
            <a:ext cx="4937760" cy="41148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直し方: 走査は Python に</a:t>
            </a:r>
            <a:endParaRPr lang="en-US" sz="1500" dirty="0"/>
          </a:p>
        </p:txBody>
      </p:sp>
      <p:sp>
        <p:nvSpPr>
          <p:cNvPr id="11" name="Text 8"/>
          <p:cNvSpPr txBox="1"/>
          <p:nvPr/>
        </p:nvSpPr>
        <p:spPr>
          <a:xfrm>
            <a:off x="777240" y="5212080"/>
            <a:ext cx="4937760" cy="105156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Tool の返り値に、Python が計算した「要約」を付けた: 最高/最低気温の地点、降水中の地点、積雪のある地点(なし)、最大風速の地点。LLM は要約を転記するだけ</a:t>
            </a:r>
            <a:endParaRPr lang="en-US" sz="1250" dirty="0"/>
          </a:p>
        </p:txBody>
      </p:sp>
      <p:sp>
        <p:nvSpPr>
          <p:cNvPr id="12" name="Shape 9"/>
          <p:cNvSpPr/>
          <p:nvPr/>
        </p:nvSpPr>
        <p:spPr>
          <a:xfrm>
            <a:off x="6217920" y="4617720"/>
            <a:ext cx="5394960" cy="1828800"/>
          </a:xfrm>
          <a:prstGeom prst="roundRect">
            <a:avLst>
              <a:gd name="adj" fmla="val 6000"/>
            </a:avLst>
          </a:prstGeom>
          <a:solidFill>
            <a:srgbClr val="F7F9FB"/>
          </a:solidFill>
          <a:ln w="12700">
            <a:solidFill>
              <a:srgbClr val="F7F9FB"/>
            </a:solidFill>
            <a:prstDash val="solid"/>
          </a:ln>
        </p:spPr>
      </p:sp>
      <p:sp>
        <p:nvSpPr>
          <p:cNvPr id="13" name="Text 10"/>
          <p:cNvSpPr txBox="1"/>
          <p:nvPr/>
        </p:nvSpPr>
        <p:spPr>
          <a:xfrm>
            <a:off x="6446520" y="4800600"/>
            <a:ext cx="4937760" cy="41148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これは 8B の能力の限界</a:t>
            </a:r>
            <a:endParaRPr lang="en-US" sz="1500" dirty="0"/>
          </a:p>
        </p:txBody>
      </p:sp>
      <p:sp>
        <p:nvSpPr>
          <p:cNvPr id="14" name="Text 11"/>
          <p:cNvSpPr txBox="1"/>
          <p:nvPr/>
        </p:nvSpPr>
        <p:spPr>
          <a:xfrm>
            <a:off x="6446520" y="5212080"/>
            <a:ext cx="4937760" cy="105156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人が見れば読み違えない表を、8B は思考の中で読み落とす。より大きなモデルなら改善する可能性はあるが未検証。無料で Colab に載る条件を選んだ時点で 8B の読解力は所与なので、設計で「苦手な仕事を渡さない」のが対策</a:t>
            </a:r>
            <a:endParaRPr lang="en-US" sz="1250" dirty="0"/>
          </a:p>
        </p:txBody>
      </p:sp>
      <p:sp>
        <p:nvSpPr>
          <p:cNvPr id="15" name="Text 12"/>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25</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落とし穴 5 — 曖昧な基準は、本文と結論が食い違う</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「今週の京都で、傘がいらない日はどれ? 降水確率を根拠に」</a:t>
            </a:r>
            <a:endParaRPr lang="en-US" sz="1400" dirty="0"/>
          </a:p>
        </p:txBody>
      </p:sp>
      <p:sp>
        <p:nvSpPr>
          <p:cNvPr id="4" name="Shape 2"/>
          <p:cNvSpPr/>
          <p:nvPr/>
        </p:nvSpPr>
        <p:spPr>
          <a:xfrm>
            <a:off x="512064" y="1590864"/>
            <a:ext cx="5468112" cy="2121791"/>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5" name="Image 0" descr="/home/claude/slides/img/umbrella_off.png">    </p:cNvPr>
          <p:cNvPicPr>
            <a:picLocks noChangeAspect="1"/>
          </p:cNvPicPr>
          <p:nvPr/>
        </p:nvPicPr>
        <p:blipFill>
          <a:blip r:embed="rId1"/>
          <a:stretch>
            <a:fillRect/>
          </a:stretch>
        </p:blipFill>
        <p:spPr>
          <a:xfrm>
            <a:off x="548640" y="1627440"/>
            <a:ext cx="5394960" cy="2048639"/>
          </a:xfrm>
          <a:prstGeom prst="rect">
            <a:avLst/>
          </a:prstGeom>
        </p:spPr>
      </p:pic>
      <p:sp>
        <p:nvSpPr>
          <p:cNvPr id="6" name="Shape 3"/>
          <p:cNvSpPr/>
          <p:nvPr/>
        </p:nvSpPr>
        <p:spPr>
          <a:xfrm>
            <a:off x="6181344" y="1606766"/>
            <a:ext cx="5468112" cy="2089989"/>
          </a:xfrm>
          <a:prstGeom prst="rect">
            <a:avLst/>
          </a:prstGeom>
          <a:solidFill>
            <a:srgbClr val="FFFFFF"/>
          </a:solidFill>
          <a:ln w="9525">
            <a:solidFill>
              <a:srgbClr val="D9D9D9"/>
            </a:solidFill>
            <a:prstDash val="solid"/>
          </a:ln>
          <a:effectLst>
            <a:outerShdw sx="100000" sy="100000" kx="0" ky="0" algn="bl" rotWithShape="0" blurRad="76200" dist="25400" dir="5400000">
              <a:srgbClr val="000000">
                <a:alpha val="18000"/>
              </a:srgbClr>
            </a:outerShdw>
          </a:effectLst>
        </p:spPr>
      </p:sp>
      <p:pic>
        <p:nvPicPr>
          <p:cNvPr id="7" name="Image 1" descr="/home/claude/slides/img/umbrella_on.png">    </p:cNvPr>
          <p:cNvPicPr>
            <a:picLocks noChangeAspect="1"/>
          </p:cNvPicPr>
          <p:nvPr/>
        </p:nvPicPr>
        <p:blipFill>
          <a:blip r:embed="rId2"/>
          <a:stretch>
            <a:fillRect/>
          </a:stretch>
        </p:blipFill>
        <p:spPr>
          <a:xfrm>
            <a:off x="6217920" y="1643342"/>
            <a:ext cx="5394960" cy="2016837"/>
          </a:xfrm>
          <a:prstGeom prst="rect">
            <a:avLst/>
          </a:prstGeom>
        </p:spPr>
      </p:pic>
      <p:sp>
        <p:nvSpPr>
          <p:cNvPr id="8" name="Text 4"/>
          <p:cNvSpPr txBox="1"/>
          <p:nvPr/>
        </p:nvSpPr>
        <p:spPr>
          <a:xfrm>
            <a:off x="548640" y="3931920"/>
            <a:ext cx="5394960" cy="640080"/>
          </a:xfrm>
          <a:prstGeom prst="rect">
            <a:avLst/>
          </a:prstGeom>
          <a:noFill/>
          <a:ln/>
        </p:spPr>
        <p:txBody>
          <a:bodyPr wrap="square" lIns="0" tIns="0" rIns="0" bIns="0" rtlCol="0" anchor="t"/>
          <a:lstStyle/>
          <a:p>
            <a:pPr indent="0" marL="0">
              <a:buNone/>
            </a:pPr>
            <a:r>
              <a:rPr lang="en-US" sz="1250" b="1" dirty="0">
                <a:solidFill>
                  <a:srgbClr val="D9534F"/>
                </a:solidFill>
                <a:latin typeface="Hiragino Sans" pitchFamily="34" charset="0"/>
                <a:ea typeface="Hiragino Sans" pitchFamily="34" charset="-122"/>
                <a:cs typeface="Hiragino Sans" pitchFamily="34" charset="-120"/>
              </a:rPr>
              <a:t>思考 OFF(6 秒): 箇条書きでは 30% を「いらない」としながら、結論は 10/3・10/4 だけ</a:t>
            </a:r>
            <a:endParaRPr lang="en-US" sz="1250" dirty="0"/>
          </a:p>
        </p:txBody>
      </p:sp>
      <p:sp>
        <p:nvSpPr>
          <p:cNvPr id="9" name="Text 5"/>
          <p:cNvSpPr txBox="1"/>
          <p:nvPr/>
        </p:nvSpPr>
        <p:spPr>
          <a:xfrm>
            <a:off x="6217920" y="3931920"/>
            <a:ext cx="5394960" cy="640080"/>
          </a:xfrm>
          <a:prstGeom prst="rect">
            <a:avLst/>
          </a:prstGeom>
          <a:noFill/>
          <a:ln/>
        </p:spPr>
        <p:txBody>
          <a:bodyPr wrap="square" lIns="0" tIns="0" rIns="0" bIns="0" rtlCol="0" anchor="t"/>
          <a:lstStyle/>
          <a:p>
            <a:pPr indent="0" marL="0">
              <a:buNone/>
            </a:pPr>
            <a:r>
              <a:rPr lang="en-US" sz="1250" b="1" dirty="0">
                <a:solidFill>
                  <a:srgbClr val="1F7A6D"/>
                </a:solidFill>
                <a:latin typeface="Hiragino Sans" pitchFamily="34" charset="0"/>
                <a:ea typeface="Hiragino Sans" pitchFamily="34" charset="-122"/>
                <a:cs typeface="Hiragino Sans" pitchFamily="34" charset="-120"/>
              </a:rPr>
              <a:t>思考 ON(22 秒): 基準(50% 未満)を先に宣言し、10/1〜10/4 の 4 日を漏れなく</a:t>
            </a:r>
            <a:endParaRPr lang="en-US" sz="1250" dirty="0"/>
          </a:p>
        </p:txBody>
      </p:sp>
      <p:sp>
        <p:nvSpPr>
          <p:cNvPr id="10" name="Shape 6"/>
          <p:cNvSpPr/>
          <p:nvPr/>
        </p:nvSpPr>
        <p:spPr>
          <a:xfrm>
            <a:off x="548640" y="4663440"/>
            <a:ext cx="11064240" cy="1783080"/>
          </a:xfrm>
          <a:prstGeom prst="roundRect">
            <a:avLst>
              <a:gd name="adj" fmla="val 6154"/>
            </a:avLst>
          </a:prstGeom>
          <a:solidFill>
            <a:srgbClr val="F7F9FB"/>
          </a:solidFill>
          <a:ln w="12700">
            <a:solidFill>
              <a:srgbClr val="F7F9FB"/>
            </a:solidFill>
            <a:prstDash val="solid"/>
          </a:ln>
        </p:spPr>
      </p:sp>
      <p:sp>
        <p:nvSpPr>
          <p:cNvPr id="11" name="Text 7"/>
          <p:cNvSpPr txBox="1"/>
          <p:nvPr/>
        </p:nvSpPr>
        <p:spPr>
          <a:xfrm>
            <a:off x="777240" y="4846320"/>
            <a:ext cx="10607040" cy="41148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直し方は 3 つ(効く順)</a:t>
            </a:r>
            <a:endParaRPr lang="en-US" sz="1500" dirty="0"/>
          </a:p>
        </p:txBody>
      </p:sp>
      <p:sp>
        <p:nvSpPr>
          <p:cNvPr id="12" name="Text 8"/>
          <p:cNvSpPr txBox="1"/>
          <p:nvPr/>
        </p:nvSpPr>
        <p:spPr>
          <a:xfrm>
            <a:off x="777240" y="5257800"/>
            <a:ext cx="10607040" cy="1005840"/>
          </a:xfrm>
          <a:prstGeom prst="rect">
            <a:avLst/>
          </a:prstGeom>
          <a:noFill/>
          <a:ln/>
        </p:spPr>
        <p:txBody>
          <a:bodyPr wrap="square" lIns="0" tIns="0" rIns="0" bIns="0" rtlCol="0" anchor="t"/>
          <a:lstStyle/>
          <a:p>
            <a:pPr indent="0" marL="0">
              <a:buNone/>
            </a:pPr>
            <a:r>
              <a:rPr lang="en-US" sz="1250" dirty="0">
                <a:solidFill>
                  <a:srgbClr val="0F2A44"/>
                </a:solidFill>
                <a:latin typeface="Hiragino Sans" pitchFamily="34" charset="0"/>
                <a:ea typeface="Hiragino Sans" pitchFamily="34" charset="-122"/>
                <a:cs typeface="Hiragino Sans" pitchFamily="34" charset="-120"/>
              </a:rPr>
              <a:t>① 質問でしきい値を言う: 「降水確率 30% 以下の日は?」— いちばん確実、コストなし</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② 思考モードを ON にする: 矛盾は減るが応答は数倍遅い。無料 T4 では数分〜十数分になり非現実的。A100 級で 20〜50 秒</a:t>
            </a:r>
            <a:endParaRPr lang="en-US" sz="1250" dirty="0"/>
          </a:p>
          <a:p>
            <a:pPr indent="0" marL="0">
              <a:buNone/>
            </a:pPr>
            <a:r>
              <a:rPr lang="en-US" sz="1250" dirty="0">
                <a:solidFill>
                  <a:srgbClr val="0F2A44"/>
                </a:solidFill>
                <a:latin typeface="Hiragino Sans" pitchFamily="34" charset="0"/>
                <a:ea typeface="Hiragino Sans" pitchFamily="34" charset="-122"/>
                <a:cs typeface="Hiragino Sans" pitchFamily="34" charset="-120"/>
              </a:rPr>
              <a:t>③ モデルを大きくする(14B / 30B-A3B): GPU の余裕が要る。未検証</a:t>
            </a:r>
            <a:endParaRPr lang="en-US" sz="1250" dirty="0"/>
          </a:p>
        </p:txBody>
      </p:sp>
      <p:sp>
        <p:nvSpPr>
          <p:cNvPr id="13" name="Text 9"/>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26</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Qwen3-8B(4bit) で分かったこと</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安定してこなす / 崩れやすい / 直し方 — 小さいモデルに向かない仕事を振ると崩れる。振らなければ、だいたい動く</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3657600"/>
                <a:gridCol w="3931920"/>
                <a:gridCol w="3474720"/>
              </a:tblGrid>
              <a:tr h="420624">
                <a:tc>
                  <a:txBody>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安定してこなすこと</a:t>
                      </a:r>
                      <a:endParaRPr lang="en-US" sz="120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崩れやすいこと</a:t>
                      </a:r>
                      <a:endParaRPr lang="en-US" sz="120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c>
                  <a:txBody>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直し方</a:t>
                      </a:r>
                      <a:endParaRPr lang="en-US" sz="120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6406A"/>
                    </a:solidFill>
                  </a:tcPr>
                </a:tc>
              </a:tr>
              <a:tr h="420624">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Tool の選択と引数の決定(新しく足した Tool も選ぶ)</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数値の暗算(25.57℃ と誤答)</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計算は Tool に。プロンプトで強制</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20624">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2 段呼び出し(予報 → 統計、実況 → 平年値)</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大きな表の走査(降水量を積雪と誤読)</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Tool 側で要約を計算して渡す</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20624">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並列呼び出し(3 府県、2 府、予報 + 概況を 1 ターンで)</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曖昧な基準の一貫性(本文と結論の矛盾)</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しきい値を質問に書く / 思考モード ON</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20624">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取得した値の転記(照合した範囲で誤りなし)</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長い表の再構成での取りこぼし(3 日分の風の 3 日目)</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質問を短く区切る / 大きいモデル</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20624">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Markdown 整形、記事・平易な説明への書き換え</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文章化での描写の追加(雨なのに「昼は晴れ」)</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プロンプトで「結果にない描写を足さない」</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20624">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概況文の要約(内容に忠実)</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docstring に無い情報を使えない(平年値)</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docstring に返り値を漏れなく書く</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20624">
                <a:tc>
                  <a:txBody>
                    <a:bodyPr/>
                    <a:lstStyle/>
                    <a:p>
                      <a:pPr indent="0" marL="0">
                        <a:buNone/>
                      </a:pP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複合地名の分解(「石狩・空知・後志」を 4 回に)</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Tool の別名解決 + 指定方法を明記</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20624">
                <a:tc>
                  <a:txBody>
                    <a:bodyPr/>
                    <a:lstStyle/>
                    <a:p>
                      <a:pPr indent="0" marL="0">
                        <a:buNone/>
                      </a:pP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Tool の出力を疑わない(+10℃ を「高温傾向」と解説)</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0F2A44"/>
                          </a:solidFill>
                          <a:latin typeface="Hiragino Sans" pitchFamily="34" charset="0"/>
                          <a:ea typeface="Hiragino Sans" pitchFamily="34" charset="-122"/>
                          <a:cs typeface="Hiragino Sans" pitchFamily="34" charset="-120"/>
                        </a:rPr>
                        <a:t>検証対象は Tool と元データ</a:t>
                      </a:r>
                      <a:endParaRPr lang="en-US" sz="1050" dirty="0">
                        <a:latin typeface="Hiragino Sans" charset="0"/>
                        <a:ea typeface="Hiragino Sans" charset="0"/>
                        <a:cs typeface="Hiragino Sans" charset="0"/>
                      </a:endParaRPr>
                    </a:p>
                  </a:txBody>
                  <a:tcPr marL="45720" marR="4572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5" name="Text 2"/>
          <p:cNvSpPr txBox="1"/>
          <p:nvPr/>
        </p:nvSpPr>
        <p:spPr>
          <a:xfrm>
            <a:off x="548640" y="5623560"/>
            <a:ext cx="11064240" cy="822960"/>
          </a:xfrm>
          <a:prstGeom prst="rect">
            <a:avLst/>
          </a:prstGeom>
          <a:noFill/>
          <a:ln/>
        </p:spPr>
        <p:txBody>
          <a:bodyPr wrap="square" lIns="0" tIns="0" rIns="0" bIns="0" rtlCol="0" anchor="t"/>
          <a:lstStyle/>
          <a:p>
            <a:pPr indent="0" marL="0">
              <a:buNone/>
            </a:pPr>
            <a:r>
              <a:rPr lang="en-US" sz="1200" dirty="0">
                <a:solidFill>
                  <a:srgbClr val="5A6470"/>
                </a:solidFill>
                <a:latin typeface="Hiragino Sans" pitchFamily="34" charset="0"/>
                <a:ea typeface="Hiragino Sans" pitchFamily="34" charset="-122"/>
                <a:cs typeface="Hiragino Sans" pitchFamily="34" charset="-120"/>
              </a:rPr>
              <a:t>そのほか: 指示追従は確率的(同じ質問で統計 Tool を呼ぶ回と呼ばない回があった。値はどちらも正しかった)。回答文ではなくログを正とする。モデルを大きくしたときの改善幅は未検証で、次の課題</a:t>
            </a:r>
            <a:endParaRPr lang="en-US" sz="1200" dirty="0"/>
          </a:p>
        </p:txBody>
      </p:sp>
      <p:sp>
        <p:nvSpPr>
          <p:cNvPr id="6" name="Text 3"/>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27</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答えの質を上げる 3 つの調整ノブ</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「AI が賢いかどうか」ではなく、こちらで回せるところ</a:t>
            </a:r>
            <a:endParaRPr lang="en-US" sz="1400" dirty="0"/>
          </a:p>
        </p:txBody>
      </p:sp>
      <p:sp>
        <p:nvSpPr>
          <p:cNvPr id="4" name="Shape 2"/>
          <p:cNvSpPr/>
          <p:nvPr/>
        </p:nvSpPr>
        <p:spPr>
          <a:xfrm>
            <a:off x="548640" y="1600200"/>
            <a:ext cx="3566160" cy="3931920"/>
          </a:xfrm>
          <a:prstGeom prst="roundRect">
            <a:avLst>
              <a:gd name="adj" fmla="val 3590"/>
            </a:avLst>
          </a:prstGeom>
          <a:solidFill>
            <a:srgbClr val="F7F9FB"/>
          </a:solidFill>
          <a:ln w="12700">
            <a:solidFill>
              <a:srgbClr val="F7F9FB"/>
            </a:solidFill>
            <a:prstDash val="solid"/>
          </a:ln>
        </p:spPr>
      </p:sp>
      <p:sp>
        <p:nvSpPr>
          <p:cNvPr id="5" name="Shape 3"/>
          <p:cNvSpPr/>
          <p:nvPr/>
        </p:nvSpPr>
        <p:spPr>
          <a:xfrm>
            <a:off x="777240" y="1783080"/>
            <a:ext cx="384048" cy="384048"/>
          </a:xfrm>
          <a:prstGeom prst="ellipse">
            <a:avLst/>
          </a:prstGeom>
          <a:solidFill>
            <a:srgbClr val="1F7A6D"/>
          </a:solidFill>
          <a:ln w="12700">
            <a:solidFill>
              <a:srgbClr val="1F7A6D"/>
            </a:solidFill>
            <a:prstDash val="solid"/>
          </a:ln>
        </p:spPr>
      </p:sp>
      <p:sp>
        <p:nvSpPr>
          <p:cNvPr id="6" name="Text 4"/>
          <p:cNvSpPr txBox="1"/>
          <p:nvPr/>
        </p:nvSpPr>
        <p:spPr>
          <a:xfrm>
            <a:off x="777240" y="18105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1</a:t>
            </a:r>
            <a:endParaRPr lang="en-US" sz="1400" dirty="0"/>
          </a:p>
        </p:txBody>
      </p:sp>
      <p:sp>
        <p:nvSpPr>
          <p:cNvPr id="7" name="Text 5"/>
          <p:cNvSpPr txBox="1"/>
          <p:nvPr/>
        </p:nvSpPr>
        <p:spPr>
          <a:xfrm>
            <a:off x="1280160" y="1783080"/>
            <a:ext cx="2743200" cy="411480"/>
          </a:xfrm>
          <a:prstGeom prst="rect">
            <a:avLst/>
          </a:prstGeom>
          <a:noFill/>
          <a:ln/>
        </p:spPr>
        <p:txBody>
          <a:bodyPr wrap="square" lIns="0" tIns="0" rIns="0" bIns="0" rtlCol="0" anchor="t"/>
          <a:lstStyle/>
          <a:p>
            <a:pPr indent="0" marL="0">
              <a:buNone/>
            </a:pPr>
            <a:r>
              <a:rPr lang="en-US" sz="1700" b="1" dirty="0">
                <a:solidFill>
                  <a:srgbClr val="0E2A47"/>
                </a:solidFill>
                <a:latin typeface="Hiragino Sans" pitchFamily="34" charset="0"/>
                <a:ea typeface="Hiragino Sans" pitchFamily="34" charset="-122"/>
                <a:cs typeface="Hiragino Sans" pitchFamily="34" charset="-120"/>
              </a:rPr>
              <a:t>質問の書き方</a:t>
            </a:r>
            <a:endParaRPr lang="en-US" sz="1700" dirty="0"/>
          </a:p>
        </p:txBody>
      </p:sp>
      <p:sp>
        <p:nvSpPr>
          <p:cNvPr id="8" name="Text 6"/>
          <p:cNvSpPr txBox="1"/>
          <p:nvPr/>
        </p:nvSpPr>
        <p:spPr>
          <a:xfrm>
            <a:off x="777240" y="2377440"/>
            <a:ext cx="3108960" cy="2377440"/>
          </a:xfrm>
          <a:prstGeom prst="rect">
            <a:avLst/>
          </a:prstGeom>
          <a:noFill/>
          <a:ln/>
        </p:spPr>
        <p:txBody>
          <a:bodyPr wrap="square" lIns="0" tIns="0" rIns="0" bIns="0" rtlCol="0" anchor="t"/>
          <a:lstStyle/>
          <a:p>
            <a:pPr indent="0" marL="0">
              <a:buNone/>
            </a:pPr>
            <a:r>
              <a:rPr lang="en-US" sz="1300" dirty="0">
                <a:solidFill>
                  <a:srgbClr val="0F2A44"/>
                </a:solidFill>
                <a:latin typeface="Hiragino Sans" pitchFamily="34" charset="0"/>
                <a:ea typeface="Hiragino Sans" pitchFamily="34" charset="-122"/>
                <a:cs typeface="Hiragino Sans" pitchFamily="34" charset="-120"/>
              </a:rPr>
              <a:t>地域は都道府県名で。期間は予報の範囲で。集計は「平均・合計・最大」と言葉で。基準はしきい値を言う。1 つの質問に 1 つの狙い</a:t>
            </a:r>
            <a:endParaRPr lang="en-US" sz="1300" dirty="0"/>
          </a:p>
        </p:txBody>
      </p:sp>
      <p:sp>
        <p:nvSpPr>
          <p:cNvPr id="9" name="Text 7"/>
          <p:cNvSpPr txBox="1"/>
          <p:nvPr/>
        </p:nvSpPr>
        <p:spPr>
          <a:xfrm>
            <a:off x="777240" y="5029200"/>
            <a:ext cx="3108960" cy="365760"/>
          </a:xfrm>
          <a:prstGeom prst="rect">
            <a:avLst/>
          </a:prstGeom>
          <a:noFill/>
          <a:ln/>
        </p:spPr>
        <p:txBody>
          <a:bodyPr wrap="square" lIns="0" tIns="0" rIns="0" bIns="0" rtlCol="0" anchor="t"/>
          <a:lstStyle/>
          <a:p>
            <a:pPr indent="0" marL="0">
              <a:buNone/>
            </a:pPr>
            <a:r>
              <a:rPr lang="en-US" sz="1200" b="1" dirty="0">
                <a:solidFill>
                  <a:srgbClr val="1F7A6D"/>
                </a:solidFill>
                <a:latin typeface="Hiragino Sans" pitchFamily="34" charset="0"/>
                <a:ea typeface="Hiragino Sans" pitchFamily="34" charset="-122"/>
                <a:cs typeface="Hiragino Sans" pitchFamily="34" charset="-120"/>
              </a:rPr>
              <a:t>コスト 0</a:t>
            </a:r>
            <a:endParaRPr lang="en-US" sz="1200" dirty="0"/>
          </a:p>
        </p:txBody>
      </p:sp>
      <p:sp>
        <p:nvSpPr>
          <p:cNvPr id="10" name="Shape 8"/>
          <p:cNvSpPr/>
          <p:nvPr/>
        </p:nvSpPr>
        <p:spPr>
          <a:xfrm>
            <a:off x="4315968" y="1600200"/>
            <a:ext cx="3566160" cy="3931920"/>
          </a:xfrm>
          <a:prstGeom prst="roundRect">
            <a:avLst>
              <a:gd name="adj" fmla="val 3590"/>
            </a:avLst>
          </a:prstGeom>
          <a:solidFill>
            <a:srgbClr val="F7F9FB"/>
          </a:solidFill>
          <a:ln w="12700">
            <a:solidFill>
              <a:srgbClr val="F7F9FB"/>
            </a:solidFill>
            <a:prstDash val="solid"/>
          </a:ln>
        </p:spPr>
      </p:sp>
      <p:sp>
        <p:nvSpPr>
          <p:cNvPr id="11" name="Shape 9"/>
          <p:cNvSpPr/>
          <p:nvPr/>
        </p:nvSpPr>
        <p:spPr>
          <a:xfrm>
            <a:off x="4544568" y="1783080"/>
            <a:ext cx="384048" cy="384048"/>
          </a:xfrm>
          <a:prstGeom prst="ellipse">
            <a:avLst/>
          </a:prstGeom>
          <a:solidFill>
            <a:srgbClr val="16406A"/>
          </a:solidFill>
          <a:ln w="12700">
            <a:solidFill>
              <a:srgbClr val="16406A"/>
            </a:solidFill>
            <a:prstDash val="solid"/>
          </a:ln>
        </p:spPr>
      </p:sp>
      <p:sp>
        <p:nvSpPr>
          <p:cNvPr id="12" name="Text 10"/>
          <p:cNvSpPr txBox="1"/>
          <p:nvPr/>
        </p:nvSpPr>
        <p:spPr>
          <a:xfrm>
            <a:off x="4544568" y="18105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2</a:t>
            </a:r>
            <a:endParaRPr lang="en-US" sz="1400" dirty="0"/>
          </a:p>
        </p:txBody>
      </p:sp>
      <p:sp>
        <p:nvSpPr>
          <p:cNvPr id="13" name="Text 11"/>
          <p:cNvSpPr txBox="1"/>
          <p:nvPr/>
        </p:nvSpPr>
        <p:spPr>
          <a:xfrm>
            <a:off x="5047488" y="1783080"/>
            <a:ext cx="2743200" cy="411480"/>
          </a:xfrm>
          <a:prstGeom prst="rect">
            <a:avLst/>
          </a:prstGeom>
          <a:noFill/>
          <a:ln/>
        </p:spPr>
        <p:txBody>
          <a:bodyPr wrap="square" lIns="0" tIns="0" rIns="0" bIns="0" rtlCol="0" anchor="t"/>
          <a:lstStyle/>
          <a:p>
            <a:pPr indent="0" marL="0">
              <a:buNone/>
            </a:pPr>
            <a:r>
              <a:rPr lang="en-US" sz="1700" b="1" dirty="0">
                <a:solidFill>
                  <a:srgbClr val="0E2A47"/>
                </a:solidFill>
                <a:latin typeface="Hiragino Sans" pitchFamily="34" charset="0"/>
                <a:ea typeface="Hiragino Sans" pitchFamily="34" charset="-122"/>
                <a:cs typeface="Hiragino Sans" pitchFamily="34" charset="-120"/>
              </a:rPr>
              <a:t>Tool の設計</a:t>
            </a:r>
            <a:endParaRPr lang="en-US" sz="1700" dirty="0"/>
          </a:p>
        </p:txBody>
      </p:sp>
      <p:sp>
        <p:nvSpPr>
          <p:cNvPr id="14" name="Text 12"/>
          <p:cNvSpPr txBox="1"/>
          <p:nvPr/>
        </p:nvSpPr>
        <p:spPr>
          <a:xfrm>
            <a:off x="4544568" y="2377440"/>
            <a:ext cx="3108960" cy="2377440"/>
          </a:xfrm>
          <a:prstGeom prst="rect">
            <a:avLst/>
          </a:prstGeom>
          <a:noFill/>
          <a:ln/>
        </p:spPr>
        <p:txBody>
          <a:bodyPr wrap="square" lIns="0" tIns="0" rIns="0" bIns="0" rtlCol="0" anchor="t"/>
          <a:lstStyle/>
          <a:p>
            <a:pPr indent="0" marL="0">
              <a:buNone/>
            </a:pPr>
            <a:r>
              <a:rPr lang="en-US" sz="1300" dirty="0">
                <a:solidFill>
                  <a:srgbClr val="0F2A44"/>
                </a:solidFill>
                <a:latin typeface="Hiragino Sans" pitchFamily="34" charset="0"/>
                <a:ea typeface="Hiragino Sans" pitchFamily="34" charset="-122"/>
                <a:cs typeface="Hiragino Sans" pitchFamily="34" charset="-120"/>
              </a:rPr>
              <a:t>計算・集計・検索は Python に。返り値に要約を持たせる。docstring に返り値を漏れなく書く。迷いそうな点は返り値に「注意」として含める</a:t>
            </a:r>
            <a:endParaRPr lang="en-US" sz="1300" dirty="0"/>
          </a:p>
        </p:txBody>
      </p:sp>
      <p:sp>
        <p:nvSpPr>
          <p:cNvPr id="15" name="Text 13"/>
          <p:cNvSpPr txBox="1"/>
          <p:nvPr/>
        </p:nvSpPr>
        <p:spPr>
          <a:xfrm>
            <a:off x="4544568" y="5029200"/>
            <a:ext cx="3108960" cy="365760"/>
          </a:xfrm>
          <a:prstGeom prst="rect">
            <a:avLst/>
          </a:prstGeom>
          <a:noFill/>
          <a:ln/>
        </p:spPr>
        <p:txBody>
          <a:bodyPr wrap="square" lIns="0" tIns="0" rIns="0" bIns="0" rtlCol="0" anchor="t"/>
          <a:lstStyle/>
          <a:p>
            <a:pPr indent="0" marL="0">
              <a:buNone/>
            </a:pPr>
            <a:r>
              <a:rPr lang="en-US" sz="1200" b="1" dirty="0">
                <a:solidFill>
                  <a:srgbClr val="16406A"/>
                </a:solidFill>
                <a:latin typeface="Hiragino Sans" pitchFamily="34" charset="0"/>
                <a:ea typeface="Hiragino Sans" pitchFamily="34" charset="-122"/>
                <a:cs typeface="Hiragino Sans" pitchFamily="34" charset="-120"/>
              </a:rPr>
              <a:t>作る側の仕事</a:t>
            </a:r>
            <a:endParaRPr lang="en-US" sz="1200" dirty="0"/>
          </a:p>
        </p:txBody>
      </p:sp>
      <p:sp>
        <p:nvSpPr>
          <p:cNvPr id="16" name="Shape 14"/>
          <p:cNvSpPr/>
          <p:nvPr/>
        </p:nvSpPr>
        <p:spPr>
          <a:xfrm>
            <a:off x="8083296" y="1600200"/>
            <a:ext cx="3566160" cy="3931920"/>
          </a:xfrm>
          <a:prstGeom prst="roundRect">
            <a:avLst>
              <a:gd name="adj" fmla="val 3590"/>
            </a:avLst>
          </a:prstGeom>
          <a:solidFill>
            <a:srgbClr val="F7F9FB"/>
          </a:solidFill>
          <a:ln w="12700">
            <a:solidFill>
              <a:srgbClr val="F7F9FB"/>
            </a:solidFill>
            <a:prstDash val="solid"/>
          </a:ln>
        </p:spPr>
      </p:sp>
      <p:sp>
        <p:nvSpPr>
          <p:cNvPr id="17" name="Shape 15"/>
          <p:cNvSpPr/>
          <p:nvPr/>
        </p:nvSpPr>
        <p:spPr>
          <a:xfrm>
            <a:off x="8311896" y="1783080"/>
            <a:ext cx="384048" cy="384048"/>
          </a:xfrm>
          <a:prstGeom prst="ellipse">
            <a:avLst/>
          </a:prstGeom>
          <a:solidFill>
            <a:srgbClr val="E2711D"/>
          </a:solidFill>
          <a:ln w="12700">
            <a:solidFill>
              <a:srgbClr val="E2711D"/>
            </a:solidFill>
            <a:prstDash val="solid"/>
          </a:ln>
        </p:spPr>
      </p:sp>
      <p:sp>
        <p:nvSpPr>
          <p:cNvPr id="18" name="Text 16"/>
          <p:cNvSpPr txBox="1"/>
          <p:nvPr/>
        </p:nvSpPr>
        <p:spPr>
          <a:xfrm>
            <a:off x="8311896" y="18105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3</a:t>
            </a:r>
            <a:endParaRPr lang="en-US" sz="1400" dirty="0"/>
          </a:p>
        </p:txBody>
      </p:sp>
      <p:sp>
        <p:nvSpPr>
          <p:cNvPr id="19" name="Text 17"/>
          <p:cNvSpPr txBox="1"/>
          <p:nvPr/>
        </p:nvSpPr>
        <p:spPr>
          <a:xfrm>
            <a:off x="8814816" y="1783080"/>
            <a:ext cx="2743200" cy="411480"/>
          </a:xfrm>
          <a:prstGeom prst="rect">
            <a:avLst/>
          </a:prstGeom>
          <a:noFill/>
          <a:ln/>
        </p:spPr>
        <p:txBody>
          <a:bodyPr wrap="square" lIns="0" tIns="0" rIns="0" bIns="0" rtlCol="0" anchor="t"/>
          <a:lstStyle/>
          <a:p>
            <a:pPr indent="0" marL="0">
              <a:buNone/>
            </a:pPr>
            <a:r>
              <a:rPr lang="en-US" sz="1700" b="1" dirty="0">
                <a:solidFill>
                  <a:srgbClr val="0E2A47"/>
                </a:solidFill>
                <a:latin typeface="Hiragino Sans" pitchFamily="34" charset="0"/>
                <a:ea typeface="Hiragino Sans" pitchFamily="34" charset="-122"/>
                <a:cs typeface="Hiragino Sans" pitchFamily="34" charset="-120"/>
              </a:rPr>
              <a:t>モデルと思考モード</a:t>
            </a:r>
            <a:endParaRPr lang="en-US" sz="1700" dirty="0"/>
          </a:p>
        </p:txBody>
      </p:sp>
      <p:sp>
        <p:nvSpPr>
          <p:cNvPr id="20" name="Text 18"/>
          <p:cNvSpPr txBox="1"/>
          <p:nvPr/>
        </p:nvSpPr>
        <p:spPr>
          <a:xfrm>
            <a:off x="8311896" y="2377440"/>
            <a:ext cx="3108960" cy="2377440"/>
          </a:xfrm>
          <a:prstGeom prst="rect">
            <a:avLst/>
          </a:prstGeom>
          <a:noFill/>
          <a:ln/>
        </p:spPr>
        <p:txBody>
          <a:bodyPr wrap="square" lIns="0" tIns="0" rIns="0" bIns="0" rtlCol="0" anchor="t"/>
          <a:lstStyle/>
          <a:p>
            <a:pPr indent="0" marL="0">
              <a:buNone/>
            </a:pPr>
            <a:r>
              <a:rPr lang="en-US" sz="1300" dirty="0">
                <a:solidFill>
                  <a:srgbClr val="0F2A44"/>
                </a:solidFill>
                <a:latin typeface="Hiragino Sans" pitchFamily="34" charset="0"/>
                <a:ea typeface="Hiragino Sans" pitchFamily="34" charset="-122"/>
                <a:cs typeface="Hiragino Sans" pitchFamily="34" charset="-120"/>
              </a:rPr>
              <a:t>8B → 14B → 30B-A3B で表の走査や取りこぼしは改善する見込み(GPU が要る)。思考モードは矛盾を減らすが数倍遅い</a:t>
            </a:r>
            <a:endParaRPr lang="en-US" sz="1300" dirty="0"/>
          </a:p>
        </p:txBody>
      </p:sp>
      <p:sp>
        <p:nvSpPr>
          <p:cNvPr id="21" name="Text 19"/>
          <p:cNvSpPr txBox="1"/>
          <p:nvPr/>
        </p:nvSpPr>
        <p:spPr>
          <a:xfrm>
            <a:off x="8311896" y="5029200"/>
            <a:ext cx="3108960" cy="365760"/>
          </a:xfrm>
          <a:prstGeom prst="rect">
            <a:avLst/>
          </a:prstGeom>
          <a:noFill/>
          <a:ln/>
        </p:spPr>
        <p:txBody>
          <a:bodyPr wrap="square" lIns="0" tIns="0" rIns="0" bIns="0" rtlCol="0" anchor="t"/>
          <a:lstStyle/>
          <a:p>
            <a:pPr indent="0" marL="0">
              <a:buNone/>
            </a:pPr>
            <a:r>
              <a:rPr lang="en-US" sz="1200" b="1" dirty="0">
                <a:solidFill>
                  <a:srgbClr val="E2711D"/>
                </a:solidFill>
                <a:latin typeface="Hiragino Sans" pitchFamily="34" charset="0"/>
                <a:ea typeface="Hiragino Sans" pitchFamily="34" charset="-122"/>
                <a:cs typeface="Hiragino Sans" pitchFamily="34" charset="-120"/>
              </a:rPr>
              <a:t>計算資源が要る</a:t>
            </a:r>
            <a:endParaRPr lang="en-US" sz="1200" dirty="0"/>
          </a:p>
        </p:txBody>
      </p:sp>
      <p:sp>
        <p:nvSpPr>
          <p:cNvPr id="22" name="Shape 20"/>
          <p:cNvSpPr/>
          <p:nvPr/>
        </p:nvSpPr>
        <p:spPr>
          <a:xfrm>
            <a:off x="548640" y="5760720"/>
            <a:ext cx="11064240" cy="731520"/>
          </a:xfrm>
          <a:prstGeom prst="roundRect">
            <a:avLst>
              <a:gd name="adj" fmla="val 12500"/>
            </a:avLst>
          </a:prstGeom>
          <a:solidFill>
            <a:srgbClr val="0E2A47"/>
          </a:solidFill>
          <a:ln w="12700">
            <a:solidFill>
              <a:srgbClr val="0E2A47"/>
            </a:solidFill>
            <a:prstDash val="solid"/>
          </a:ln>
        </p:spPr>
      </p:sp>
      <p:sp>
        <p:nvSpPr>
          <p:cNvPr id="23" name="Text 21"/>
          <p:cNvSpPr txBox="1"/>
          <p:nvPr/>
        </p:nvSpPr>
        <p:spPr>
          <a:xfrm>
            <a:off x="822960" y="5897880"/>
            <a:ext cx="10515600" cy="457200"/>
          </a:xfrm>
          <a:prstGeom prst="rect">
            <a:avLst/>
          </a:prstGeom>
          <a:noFill/>
          <a:ln/>
        </p:spPr>
        <p:txBody>
          <a:bodyPr wrap="square" lIns="0" tIns="0" rIns="0" bIns="0" rtlCol="0" anchor="t"/>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そして常に: 回答文ではなく、ログ(🔵 何を呼んだか / 🟢 何が返ったか)を見る。ログは Python が出しているので嘘をつけない</a:t>
            </a:r>
            <a:endParaRPr lang="en-US" sz="1400" dirty="0"/>
          </a:p>
        </p:txBody>
      </p:sp>
      <p:sp>
        <p:nvSpPr>
          <p:cNvPr id="24" name="Text 22"/>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28</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Tool を差し替えれば、別の窓口になる — 分野別の例</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気象庁データで今すぐできる例と、足せば広がる例。ChatGPT や Claude で十分な場面も多い — 手元の LLM が要るのは、データを外に出せない・大量に処理する・仕組みを理解したいとき</a:t>
            </a:r>
            <a:endParaRPr lang="en-US" sz="1400" dirty="0"/>
          </a:p>
        </p:txBody>
      </p:sp>
      <p:sp>
        <p:nvSpPr>
          <p:cNvPr id="4" name="Shape 2"/>
          <p:cNvSpPr/>
          <p:nvPr/>
        </p:nvSpPr>
        <p:spPr>
          <a:xfrm>
            <a:off x="548640" y="1554480"/>
            <a:ext cx="5394960" cy="1234440"/>
          </a:xfrm>
          <a:prstGeom prst="roundRect">
            <a:avLst>
              <a:gd name="adj" fmla="val 8889"/>
            </a:avLst>
          </a:prstGeom>
          <a:solidFill>
            <a:srgbClr val="F7F9FB"/>
          </a:solidFill>
          <a:ln w="12700">
            <a:solidFill>
              <a:srgbClr val="F7F9FB"/>
            </a:solidFill>
            <a:prstDash val="solid"/>
          </a:ln>
        </p:spPr>
      </p:sp>
      <p:sp>
        <p:nvSpPr>
          <p:cNvPr id="5" name="Text 3"/>
          <p:cNvSpPr txBox="1"/>
          <p:nvPr/>
        </p:nvSpPr>
        <p:spPr>
          <a:xfrm>
            <a:off x="777240" y="1691640"/>
            <a:ext cx="4937760" cy="36576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風力発電</a:t>
            </a:r>
            <a:endParaRPr lang="en-US" sz="1500" dirty="0"/>
          </a:p>
        </p:txBody>
      </p:sp>
      <p:sp>
        <p:nvSpPr>
          <p:cNvPr id="6" name="Text 4"/>
          <p:cNvSpPr txBox="1"/>
          <p:nvPr/>
        </p:nvSpPr>
        <p:spPr>
          <a:xfrm>
            <a:off x="777240" y="2057400"/>
            <a:ext cx="4937760" cy="685800"/>
          </a:xfrm>
          <a:prstGeom prst="rect">
            <a:avLst/>
          </a:prstGeom>
          <a:noFill/>
          <a:ln/>
        </p:spPr>
        <p:txBody>
          <a:bodyPr wrap="square" lIns="0" tIns="0" rIns="0" bIns="0" rtlCol="0" anchor="t"/>
          <a:lstStyle/>
          <a:p>
            <a:pPr indent="0" marL="0">
              <a:buNone/>
            </a:pPr>
            <a:r>
              <a:rPr lang="en-US" sz="1200" dirty="0">
                <a:solidFill>
                  <a:srgbClr val="0F2A44"/>
                </a:solidFill>
                <a:latin typeface="Hiragino Sans" pitchFamily="34" charset="0"/>
                <a:ea typeface="Hiragino Sans" pitchFamily="34" charset="-122"/>
                <a:cs typeface="Hiragino Sans" pitchFamily="34" charset="-120"/>
              </a:rPr>
              <a:t>3 日間予報の風、アメダスの風速・風向。足すなら: 高度別の風(Open-Meteo)、発電量との突き合わせ</a:t>
            </a:r>
            <a:endParaRPr lang="en-US" sz="1200" dirty="0"/>
          </a:p>
        </p:txBody>
      </p:sp>
      <p:sp>
        <p:nvSpPr>
          <p:cNvPr id="7" name="Shape 5"/>
          <p:cNvSpPr/>
          <p:nvPr/>
        </p:nvSpPr>
        <p:spPr>
          <a:xfrm>
            <a:off x="6217920" y="1554480"/>
            <a:ext cx="5394960" cy="1234440"/>
          </a:xfrm>
          <a:prstGeom prst="roundRect">
            <a:avLst>
              <a:gd name="adj" fmla="val 8889"/>
            </a:avLst>
          </a:prstGeom>
          <a:solidFill>
            <a:srgbClr val="F7F9FB"/>
          </a:solidFill>
          <a:ln w="12700">
            <a:solidFill>
              <a:srgbClr val="F7F9FB"/>
            </a:solidFill>
            <a:prstDash val="solid"/>
          </a:ln>
        </p:spPr>
      </p:sp>
      <p:sp>
        <p:nvSpPr>
          <p:cNvPr id="8" name="Text 6"/>
          <p:cNvSpPr txBox="1"/>
          <p:nvPr/>
        </p:nvSpPr>
        <p:spPr>
          <a:xfrm>
            <a:off x="6446520" y="1691640"/>
            <a:ext cx="4937760" cy="365760"/>
          </a:xfrm>
          <a:prstGeom prst="rect">
            <a:avLst/>
          </a:prstGeom>
          <a:noFill/>
          <a:ln/>
        </p:spPr>
        <p:txBody>
          <a:bodyPr wrap="square" lIns="0" tIns="0" rIns="0" bIns="0" rtlCol="0" anchor="t"/>
          <a:lstStyle/>
          <a:p>
            <a:pPr indent="0" marL="0">
              <a:buNone/>
            </a:pPr>
            <a:r>
              <a:rPr lang="en-US" sz="1500" b="1" dirty="0">
                <a:solidFill>
                  <a:srgbClr val="1F7A6D"/>
                </a:solidFill>
                <a:latin typeface="Hiragino Sans" pitchFamily="34" charset="0"/>
                <a:ea typeface="Hiragino Sans" pitchFamily="34" charset="-122"/>
                <a:cs typeface="Hiragino Sans" pitchFamily="34" charset="-120"/>
              </a:rPr>
              <a:t>寒地・土木</a:t>
            </a:r>
            <a:endParaRPr lang="en-US" sz="1500" dirty="0"/>
          </a:p>
        </p:txBody>
      </p:sp>
      <p:sp>
        <p:nvSpPr>
          <p:cNvPr id="9" name="Text 7"/>
          <p:cNvSpPr txBox="1"/>
          <p:nvPr/>
        </p:nvSpPr>
        <p:spPr>
          <a:xfrm>
            <a:off x="6446520" y="2057400"/>
            <a:ext cx="4937760" cy="685800"/>
          </a:xfrm>
          <a:prstGeom prst="rect">
            <a:avLst/>
          </a:prstGeom>
          <a:noFill/>
          <a:ln/>
        </p:spPr>
        <p:txBody>
          <a:bodyPr wrap="square" lIns="0" tIns="0" rIns="0" bIns="0" rtlCol="0" anchor="t"/>
          <a:lstStyle/>
          <a:p>
            <a:pPr indent="0" marL="0">
              <a:buNone/>
            </a:pPr>
            <a:r>
              <a:rPr lang="en-US" sz="1200" dirty="0">
                <a:solidFill>
                  <a:srgbClr val="0F2A44"/>
                </a:solidFill>
                <a:latin typeface="Hiragino Sans" pitchFamily="34" charset="0"/>
                <a:ea typeface="Hiragino Sans" pitchFamily="34" charset="-122"/>
                <a:cs typeface="Hiragino Sans" pitchFamily="34" charset="-120"/>
              </a:rPr>
              <a:t>週間の最低気温、アメダスの積雪深(冬)。足すなら: 日別の積雪推移、路面凍結の目安計算</a:t>
            </a:r>
            <a:endParaRPr lang="en-US" sz="1200" dirty="0"/>
          </a:p>
        </p:txBody>
      </p:sp>
      <p:sp>
        <p:nvSpPr>
          <p:cNvPr id="10" name="Shape 8"/>
          <p:cNvSpPr/>
          <p:nvPr/>
        </p:nvSpPr>
        <p:spPr>
          <a:xfrm>
            <a:off x="548640" y="2971800"/>
            <a:ext cx="5394960" cy="1234440"/>
          </a:xfrm>
          <a:prstGeom prst="roundRect">
            <a:avLst>
              <a:gd name="adj" fmla="val 8889"/>
            </a:avLst>
          </a:prstGeom>
          <a:solidFill>
            <a:srgbClr val="F7F9FB"/>
          </a:solidFill>
          <a:ln w="12700">
            <a:solidFill>
              <a:srgbClr val="F7F9FB"/>
            </a:solidFill>
            <a:prstDash val="solid"/>
          </a:ln>
        </p:spPr>
      </p:sp>
      <p:sp>
        <p:nvSpPr>
          <p:cNvPr id="11" name="Text 9"/>
          <p:cNvSpPr txBox="1"/>
          <p:nvPr/>
        </p:nvSpPr>
        <p:spPr>
          <a:xfrm>
            <a:off x="777240" y="3108960"/>
            <a:ext cx="4937760" cy="36576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山岳気象</a:t>
            </a:r>
            <a:endParaRPr lang="en-US" sz="1500" dirty="0"/>
          </a:p>
        </p:txBody>
      </p:sp>
      <p:sp>
        <p:nvSpPr>
          <p:cNvPr id="12" name="Text 10"/>
          <p:cNvSpPr txBox="1"/>
          <p:nvPr/>
        </p:nvSpPr>
        <p:spPr>
          <a:xfrm>
            <a:off x="777240" y="3474720"/>
            <a:ext cx="4937760" cy="685800"/>
          </a:xfrm>
          <a:prstGeom prst="rect">
            <a:avLst/>
          </a:prstGeom>
          <a:noFill/>
          <a:ln/>
        </p:spPr>
        <p:txBody>
          <a:bodyPr wrap="square" lIns="0" tIns="0" rIns="0" bIns="0" rtlCol="0" anchor="t"/>
          <a:lstStyle/>
          <a:p>
            <a:pPr indent="0" marL="0">
              <a:buNone/>
            </a:pPr>
            <a:r>
              <a:rPr lang="en-US" sz="1200" dirty="0">
                <a:solidFill>
                  <a:srgbClr val="0F2A44"/>
                </a:solidFill>
                <a:latin typeface="Hiragino Sans" pitchFamily="34" charset="0"/>
                <a:ea typeface="Hiragino Sans" pitchFamily="34" charset="-122"/>
                <a:cs typeface="Hiragino Sans" pitchFamily="34" charset="-120"/>
              </a:rPr>
              <a:t>信頼度で計画の確度を見る、日の出・日の入り。足すなら: 標高別の気温(減率計算)、稜線の風</a:t>
            </a:r>
            <a:endParaRPr lang="en-US" sz="1200" dirty="0"/>
          </a:p>
        </p:txBody>
      </p:sp>
      <p:sp>
        <p:nvSpPr>
          <p:cNvPr id="13" name="Shape 11"/>
          <p:cNvSpPr/>
          <p:nvPr/>
        </p:nvSpPr>
        <p:spPr>
          <a:xfrm>
            <a:off x="6217920" y="2971800"/>
            <a:ext cx="5394960" cy="1234440"/>
          </a:xfrm>
          <a:prstGeom prst="roundRect">
            <a:avLst>
              <a:gd name="adj" fmla="val 8889"/>
            </a:avLst>
          </a:prstGeom>
          <a:solidFill>
            <a:srgbClr val="F7F9FB"/>
          </a:solidFill>
          <a:ln w="12700">
            <a:solidFill>
              <a:srgbClr val="F7F9FB"/>
            </a:solidFill>
            <a:prstDash val="solid"/>
          </a:ln>
        </p:spPr>
      </p:sp>
      <p:sp>
        <p:nvSpPr>
          <p:cNvPr id="14" name="Text 12"/>
          <p:cNvSpPr txBox="1"/>
          <p:nvPr/>
        </p:nvSpPr>
        <p:spPr>
          <a:xfrm>
            <a:off x="6446520" y="3108960"/>
            <a:ext cx="4937760" cy="365760"/>
          </a:xfrm>
          <a:prstGeom prst="rect">
            <a:avLst/>
          </a:prstGeom>
          <a:noFill/>
          <a:ln/>
        </p:spPr>
        <p:txBody>
          <a:bodyPr wrap="square" lIns="0" tIns="0" rIns="0" bIns="0" rtlCol="0" anchor="t"/>
          <a:lstStyle/>
          <a:p>
            <a:pPr indent="0" marL="0">
              <a:buNone/>
            </a:pPr>
            <a:r>
              <a:rPr lang="en-US" sz="1500" b="1" dirty="0">
                <a:solidFill>
                  <a:srgbClr val="16406A"/>
                </a:solidFill>
                <a:latin typeface="Hiragino Sans" pitchFamily="34" charset="0"/>
                <a:ea typeface="Hiragino Sans" pitchFamily="34" charset="-122"/>
                <a:cs typeface="Hiragino Sans" pitchFamily="34" charset="-120"/>
              </a:rPr>
              <a:t>報道</a:t>
            </a:r>
            <a:endParaRPr lang="en-US" sz="1500" dirty="0"/>
          </a:p>
        </p:txBody>
      </p:sp>
      <p:sp>
        <p:nvSpPr>
          <p:cNvPr id="15" name="Text 13"/>
          <p:cNvSpPr txBox="1"/>
          <p:nvPr/>
        </p:nvSpPr>
        <p:spPr>
          <a:xfrm>
            <a:off x="6446520" y="3474720"/>
            <a:ext cx="4937760" cy="685800"/>
          </a:xfrm>
          <a:prstGeom prst="rect">
            <a:avLst/>
          </a:prstGeom>
          <a:noFill/>
          <a:ln/>
        </p:spPr>
        <p:txBody>
          <a:bodyPr wrap="square" lIns="0" tIns="0" rIns="0" bIns="0" rtlCol="0" anchor="t"/>
          <a:lstStyle/>
          <a:p>
            <a:pPr indent="0" marL="0">
              <a:buNone/>
            </a:pPr>
            <a:r>
              <a:rPr lang="en-US" sz="1200" dirty="0">
                <a:solidFill>
                  <a:srgbClr val="0F2A44"/>
                </a:solidFill>
                <a:latin typeface="Hiragino Sans" pitchFamily="34" charset="0"/>
                <a:ea typeface="Hiragino Sans" pitchFamily="34" charset="-122"/>
                <a:cs typeface="Hiragino Sans" pitchFamily="34" charset="-120"/>
              </a:rPr>
              <a:t>概況文 → 記事、週間予報 → 表。足すなら: 地域面向けの定型テンプレート、複数県の一括生成</a:t>
            </a:r>
            <a:endParaRPr lang="en-US" sz="1200" dirty="0"/>
          </a:p>
        </p:txBody>
      </p:sp>
      <p:sp>
        <p:nvSpPr>
          <p:cNvPr id="16" name="Shape 14"/>
          <p:cNvSpPr/>
          <p:nvPr/>
        </p:nvSpPr>
        <p:spPr>
          <a:xfrm>
            <a:off x="548640" y="4389120"/>
            <a:ext cx="5394960" cy="1234440"/>
          </a:xfrm>
          <a:prstGeom prst="roundRect">
            <a:avLst>
              <a:gd name="adj" fmla="val 8889"/>
            </a:avLst>
          </a:prstGeom>
          <a:solidFill>
            <a:srgbClr val="F7F9FB"/>
          </a:solidFill>
          <a:ln w="12700">
            <a:solidFill>
              <a:srgbClr val="F7F9FB"/>
            </a:solidFill>
            <a:prstDash val="solid"/>
          </a:ln>
        </p:spPr>
      </p:sp>
      <p:sp>
        <p:nvSpPr>
          <p:cNvPr id="17" name="Text 15"/>
          <p:cNvSpPr txBox="1"/>
          <p:nvPr/>
        </p:nvSpPr>
        <p:spPr>
          <a:xfrm>
            <a:off x="777240" y="4526280"/>
            <a:ext cx="4937760" cy="365760"/>
          </a:xfrm>
          <a:prstGeom prst="rect">
            <a:avLst/>
          </a:prstGeom>
          <a:noFill/>
          <a:ln/>
        </p:spPr>
        <p:txBody>
          <a:bodyPr wrap="square" lIns="0" tIns="0" rIns="0" bIns="0" rtlCol="0" anchor="t"/>
          <a:lstStyle/>
          <a:p>
            <a:pPr indent="0" marL="0">
              <a:buNone/>
            </a:pPr>
            <a:r>
              <a:rPr lang="en-US" sz="1500" b="1" dirty="0">
                <a:solidFill>
                  <a:srgbClr val="E2711D"/>
                </a:solidFill>
                <a:latin typeface="Hiragino Sans" pitchFamily="34" charset="0"/>
                <a:ea typeface="Hiragino Sans" pitchFamily="34" charset="-122"/>
                <a:cs typeface="Hiragino Sans" pitchFamily="34" charset="-120"/>
              </a:rPr>
              <a:t>防災</a:t>
            </a:r>
            <a:endParaRPr lang="en-US" sz="1500" dirty="0"/>
          </a:p>
        </p:txBody>
      </p:sp>
      <p:sp>
        <p:nvSpPr>
          <p:cNvPr id="18" name="Text 16"/>
          <p:cNvSpPr txBox="1"/>
          <p:nvPr/>
        </p:nvSpPr>
        <p:spPr>
          <a:xfrm>
            <a:off x="777240" y="4892040"/>
            <a:ext cx="4937760" cy="685800"/>
          </a:xfrm>
          <a:prstGeom prst="rect">
            <a:avLst/>
          </a:prstGeom>
          <a:noFill/>
          <a:ln/>
        </p:spPr>
        <p:txBody>
          <a:bodyPr wrap="square" lIns="0" tIns="0" rIns="0" bIns="0" rtlCol="0" anchor="t"/>
          <a:lstStyle/>
          <a:p>
            <a:pPr indent="0" marL="0">
              <a:buNone/>
            </a:pPr>
            <a:r>
              <a:rPr lang="en-US" sz="1200" dirty="0">
                <a:solidFill>
                  <a:srgbClr val="0F2A44"/>
                </a:solidFill>
                <a:latin typeface="Hiragino Sans" pitchFamily="34" charset="0"/>
                <a:ea typeface="Hiragino Sans" pitchFamily="34" charset="-122"/>
                <a:cs typeface="Hiragino Sans" pitchFamily="34" charset="-120"/>
              </a:rPr>
              <a:t>警報・注意報の市町村一覧、見出し文。足すなら: 発表の記録(履歴は公開されないので自前で保存)</a:t>
            </a:r>
            <a:endParaRPr lang="en-US" sz="1200" dirty="0"/>
          </a:p>
        </p:txBody>
      </p:sp>
      <p:sp>
        <p:nvSpPr>
          <p:cNvPr id="19" name="Shape 17"/>
          <p:cNvSpPr/>
          <p:nvPr/>
        </p:nvSpPr>
        <p:spPr>
          <a:xfrm>
            <a:off x="6217920" y="4389120"/>
            <a:ext cx="5394960" cy="1234440"/>
          </a:xfrm>
          <a:prstGeom prst="roundRect">
            <a:avLst>
              <a:gd name="adj" fmla="val 8889"/>
            </a:avLst>
          </a:prstGeom>
          <a:solidFill>
            <a:srgbClr val="F7F9FB"/>
          </a:solidFill>
          <a:ln w="12700">
            <a:solidFill>
              <a:srgbClr val="F7F9FB"/>
            </a:solidFill>
            <a:prstDash val="solid"/>
          </a:ln>
        </p:spPr>
      </p:sp>
      <p:sp>
        <p:nvSpPr>
          <p:cNvPr id="20" name="Text 18"/>
          <p:cNvSpPr txBox="1"/>
          <p:nvPr/>
        </p:nvSpPr>
        <p:spPr>
          <a:xfrm>
            <a:off x="6446520" y="4526280"/>
            <a:ext cx="4937760" cy="365760"/>
          </a:xfrm>
          <a:prstGeom prst="rect">
            <a:avLst/>
          </a:prstGeom>
          <a:noFill/>
          <a:ln/>
        </p:spPr>
        <p:txBody>
          <a:bodyPr wrap="square" lIns="0" tIns="0" rIns="0" bIns="0" rtlCol="0" anchor="t"/>
          <a:lstStyle/>
          <a:p>
            <a:pPr indent="0" marL="0">
              <a:buNone/>
            </a:pPr>
            <a:r>
              <a:rPr lang="en-US" sz="1500" b="1" dirty="0">
                <a:solidFill>
                  <a:srgbClr val="E2711D"/>
                </a:solidFill>
                <a:latin typeface="Hiragino Sans" pitchFamily="34" charset="0"/>
                <a:ea typeface="Hiragino Sans" pitchFamily="34" charset="-122"/>
                <a:cs typeface="Hiragino Sans" pitchFamily="34" charset="-120"/>
              </a:rPr>
              <a:t>気象データアナリスト</a:t>
            </a:r>
            <a:endParaRPr lang="en-US" sz="1500" dirty="0"/>
          </a:p>
        </p:txBody>
      </p:sp>
      <p:sp>
        <p:nvSpPr>
          <p:cNvPr id="21" name="Text 19"/>
          <p:cNvSpPr txBox="1"/>
          <p:nvPr/>
        </p:nvSpPr>
        <p:spPr>
          <a:xfrm>
            <a:off x="6446520" y="4892040"/>
            <a:ext cx="4937760" cy="685800"/>
          </a:xfrm>
          <a:prstGeom prst="rect">
            <a:avLst/>
          </a:prstGeom>
          <a:noFill/>
          <a:ln/>
        </p:spPr>
        <p:txBody>
          <a:bodyPr wrap="square" lIns="0" tIns="0" rIns="0" bIns="0" rtlCol="0" anchor="t"/>
          <a:lstStyle/>
          <a:p>
            <a:pPr indent="0" marL="0">
              <a:buNone/>
            </a:pPr>
            <a:r>
              <a:rPr lang="en-US" sz="1200" dirty="0">
                <a:solidFill>
                  <a:srgbClr val="0F2A44"/>
                </a:solidFill>
                <a:latin typeface="Hiragino Sans" pitchFamily="34" charset="0"/>
                <a:ea typeface="Hiragino Sans" pitchFamily="34" charset="-122"/>
                <a:cs typeface="Hiragino Sans" pitchFamily="34" charset="-120"/>
              </a:rPr>
              <a:t>実況 vs 平年値。足すなら: 朝の予報を保存して夕方に実況と照合する Tool(予報検証の入口)</a:t>
            </a:r>
            <a:endParaRPr lang="en-US" sz="1200" dirty="0"/>
          </a:p>
        </p:txBody>
      </p:sp>
      <p:sp>
        <p:nvSpPr>
          <p:cNvPr id="22" name="Text 20"/>
          <p:cNvSpPr txBox="1"/>
          <p:nvPr/>
        </p:nvSpPr>
        <p:spPr>
          <a:xfrm>
            <a:off x="548640" y="5943600"/>
            <a:ext cx="11064240" cy="548640"/>
          </a:xfrm>
          <a:prstGeom prst="rect">
            <a:avLst/>
          </a:prstGeom>
          <a:noFill/>
          <a:ln/>
        </p:spPr>
        <p:txBody>
          <a:bodyPr wrap="square" lIns="0" tIns="0" rIns="0" bIns="0" rtlCol="0" anchor="t"/>
          <a:lstStyle/>
          <a:p>
            <a:pPr indent="0" marL="0">
              <a:buNone/>
            </a:pPr>
            <a:r>
              <a:rPr lang="en-US" sz="1400" b="1" dirty="0">
                <a:solidFill>
                  <a:srgbClr val="0E2A47"/>
                </a:solidFill>
                <a:latin typeface="Hiragino Sans" pitchFamily="34" charset="0"/>
                <a:ea typeface="Hiragino Sans" pitchFamily="34" charset="-122"/>
                <a:cs typeface="Hiragino Sans" pitchFamily="34" charset="-120"/>
              </a:rPr>
              <a:t>意見交換のたたき台: 普段使う ChatGPT / Claude と比べて、手元の LLM + Tool が向く場面はあるか。あるとすれば、どのデータを Tool にするか</a:t>
            </a:r>
            <a:endParaRPr lang="en-US" sz="1400" dirty="0"/>
          </a:p>
        </p:txBody>
      </p:sp>
      <p:sp>
        <p:nvSpPr>
          <p:cNvPr id="24" name="Text 21"/>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29</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t"/>
          <a:lstStyle/>
          <a:p>
            <a:pPr indent="0" marL="0">
              <a:buNone/>
            </a:pPr>
            <a:r>
              <a:rPr lang="en-US" sz="2400" b="1" dirty="0">
                <a:solidFill>
                  <a:srgbClr val="0E2A47"/>
                </a:solidFill>
                <a:latin typeface="Hiragino Sans" pitchFamily="34" charset="0"/>
                <a:ea typeface="Hiragino Sans" pitchFamily="34" charset="-122"/>
                <a:cs typeface="Hiragino Sans" pitchFamily="34" charset="-120"/>
              </a:rPr>
              <a:t>次にできること</a:t>
            </a:r>
            <a:endParaRPr lang="en-US" sz="2400" dirty="0"/>
          </a:p>
        </p:txBody>
      </p:sp>
      <p:sp>
        <p:nvSpPr>
          <p:cNvPr id="3" name="Text 1"/>
          <p:cNvSpPr txBox="1"/>
          <p:nvPr/>
        </p:nvSpPr>
        <p:spPr>
          <a:xfrm>
            <a:off x="548640" y="1005840"/>
            <a:ext cx="11064240" cy="365760"/>
          </a:xfrm>
          <a:prstGeom prst="rect">
            <a:avLst/>
          </a:prstGeom>
          <a:noFill/>
          <a:ln/>
        </p:spPr>
        <p:txBody>
          <a:bodyPr wrap="square" lIns="0" tIns="0" rIns="0" bIns="0" rtlCol="0" anchor="t"/>
          <a:lstStyle/>
          <a:p>
            <a:pPr indent="0" marL="0">
              <a:buNone/>
            </a:pPr>
            <a:r>
              <a:rPr lang="en-US" sz="1400" dirty="0">
                <a:solidFill>
                  <a:srgbClr val="5A6470"/>
                </a:solidFill>
                <a:latin typeface="Hiragino Sans" pitchFamily="34" charset="0"/>
                <a:ea typeface="Hiragino Sans" pitchFamily="34" charset="-122"/>
                <a:cs typeface="Hiragino Sans" pitchFamily="34" charset="-120"/>
              </a:rPr>
              <a:t>今回は見送ったが、Tool を足せば届くもの</a:t>
            </a:r>
            <a:endParaRPr lang="en-US" sz="1400" dirty="0"/>
          </a:p>
        </p:txBody>
      </p:sp>
      <p:sp>
        <p:nvSpPr>
          <p:cNvPr id="4" name="Shape 2"/>
          <p:cNvSpPr/>
          <p:nvPr/>
        </p:nvSpPr>
        <p:spPr>
          <a:xfrm>
            <a:off x="640080" y="1600200"/>
            <a:ext cx="384048" cy="384048"/>
          </a:xfrm>
          <a:prstGeom prst="ellipse">
            <a:avLst/>
          </a:prstGeom>
          <a:solidFill>
            <a:srgbClr val="16406A"/>
          </a:solidFill>
          <a:ln w="12700">
            <a:solidFill>
              <a:srgbClr val="16406A"/>
            </a:solidFill>
            <a:prstDash val="solid"/>
          </a:ln>
        </p:spPr>
      </p:sp>
      <p:sp>
        <p:nvSpPr>
          <p:cNvPr id="5" name="Text 3"/>
          <p:cNvSpPr txBox="1"/>
          <p:nvPr/>
        </p:nvSpPr>
        <p:spPr>
          <a:xfrm>
            <a:off x="640080" y="162763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1</a:t>
            </a:r>
            <a:endParaRPr lang="en-US" sz="1400" dirty="0"/>
          </a:p>
        </p:txBody>
      </p:sp>
      <p:sp>
        <p:nvSpPr>
          <p:cNvPr id="6" name="Text 4"/>
          <p:cNvSpPr txBox="1"/>
          <p:nvPr/>
        </p:nvSpPr>
        <p:spPr>
          <a:xfrm>
            <a:off x="1234440" y="1554480"/>
            <a:ext cx="3657600" cy="411480"/>
          </a:xfrm>
          <a:prstGeom prst="rect">
            <a:avLst/>
          </a:prstGeom>
          <a:noFill/>
          <a:ln/>
        </p:spPr>
        <p:txBody>
          <a:bodyPr wrap="square" lIns="0" tIns="0" rIns="0" bIns="0" rtlCol="0" anchor="t"/>
          <a:lstStyle/>
          <a:p>
            <a:pPr indent="0" marL="0">
              <a:buNone/>
            </a:pPr>
            <a:r>
              <a:rPr lang="en-US" sz="1500" b="1" dirty="0">
                <a:solidFill>
                  <a:srgbClr val="0E2A47"/>
                </a:solidFill>
                <a:latin typeface="Hiragino Sans" pitchFamily="34" charset="0"/>
                <a:ea typeface="Hiragino Sans" pitchFamily="34" charset="-122"/>
                <a:cs typeface="Hiragino Sans" pitchFamily="34" charset="-120"/>
              </a:rPr>
              <a:t>予報を記録する Tool</a:t>
            </a:r>
            <a:endParaRPr lang="en-US" sz="1500" dirty="0"/>
          </a:p>
        </p:txBody>
      </p:sp>
      <p:sp>
        <p:nvSpPr>
          <p:cNvPr id="7" name="Text 5"/>
          <p:cNvSpPr txBox="1"/>
          <p:nvPr/>
        </p:nvSpPr>
        <p:spPr>
          <a:xfrm>
            <a:off x="1234440" y="1938528"/>
            <a:ext cx="10332720" cy="502920"/>
          </a:xfrm>
          <a:prstGeom prst="rect">
            <a:avLst/>
          </a:prstGeom>
          <a:noFill/>
          <a:ln/>
        </p:spPr>
        <p:txBody>
          <a:bodyPr wrap="square" lIns="0" tIns="0" rIns="0" bIns="0" rtlCol="0" anchor="t"/>
          <a:lstStyle/>
          <a:p>
            <a:pPr indent="0" marL="0">
              <a:buNone/>
            </a:pPr>
            <a:r>
              <a:rPr lang="en-US" sz="1200" dirty="0">
                <a:solidFill>
                  <a:srgbClr val="0F2A44"/>
                </a:solidFill>
                <a:latin typeface="Hiragino Sans" pitchFamily="34" charset="0"/>
                <a:ea typeface="Hiragino Sans" pitchFamily="34" charset="-122"/>
                <a:cs typeface="Hiragino Sans" pitchFamily="34" charset="-120"/>
              </a:rPr>
              <a:t>気象庁の公開データは最新版だけ。朝の発表を毎日保存すれば「予報と実況の照合」「予報の当たり外れ」が自前でできる</a:t>
            </a:r>
            <a:endParaRPr lang="en-US" sz="1200" dirty="0"/>
          </a:p>
        </p:txBody>
      </p:sp>
      <p:sp>
        <p:nvSpPr>
          <p:cNvPr id="8" name="Shape 6"/>
          <p:cNvSpPr/>
          <p:nvPr/>
        </p:nvSpPr>
        <p:spPr>
          <a:xfrm>
            <a:off x="640080" y="2514600"/>
            <a:ext cx="384048" cy="384048"/>
          </a:xfrm>
          <a:prstGeom prst="ellipse">
            <a:avLst/>
          </a:prstGeom>
          <a:solidFill>
            <a:srgbClr val="16406A"/>
          </a:solidFill>
          <a:ln w="12700">
            <a:solidFill>
              <a:srgbClr val="16406A"/>
            </a:solidFill>
            <a:prstDash val="solid"/>
          </a:ln>
        </p:spPr>
      </p:sp>
      <p:sp>
        <p:nvSpPr>
          <p:cNvPr id="9" name="Text 7"/>
          <p:cNvSpPr txBox="1"/>
          <p:nvPr/>
        </p:nvSpPr>
        <p:spPr>
          <a:xfrm>
            <a:off x="640080" y="254203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2</a:t>
            </a:r>
            <a:endParaRPr lang="en-US" sz="1400" dirty="0"/>
          </a:p>
        </p:txBody>
      </p:sp>
      <p:sp>
        <p:nvSpPr>
          <p:cNvPr id="10" name="Text 8"/>
          <p:cNvSpPr txBox="1"/>
          <p:nvPr/>
        </p:nvSpPr>
        <p:spPr>
          <a:xfrm>
            <a:off x="1234440" y="2468880"/>
            <a:ext cx="3657600" cy="411480"/>
          </a:xfrm>
          <a:prstGeom prst="rect">
            <a:avLst/>
          </a:prstGeom>
          <a:noFill/>
          <a:ln/>
        </p:spPr>
        <p:txBody>
          <a:bodyPr wrap="square" lIns="0" tIns="0" rIns="0" bIns="0" rtlCol="0" anchor="t"/>
          <a:lstStyle/>
          <a:p>
            <a:pPr indent="0" marL="0">
              <a:buNone/>
            </a:pPr>
            <a:r>
              <a:rPr lang="en-US" sz="1500" b="1" dirty="0">
                <a:solidFill>
                  <a:srgbClr val="0E2A47"/>
                </a:solidFill>
                <a:latin typeface="Hiragino Sans" pitchFamily="34" charset="0"/>
                <a:ea typeface="Hiragino Sans" pitchFamily="34" charset="-122"/>
                <a:cs typeface="Hiragino Sans" pitchFamily="34" charset="-120"/>
              </a:rPr>
              <a:t>地点指定・海外モデル</a:t>
            </a:r>
            <a:endParaRPr lang="en-US" sz="1500" dirty="0"/>
          </a:p>
        </p:txBody>
      </p:sp>
      <p:sp>
        <p:nvSpPr>
          <p:cNvPr id="11" name="Text 9"/>
          <p:cNvSpPr txBox="1"/>
          <p:nvPr/>
        </p:nvSpPr>
        <p:spPr>
          <a:xfrm>
            <a:off x="1234440" y="2852928"/>
            <a:ext cx="10332720" cy="502920"/>
          </a:xfrm>
          <a:prstGeom prst="rect">
            <a:avLst/>
          </a:prstGeom>
          <a:noFill/>
          <a:ln/>
        </p:spPr>
        <p:txBody>
          <a:bodyPr wrap="square" lIns="0" tIns="0" rIns="0" bIns="0" rtlCol="0" anchor="t"/>
          <a:lstStyle/>
          <a:p>
            <a:pPr indent="0" marL="0">
              <a:buNone/>
            </a:pPr>
            <a:r>
              <a:rPr lang="en-US" sz="1200" dirty="0">
                <a:solidFill>
                  <a:srgbClr val="0F2A44"/>
                </a:solidFill>
                <a:latin typeface="Hiragino Sans" pitchFamily="34" charset="0"/>
                <a:ea typeface="Hiragino Sans" pitchFamily="34" charset="-122"/>
                <a:cs typeface="Hiragino Sans" pitchFamily="34" charset="-120"/>
              </a:rPr>
              <a:t>Open-Meteo(無料・キー不要)を Tool にすれば、緯度経度・標高で予報が取れ、ECMWF の IFS と AIFS(AI 予報モデル)の比較もできる → 領域2 への橋</a:t>
            </a:r>
            <a:endParaRPr lang="en-US" sz="1200" dirty="0"/>
          </a:p>
        </p:txBody>
      </p:sp>
      <p:sp>
        <p:nvSpPr>
          <p:cNvPr id="12" name="Shape 10"/>
          <p:cNvSpPr/>
          <p:nvPr/>
        </p:nvSpPr>
        <p:spPr>
          <a:xfrm>
            <a:off x="640080" y="3429000"/>
            <a:ext cx="384048" cy="384048"/>
          </a:xfrm>
          <a:prstGeom prst="ellipse">
            <a:avLst/>
          </a:prstGeom>
          <a:solidFill>
            <a:srgbClr val="16406A"/>
          </a:solidFill>
          <a:ln w="12700">
            <a:solidFill>
              <a:srgbClr val="16406A"/>
            </a:solidFill>
            <a:prstDash val="solid"/>
          </a:ln>
        </p:spPr>
      </p:sp>
      <p:sp>
        <p:nvSpPr>
          <p:cNvPr id="13" name="Text 11"/>
          <p:cNvSpPr txBox="1"/>
          <p:nvPr/>
        </p:nvSpPr>
        <p:spPr>
          <a:xfrm>
            <a:off x="640080" y="345643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3</a:t>
            </a:r>
            <a:endParaRPr lang="en-US" sz="1400" dirty="0"/>
          </a:p>
        </p:txBody>
      </p:sp>
      <p:sp>
        <p:nvSpPr>
          <p:cNvPr id="14" name="Text 12"/>
          <p:cNvSpPr txBox="1"/>
          <p:nvPr/>
        </p:nvSpPr>
        <p:spPr>
          <a:xfrm>
            <a:off x="1234440" y="3383280"/>
            <a:ext cx="3657600" cy="411480"/>
          </a:xfrm>
          <a:prstGeom prst="rect">
            <a:avLst/>
          </a:prstGeom>
          <a:noFill/>
          <a:ln/>
        </p:spPr>
        <p:txBody>
          <a:bodyPr wrap="square" lIns="0" tIns="0" rIns="0" bIns="0" rtlCol="0" anchor="t"/>
          <a:lstStyle/>
          <a:p>
            <a:pPr indent="0" marL="0">
              <a:buNone/>
            </a:pPr>
            <a:r>
              <a:rPr lang="en-US" sz="1500" b="1" dirty="0">
                <a:solidFill>
                  <a:srgbClr val="0E2A47"/>
                </a:solidFill>
                <a:latin typeface="Hiragino Sans" pitchFamily="34" charset="0"/>
                <a:ea typeface="Hiragino Sans" pitchFamily="34" charset="-122"/>
                <a:cs typeface="Hiragino Sans" pitchFamily="34" charset="-120"/>
              </a:rPr>
              <a:t>モデル比較の評価</a:t>
            </a:r>
            <a:endParaRPr lang="en-US" sz="1500" dirty="0"/>
          </a:p>
        </p:txBody>
      </p:sp>
      <p:sp>
        <p:nvSpPr>
          <p:cNvPr id="15" name="Text 13"/>
          <p:cNvSpPr txBox="1"/>
          <p:nvPr/>
        </p:nvSpPr>
        <p:spPr>
          <a:xfrm>
            <a:off x="1234440" y="3767328"/>
            <a:ext cx="10332720" cy="502920"/>
          </a:xfrm>
          <a:prstGeom prst="rect">
            <a:avLst/>
          </a:prstGeom>
          <a:noFill/>
          <a:ln/>
        </p:spPr>
        <p:txBody>
          <a:bodyPr wrap="square" lIns="0" tIns="0" rIns="0" bIns="0" rtlCol="0" anchor="t"/>
          <a:lstStyle/>
          <a:p>
            <a:pPr indent="0" marL="0">
              <a:buNone/>
            </a:pPr>
            <a:r>
              <a:rPr lang="en-US" sz="1200" dirty="0">
                <a:solidFill>
                  <a:srgbClr val="0F2A44"/>
                </a:solidFill>
                <a:latin typeface="Hiragino Sans" pitchFamily="34" charset="0"/>
                <a:ea typeface="Hiragino Sans" pitchFamily="34" charset="-122"/>
                <a:cs typeface="Hiragino Sans" pitchFamily="34" charset="-120"/>
              </a:rPr>
              <a:t>今日の弱点を突く質問セットを 4B / 8B / 14B / 30B-A3B × 思考 ON/OFF で回し、「どのサイズでどこまで」を表にする。A100 級なら 4 モデル同時に載る</a:t>
            </a:r>
            <a:endParaRPr lang="en-US" sz="1200" dirty="0"/>
          </a:p>
        </p:txBody>
      </p:sp>
      <p:sp>
        <p:nvSpPr>
          <p:cNvPr id="16" name="Shape 14"/>
          <p:cNvSpPr/>
          <p:nvPr/>
        </p:nvSpPr>
        <p:spPr>
          <a:xfrm>
            <a:off x="640080" y="4343400"/>
            <a:ext cx="384048" cy="384048"/>
          </a:xfrm>
          <a:prstGeom prst="ellipse">
            <a:avLst/>
          </a:prstGeom>
          <a:solidFill>
            <a:srgbClr val="16406A"/>
          </a:solidFill>
          <a:ln w="12700">
            <a:solidFill>
              <a:srgbClr val="16406A"/>
            </a:solidFill>
            <a:prstDash val="solid"/>
          </a:ln>
        </p:spPr>
      </p:sp>
      <p:sp>
        <p:nvSpPr>
          <p:cNvPr id="17" name="Text 15"/>
          <p:cNvSpPr txBox="1"/>
          <p:nvPr/>
        </p:nvSpPr>
        <p:spPr>
          <a:xfrm>
            <a:off x="640080" y="437083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4</a:t>
            </a:r>
            <a:endParaRPr lang="en-US" sz="1400" dirty="0"/>
          </a:p>
        </p:txBody>
      </p:sp>
      <p:sp>
        <p:nvSpPr>
          <p:cNvPr id="18" name="Text 16"/>
          <p:cNvSpPr txBox="1"/>
          <p:nvPr/>
        </p:nvSpPr>
        <p:spPr>
          <a:xfrm>
            <a:off x="1234440" y="4297680"/>
            <a:ext cx="3657600" cy="411480"/>
          </a:xfrm>
          <a:prstGeom prst="rect">
            <a:avLst/>
          </a:prstGeom>
          <a:noFill/>
          <a:ln/>
        </p:spPr>
        <p:txBody>
          <a:bodyPr wrap="square" lIns="0" tIns="0" rIns="0" bIns="0" rtlCol="0" anchor="t"/>
          <a:lstStyle/>
          <a:p>
            <a:pPr indent="0" marL="0">
              <a:buNone/>
            </a:pPr>
            <a:r>
              <a:rPr lang="en-US" sz="1500" b="1" dirty="0">
                <a:solidFill>
                  <a:srgbClr val="0E2A47"/>
                </a:solidFill>
                <a:latin typeface="Hiragino Sans" pitchFamily="34" charset="0"/>
                <a:ea typeface="Hiragino Sans" pitchFamily="34" charset="-122"/>
                <a:cs typeface="Hiragino Sans" pitchFamily="34" charset="-120"/>
              </a:rPr>
              <a:t>チャット画面</a:t>
            </a:r>
            <a:endParaRPr lang="en-US" sz="1500" dirty="0"/>
          </a:p>
        </p:txBody>
      </p:sp>
      <p:sp>
        <p:nvSpPr>
          <p:cNvPr id="19" name="Text 17"/>
          <p:cNvSpPr txBox="1"/>
          <p:nvPr/>
        </p:nvSpPr>
        <p:spPr>
          <a:xfrm>
            <a:off x="1234440" y="4681728"/>
            <a:ext cx="10332720" cy="502920"/>
          </a:xfrm>
          <a:prstGeom prst="rect">
            <a:avLst/>
          </a:prstGeom>
          <a:noFill/>
          <a:ln/>
        </p:spPr>
        <p:txBody>
          <a:bodyPr wrap="square" lIns="0" tIns="0" rIns="0" bIns="0" rtlCol="0" anchor="t"/>
          <a:lstStyle/>
          <a:p>
            <a:pPr indent="0" marL="0">
              <a:buNone/>
            </a:pPr>
            <a:r>
              <a:rPr lang="en-US" sz="1200" dirty="0">
                <a:solidFill>
                  <a:srgbClr val="0F2A44"/>
                </a:solidFill>
                <a:latin typeface="Hiragino Sans" pitchFamily="34" charset="0"/>
                <a:ea typeface="Hiragino Sans" pitchFamily="34" charset="-122"/>
                <a:cs typeface="Hiragino Sans" pitchFamily="34" charset="-120"/>
              </a:rPr>
              <a:t>Gradio でノートブック内にチャット UI。「アプリ」らしさは上がるが、ログを見せる工夫が要る</a:t>
            </a:r>
            <a:endParaRPr lang="en-US" sz="1200" dirty="0"/>
          </a:p>
        </p:txBody>
      </p:sp>
      <p:sp>
        <p:nvSpPr>
          <p:cNvPr id="20" name="Shape 18"/>
          <p:cNvSpPr/>
          <p:nvPr/>
        </p:nvSpPr>
        <p:spPr>
          <a:xfrm>
            <a:off x="640080" y="5257800"/>
            <a:ext cx="384048" cy="384048"/>
          </a:xfrm>
          <a:prstGeom prst="ellipse">
            <a:avLst/>
          </a:prstGeom>
          <a:solidFill>
            <a:srgbClr val="16406A"/>
          </a:solidFill>
          <a:ln w="12700">
            <a:solidFill>
              <a:srgbClr val="16406A"/>
            </a:solidFill>
            <a:prstDash val="solid"/>
          </a:ln>
        </p:spPr>
      </p:sp>
      <p:sp>
        <p:nvSpPr>
          <p:cNvPr id="21" name="Text 19"/>
          <p:cNvSpPr txBox="1"/>
          <p:nvPr/>
        </p:nvSpPr>
        <p:spPr>
          <a:xfrm>
            <a:off x="640080" y="528523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5</a:t>
            </a:r>
            <a:endParaRPr lang="en-US" sz="1400" dirty="0"/>
          </a:p>
        </p:txBody>
      </p:sp>
      <p:sp>
        <p:nvSpPr>
          <p:cNvPr id="22" name="Text 20"/>
          <p:cNvSpPr txBox="1"/>
          <p:nvPr/>
        </p:nvSpPr>
        <p:spPr>
          <a:xfrm>
            <a:off x="1234440" y="5212080"/>
            <a:ext cx="3657600" cy="411480"/>
          </a:xfrm>
          <a:prstGeom prst="rect">
            <a:avLst/>
          </a:prstGeom>
          <a:noFill/>
          <a:ln/>
        </p:spPr>
        <p:txBody>
          <a:bodyPr wrap="square" lIns="0" tIns="0" rIns="0" bIns="0" rtlCol="0" anchor="t"/>
          <a:lstStyle/>
          <a:p>
            <a:pPr indent="0" marL="0">
              <a:buNone/>
            </a:pPr>
            <a:r>
              <a:rPr lang="en-US" sz="1500" b="1" dirty="0">
                <a:solidFill>
                  <a:srgbClr val="0E2A47"/>
                </a:solidFill>
                <a:latin typeface="Hiragino Sans" pitchFamily="34" charset="0"/>
                <a:ea typeface="Hiragino Sans" pitchFamily="34" charset="-122"/>
                <a:cs typeface="Hiragino Sans" pitchFamily="34" charset="-120"/>
              </a:rPr>
              <a:t>有料 API への置き換え</a:t>
            </a:r>
            <a:endParaRPr lang="en-US" sz="1500" dirty="0"/>
          </a:p>
        </p:txBody>
      </p:sp>
      <p:sp>
        <p:nvSpPr>
          <p:cNvPr id="23" name="Text 21"/>
          <p:cNvSpPr txBox="1"/>
          <p:nvPr/>
        </p:nvSpPr>
        <p:spPr>
          <a:xfrm>
            <a:off x="1234440" y="5596128"/>
            <a:ext cx="10332720" cy="502920"/>
          </a:xfrm>
          <a:prstGeom prst="rect">
            <a:avLst/>
          </a:prstGeom>
          <a:noFill/>
          <a:ln/>
        </p:spPr>
        <p:txBody>
          <a:bodyPr wrap="square" lIns="0" tIns="0" rIns="0" bIns="0" rtlCol="0" anchor="t"/>
          <a:lstStyle/>
          <a:p>
            <a:pPr indent="0" marL="0">
              <a:buNone/>
            </a:pPr>
            <a:r>
              <a:rPr lang="en-US" sz="1200" dirty="0">
                <a:solidFill>
                  <a:srgbClr val="0F2A44"/>
                </a:solidFill>
                <a:latin typeface="Hiragino Sans" pitchFamily="34" charset="0"/>
                <a:ea typeface="Hiragino Sans" pitchFamily="34" charset="-122"/>
                <a:cs typeface="Hiragino Sans" pitchFamily="34" charset="-120"/>
              </a:rPr>
              <a:t>Claude / GPT の API なら同じ Tool 定義でより安定。無料・ローカルの制約を外したときの上限を知る</a:t>
            </a:r>
            <a:endParaRPr lang="en-US" sz="1200" dirty="0"/>
          </a:p>
        </p:txBody>
      </p:sp>
      <p:sp>
        <p:nvSpPr>
          <p:cNvPr id="24" name="Text 22"/>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30</a:t>
            </a:r>
            <a:endParaRPr lang="en-US" sz="1000" dirty="0"/>
          </a:p>
        </p:txBody>
      </p:sp>
      <p:sp>
        <p:nvSpPr>
          <p:cNvPr id="9003" name="footer"/>
          <p:cNvSpPr txBox="1"/>
          <p:nvPr/>
        </p:nvSpPr>
        <p:spPr>
          <a:xfrm>
            <a:off x="548640" y="6473952"/>
            <a:ext cx="8229600" cy="274320"/>
          </a:xfrm>
          <a:prstGeom prst="rect">
            <a:avLst/>
          </a:prstGeom>
          <a:noFill/>
        </p:spPr>
        <p:txBody>
          <a:bodyPr wrap="square" lIns="0" tIns="0" rIns="0" bIns="0" anchor="t"/>
          <a:lstStyle/>
          <a:p>
            <a:r>
              <a:rPr lang="ja-JP" sz="900" dirty="0">
                <a:solidFill>
                  <a:srgbClr val="5A6470"/>
                </a:solidFill>
                <a:latin typeface="Hiragino Sans"/>
                <a:ea typeface="Hiragino Sans"/>
              </a:rPr>
              <a:t>WDAC AI研究ラボWT 第2回 | 2026-10-04 | 話題提供 (1) 気象 × 生成AI活用の研究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2A47"/>
        </a:solidFill>
      </p:bgPr>
    </p:bg>
    <p:spTree>
      <p:nvGrpSpPr>
        <p:cNvPr id="1" name=""/>
        <p:cNvGrpSpPr/>
        <p:nvPr/>
      </p:nvGrpSpPr>
      <p:grpSpPr>
        <a:xfrm>
          <a:off x="0" y="0"/>
          <a:ext cx="0" cy="0"/>
          <a:chOff x="0" y="0"/>
          <a:chExt cx="0" cy="0"/>
        </a:xfrm>
      </p:grpSpPr>
      <p:sp>
        <p:nvSpPr>
          <p:cNvPr id="9001" name="deco9001"/>
          <p:cNvSpPr/>
          <p:nvPr/>
        </p:nvSpPr>
        <p:spPr>
          <a:xfrm>
            <a:off x="-1828800" y="-2377440"/>
            <a:ext cx="5486400" cy="5486400"/>
          </a:xfrm>
          <a:prstGeom prst="ellipse">
            <a:avLst/>
          </a:prstGeom>
          <a:solidFill>
            <a:srgbClr val="16406A"/>
          </a:solidFill>
          <a:ln>
            <a:noFill/>
          </a:ln>
        </p:spPr>
        <p:txBody>
          <a:bodyPr/>
          <a:lstStyle/>
          <a:p>
            <a:endParaRPr lang="en-US"/>
          </a:p>
        </p:txBody>
      </p:sp>
      <p:sp>
        <p:nvSpPr>
          <p:cNvPr id="9002" name="deco9002"/>
          <p:cNvSpPr/>
          <p:nvPr/>
        </p:nvSpPr>
        <p:spPr>
          <a:xfrm>
            <a:off x="8961120" y="3840480"/>
            <a:ext cx="4937760" cy="4937760"/>
          </a:xfrm>
          <a:prstGeom prst="ellipse">
            <a:avLst/>
          </a:prstGeom>
          <a:solidFill>
            <a:srgbClr val="16406A"/>
          </a:solidFill>
          <a:ln>
            <a:noFill/>
          </a:ln>
        </p:spPr>
        <p:txBody>
          <a:bodyPr/>
          <a:lstStyle/>
          <a:p>
            <a:endParaRPr lang="en-US"/>
          </a:p>
        </p:txBody>
      </p:sp>
      <p:sp>
        <p:nvSpPr>
          <p:cNvPr id="2" name="Text 0"/>
          <p:cNvSpPr txBox="1"/>
          <p:nvPr/>
        </p:nvSpPr>
        <p:spPr>
          <a:xfrm>
            <a:off x="731520" y="548640"/>
            <a:ext cx="10789920" cy="731520"/>
          </a:xfrm>
          <a:prstGeom prst="rect">
            <a:avLst/>
          </a:prstGeom>
          <a:noFill/>
          <a:ln/>
        </p:spPr>
        <p:txBody>
          <a:bodyPr wrap="square" lIns="0" tIns="0" rIns="0" bIns="0" rtlCol="0" anchor="t"/>
          <a:lstStyle/>
          <a:p>
            <a:pPr indent="0" marL="0">
              <a:buNone/>
            </a:pPr>
            <a:r>
              <a:rPr lang="en-US" sz="3000" b="1" dirty="0">
                <a:solidFill>
                  <a:srgbClr val="FFFFFF"/>
                </a:solidFill>
                <a:latin typeface="Hiragino Sans" pitchFamily="34" charset="0"/>
                <a:ea typeface="Hiragino Sans" pitchFamily="34" charset="-122"/>
                <a:cs typeface="Hiragino Sans" pitchFamily="34" charset="-120"/>
              </a:rPr>
              <a:t>まとめ</a:t>
            </a:r>
            <a:endParaRPr lang="en-US" sz="3000" dirty="0"/>
          </a:p>
        </p:txBody>
      </p:sp>
      <p:sp>
        <p:nvSpPr>
          <p:cNvPr id="3" name="Shape 1"/>
          <p:cNvSpPr/>
          <p:nvPr/>
        </p:nvSpPr>
        <p:spPr>
          <a:xfrm>
            <a:off x="731520" y="1508760"/>
            <a:ext cx="384048" cy="384048"/>
          </a:xfrm>
          <a:prstGeom prst="ellipse">
            <a:avLst/>
          </a:prstGeom>
          <a:solidFill>
            <a:srgbClr val="E2711D"/>
          </a:solidFill>
          <a:ln w="12700">
            <a:solidFill>
              <a:srgbClr val="E2711D"/>
            </a:solidFill>
            <a:prstDash val="solid"/>
          </a:ln>
        </p:spPr>
      </p:sp>
      <p:sp>
        <p:nvSpPr>
          <p:cNvPr id="4" name="Text 2"/>
          <p:cNvSpPr txBox="1"/>
          <p:nvPr/>
        </p:nvSpPr>
        <p:spPr>
          <a:xfrm>
            <a:off x="731520" y="153619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1</a:t>
            </a:r>
            <a:endParaRPr lang="en-US" sz="1400" dirty="0"/>
          </a:p>
        </p:txBody>
      </p:sp>
      <p:sp>
        <p:nvSpPr>
          <p:cNvPr id="5" name="Text 3"/>
          <p:cNvSpPr txBox="1"/>
          <p:nvPr/>
        </p:nvSpPr>
        <p:spPr>
          <a:xfrm>
            <a:off x="1325880" y="1463040"/>
            <a:ext cx="10241280" cy="868680"/>
          </a:xfrm>
          <a:prstGeom prst="rect">
            <a:avLst/>
          </a:prstGeom>
          <a:noFill/>
          <a:ln/>
        </p:spPr>
        <p:txBody>
          <a:bodyPr wrap="square" lIns="0" tIns="0" rIns="0" bIns="0" rtlCol="0" anchor="t"/>
          <a:lstStyle/>
          <a:p>
            <a:pPr indent="0" marL="0">
              <a:buNone/>
            </a:pPr>
            <a:r>
              <a:rPr lang="en-US" sz="1500" b="1" dirty="0">
                <a:solidFill>
                  <a:srgbClr val="FFFFFF"/>
                </a:solidFill>
                <a:latin typeface="Hiragino Sans" pitchFamily="34" charset="0"/>
                <a:ea typeface="Hiragino Sans" pitchFamily="34" charset="-122"/>
                <a:cs typeface="Hiragino Sans" pitchFamily="34" charset="-120"/>
              </a:rPr>
              <a:t>手元で動く LLM 単体は最新の天気を知らない。</a:t>
            </a:r>
            <a:pPr indent="0" marL="0">
              <a:buNone/>
            </a:pPr>
            <a:r>
              <a:rPr lang="en-US" sz="1500" dirty="0">
                <a:solidFill>
                  <a:srgbClr val="C9D2DE"/>
                </a:solidFill>
                <a:latin typeface="Hiragino Sans" pitchFamily="34" charset="0"/>
                <a:ea typeface="Hiragino Sans" pitchFamily="34" charset="-122"/>
                <a:cs typeface="Hiragino Sans" pitchFamily="34" charset="-120"/>
              </a:rPr>
              <a:t> ChatGPT 等は裏で検索 Tool が働いている。Tool(関数)を渡すと公式データを取りに行って答えるようになり、16 問中 11 問が期待どおり・3 問が課題あり・1 問が誤答(対策済み)</a:t>
            </a:r>
            <a:endParaRPr lang="en-US" sz="1500" dirty="0"/>
          </a:p>
        </p:txBody>
      </p:sp>
      <p:sp>
        <p:nvSpPr>
          <p:cNvPr id="6" name="Shape 4"/>
          <p:cNvSpPr/>
          <p:nvPr/>
        </p:nvSpPr>
        <p:spPr>
          <a:xfrm>
            <a:off x="731520" y="2441448"/>
            <a:ext cx="384048" cy="384048"/>
          </a:xfrm>
          <a:prstGeom prst="ellipse">
            <a:avLst/>
          </a:prstGeom>
          <a:solidFill>
            <a:srgbClr val="E2711D"/>
          </a:solidFill>
          <a:ln w="12700">
            <a:solidFill>
              <a:srgbClr val="E2711D"/>
            </a:solidFill>
            <a:prstDash val="solid"/>
          </a:ln>
        </p:spPr>
      </p:sp>
      <p:sp>
        <p:nvSpPr>
          <p:cNvPr id="7" name="Text 5"/>
          <p:cNvSpPr txBox="1"/>
          <p:nvPr/>
        </p:nvSpPr>
        <p:spPr>
          <a:xfrm>
            <a:off x="731520" y="2468880"/>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2</a:t>
            </a:r>
            <a:endParaRPr lang="en-US" sz="1400" dirty="0"/>
          </a:p>
        </p:txBody>
      </p:sp>
      <p:sp>
        <p:nvSpPr>
          <p:cNvPr id="8" name="Text 6"/>
          <p:cNvSpPr txBox="1"/>
          <p:nvPr/>
        </p:nvSpPr>
        <p:spPr>
          <a:xfrm>
            <a:off x="1325880" y="2395728"/>
            <a:ext cx="10241280" cy="868680"/>
          </a:xfrm>
          <a:prstGeom prst="rect">
            <a:avLst/>
          </a:prstGeom>
          <a:noFill/>
          <a:ln/>
        </p:spPr>
        <p:txBody>
          <a:bodyPr wrap="square" lIns="0" tIns="0" rIns="0" bIns="0" rtlCol="0" anchor="t"/>
          <a:lstStyle/>
          <a:p>
            <a:pPr indent="0" marL="0">
              <a:buNone/>
            </a:pPr>
            <a:r>
              <a:rPr lang="en-US" sz="1500" b="1" dirty="0">
                <a:solidFill>
                  <a:srgbClr val="FFFFFF"/>
                </a:solidFill>
                <a:latin typeface="Hiragino Sans" pitchFamily="34" charset="0"/>
                <a:ea typeface="Hiragino Sans" pitchFamily="34" charset="-122"/>
                <a:cs typeface="Hiragino Sans" pitchFamily="34" charset="-120"/>
              </a:rPr>
              <a:t>Tool は Python 関数と説明文だけ。</a:t>
            </a:r>
            <a:pPr indent="0" marL="0">
              <a:buNone/>
            </a:pPr>
            <a:r>
              <a:rPr lang="en-US" sz="1500" dirty="0">
                <a:solidFill>
                  <a:srgbClr val="C9D2DE"/>
                </a:solidFill>
                <a:latin typeface="Hiragino Sans" pitchFamily="34" charset="0"/>
                <a:ea typeface="Hiragino Sans" pitchFamily="34" charset="-122"/>
                <a:cs typeface="Hiragino Sans" pitchFamily="34" charset="-120"/>
              </a:rPr>
              <a:t> 関数を足せば窓口が広がる。ChatGPT の「Web 検索」も、裏では同じ仕組み</a:t>
            </a:r>
            <a:endParaRPr lang="en-US" sz="1500" dirty="0"/>
          </a:p>
        </p:txBody>
      </p:sp>
      <p:sp>
        <p:nvSpPr>
          <p:cNvPr id="9" name="Shape 7"/>
          <p:cNvSpPr/>
          <p:nvPr/>
        </p:nvSpPr>
        <p:spPr>
          <a:xfrm>
            <a:off x="731520" y="3374136"/>
            <a:ext cx="384048" cy="384048"/>
          </a:xfrm>
          <a:prstGeom prst="ellipse">
            <a:avLst/>
          </a:prstGeom>
          <a:solidFill>
            <a:srgbClr val="E2711D"/>
          </a:solidFill>
          <a:ln w="12700">
            <a:solidFill>
              <a:srgbClr val="E2711D"/>
            </a:solidFill>
            <a:prstDash val="solid"/>
          </a:ln>
        </p:spPr>
      </p:sp>
      <p:sp>
        <p:nvSpPr>
          <p:cNvPr id="10" name="Text 8"/>
          <p:cNvSpPr txBox="1"/>
          <p:nvPr/>
        </p:nvSpPr>
        <p:spPr>
          <a:xfrm>
            <a:off x="731520" y="3401568"/>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3</a:t>
            </a:r>
            <a:endParaRPr lang="en-US" sz="1400" dirty="0"/>
          </a:p>
        </p:txBody>
      </p:sp>
      <p:sp>
        <p:nvSpPr>
          <p:cNvPr id="11" name="Text 9"/>
          <p:cNvSpPr txBox="1"/>
          <p:nvPr/>
        </p:nvSpPr>
        <p:spPr>
          <a:xfrm>
            <a:off x="1325880" y="3328416"/>
            <a:ext cx="10241280" cy="868680"/>
          </a:xfrm>
          <a:prstGeom prst="rect">
            <a:avLst/>
          </a:prstGeom>
          <a:noFill/>
          <a:ln/>
        </p:spPr>
        <p:txBody>
          <a:bodyPr wrap="square" lIns="0" tIns="0" rIns="0" bIns="0" rtlCol="0" anchor="t"/>
          <a:lstStyle/>
          <a:p>
            <a:pPr indent="0" marL="0">
              <a:buNone/>
            </a:pPr>
            <a:r>
              <a:rPr lang="en-US" sz="1500" b="1" dirty="0">
                <a:solidFill>
                  <a:srgbClr val="FFFFFF"/>
                </a:solidFill>
                <a:latin typeface="Hiragino Sans" pitchFamily="34" charset="0"/>
                <a:ea typeface="Hiragino Sans" pitchFamily="34" charset="-122"/>
                <a:cs typeface="Hiragino Sans" pitchFamily="34" charset="-120"/>
              </a:rPr>
              <a:t>LLM に任せるのは判断と文章、計算と取得は Python。</a:t>
            </a:r>
            <a:pPr indent="0" marL="0">
              <a:buNone/>
            </a:pPr>
            <a:r>
              <a:rPr lang="en-US" sz="1500" dirty="0">
                <a:solidFill>
                  <a:srgbClr val="C9D2DE"/>
                </a:solidFill>
                <a:latin typeface="Hiragino Sans" pitchFamily="34" charset="0"/>
                <a:ea typeface="Hiragino Sans" pitchFamily="34" charset="-122"/>
                <a:cs typeface="Hiragino Sans" pitchFamily="34" charset="-120"/>
              </a:rPr>
              <a:t> この線引きを守れば 8B でもだいたい動く。守らないと、暗算・表の走査・曖昧な基準で崩れる</a:t>
            </a:r>
            <a:endParaRPr lang="en-US" sz="1500" dirty="0"/>
          </a:p>
        </p:txBody>
      </p:sp>
      <p:sp>
        <p:nvSpPr>
          <p:cNvPr id="12" name="Shape 10"/>
          <p:cNvSpPr/>
          <p:nvPr/>
        </p:nvSpPr>
        <p:spPr>
          <a:xfrm>
            <a:off x="731520" y="4306824"/>
            <a:ext cx="384048" cy="384048"/>
          </a:xfrm>
          <a:prstGeom prst="ellipse">
            <a:avLst/>
          </a:prstGeom>
          <a:solidFill>
            <a:srgbClr val="E2711D"/>
          </a:solidFill>
          <a:ln w="12700">
            <a:solidFill>
              <a:srgbClr val="E2711D"/>
            </a:solidFill>
            <a:prstDash val="solid"/>
          </a:ln>
        </p:spPr>
      </p:sp>
      <p:sp>
        <p:nvSpPr>
          <p:cNvPr id="13" name="Text 11"/>
          <p:cNvSpPr txBox="1"/>
          <p:nvPr/>
        </p:nvSpPr>
        <p:spPr>
          <a:xfrm>
            <a:off x="731520" y="4334256"/>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4</a:t>
            </a:r>
            <a:endParaRPr lang="en-US" sz="1400" dirty="0"/>
          </a:p>
        </p:txBody>
      </p:sp>
      <p:sp>
        <p:nvSpPr>
          <p:cNvPr id="14" name="Text 12"/>
          <p:cNvSpPr txBox="1"/>
          <p:nvPr/>
        </p:nvSpPr>
        <p:spPr>
          <a:xfrm>
            <a:off x="1325880" y="4261104"/>
            <a:ext cx="10241280" cy="868680"/>
          </a:xfrm>
          <a:prstGeom prst="rect">
            <a:avLst/>
          </a:prstGeom>
          <a:noFill/>
          <a:ln/>
        </p:spPr>
        <p:txBody>
          <a:bodyPr wrap="square" lIns="0" tIns="0" rIns="0" bIns="0" rtlCol="0" anchor="t"/>
          <a:lstStyle/>
          <a:p>
            <a:pPr indent="0" marL="0">
              <a:buNone/>
            </a:pPr>
            <a:r>
              <a:rPr lang="en-US" sz="1500" b="1" dirty="0">
                <a:solidFill>
                  <a:srgbClr val="FFFFFF"/>
                </a:solidFill>
                <a:latin typeface="Hiragino Sans" pitchFamily="34" charset="0"/>
                <a:ea typeface="Hiragino Sans" pitchFamily="34" charset="-122"/>
                <a:cs typeface="Hiragino Sans" pitchFamily="34" charset="-120"/>
              </a:rPr>
              <a:t>LLM は Tool の出力を疑わない。</a:t>
            </a:r>
            <a:pPr indent="0" marL="0">
              <a:buNone/>
            </a:pPr>
            <a:r>
              <a:rPr lang="en-US" sz="1500" dirty="0">
                <a:solidFill>
                  <a:srgbClr val="C9D2DE"/>
                </a:solidFill>
                <a:latin typeface="Hiragino Sans" pitchFamily="34" charset="0"/>
                <a:ea typeface="Hiragino Sans" pitchFamily="34" charset="-122"/>
                <a:cs typeface="Hiragino Sans" pitchFamily="34" charset="-120"/>
              </a:rPr>
              <a:t> 検証すべきは Tool と元データ。回答文ではなくログを見る</a:t>
            </a:r>
            <a:endParaRPr lang="en-US" sz="1500" dirty="0"/>
          </a:p>
        </p:txBody>
      </p:sp>
      <p:sp>
        <p:nvSpPr>
          <p:cNvPr id="15" name="Shape 13"/>
          <p:cNvSpPr/>
          <p:nvPr/>
        </p:nvSpPr>
        <p:spPr>
          <a:xfrm>
            <a:off x="731520" y="5239512"/>
            <a:ext cx="384048" cy="384048"/>
          </a:xfrm>
          <a:prstGeom prst="ellipse">
            <a:avLst/>
          </a:prstGeom>
          <a:solidFill>
            <a:srgbClr val="E2711D"/>
          </a:solidFill>
          <a:ln w="12700">
            <a:solidFill>
              <a:srgbClr val="E2711D"/>
            </a:solidFill>
            <a:prstDash val="solid"/>
          </a:ln>
        </p:spPr>
      </p:sp>
      <p:sp>
        <p:nvSpPr>
          <p:cNvPr id="16" name="Text 14"/>
          <p:cNvSpPr txBox="1"/>
          <p:nvPr/>
        </p:nvSpPr>
        <p:spPr>
          <a:xfrm>
            <a:off x="731520" y="5266944"/>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5</a:t>
            </a:r>
            <a:endParaRPr lang="en-US" sz="1400" dirty="0"/>
          </a:p>
        </p:txBody>
      </p:sp>
      <p:sp>
        <p:nvSpPr>
          <p:cNvPr id="17" name="Text 15"/>
          <p:cNvSpPr txBox="1"/>
          <p:nvPr/>
        </p:nvSpPr>
        <p:spPr>
          <a:xfrm>
            <a:off x="1325880" y="5193792"/>
            <a:ext cx="10241280" cy="868680"/>
          </a:xfrm>
          <a:prstGeom prst="rect">
            <a:avLst/>
          </a:prstGeom>
          <a:noFill/>
          <a:ln/>
        </p:spPr>
        <p:txBody>
          <a:bodyPr wrap="square" lIns="0" tIns="0" rIns="0" bIns="0" rtlCol="0" anchor="t"/>
          <a:lstStyle/>
          <a:p>
            <a:pPr indent="0" marL="0">
              <a:buNone/>
            </a:pPr>
            <a:r>
              <a:rPr lang="en-US" sz="1500" b="1" dirty="0">
                <a:solidFill>
                  <a:srgbClr val="FFFFFF"/>
                </a:solidFill>
                <a:latin typeface="Hiragino Sans" pitchFamily="34" charset="0"/>
                <a:ea typeface="Hiragino Sans" pitchFamily="34" charset="-122"/>
                <a:cs typeface="Hiragino Sans" pitchFamily="34" charset="-120"/>
              </a:rPr>
              <a:t>失敗は「AI の嘘」ではなく、使い方の問題で直せる。</a:t>
            </a:r>
            <a:pPr indent="0" marL="0">
              <a:buNone/>
            </a:pPr>
            <a:r>
              <a:rPr lang="en-US" sz="1500" dirty="0">
                <a:solidFill>
                  <a:srgbClr val="C9D2DE"/>
                </a:solidFill>
                <a:latin typeface="Hiragino Sans" pitchFamily="34" charset="0"/>
                <a:ea typeface="Hiragino Sans" pitchFamily="34" charset="-122"/>
                <a:cs typeface="Hiragino Sans" pitchFamily="34" charset="-120"/>
              </a:rPr>
              <a:t> その直し方(質問・Tool 設計・モデル)を、実例つきで持ち帰ってほしい</a:t>
            </a:r>
            <a:endParaRPr lang="en-US" sz="1500" dirty="0"/>
          </a:p>
        </p:txBody>
      </p:sp>
      <p:sp>
        <p:nvSpPr>
          <p:cNvPr id="18" name="Text 16"/>
          <p:cNvSpPr txBox="1"/>
          <p:nvPr/>
        </p:nvSpPr>
        <p:spPr>
          <a:xfrm>
            <a:off x="731520" y="6126480"/>
            <a:ext cx="10789920" cy="365760"/>
          </a:xfrm>
          <a:prstGeom prst="rect">
            <a:avLst/>
          </a:prstGeom>
          <a:noFill/>
          <a:ln/>
        </p:spPr>
        <p:txBody>
          <a:bodyPr wrap="square" lIns="0" tIns="0" rIns="0" bIns="0" rtlCol="0" anchor="t"/>
          <a:lstStyle/>
          <a:p>
            <a:pPr indent="0" marL="0">
              <a:buNone/>
            </a:pPr>
            <a:r>
              <a:rPr lang="en-US" sz="1150" dirty="0">
                <a:solidFill>
                  <a:srgbClr val="5A6470"/>
                </a:solidFill>
                <a:latin typeface="Hiragino Sans" pitchFamily="34" charset="0"/>
                <a:ea typeface="Hiragino Sans" pitchFamily="34" charset="-122"/>
                <a:cs typeface="Hiragino Sans" pitchFamily="34" charset="-120"/>
              </a:rPr>
              <a:t>実験記録であって、実用システムの評価ではありません。今日の結果は 2026-09-27 の気象庁データと Qwen3-8B(4bit)によるもの</a:t>
            </a:r>
            <a:endParaRPr lang="en-US" sz="1150" dirty="0"/>
          </a:p>
        </p:txBody>
      </p:sp>
      <p:sp>
        <p:nvSpPr>
          <p:cNvPr id="19" name="Text 17"/>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
    <p:bg>
      <p:bgPr>
        <a:solidFill>
          <a:srgbClr val="D9D9D9"/>
        </a:solidFill>
      </p:bgPr>
    </p:bg>
    <p:spTree>
      <p:nvGrpSpPr>
        <p:cNvPr id="1" name=""/>
        <p:cNvGrpSpPr/>
        <p:nvPr/>
      </p:nvGrpSpPr>
      <p:grpSpPr>
        <a:xfrm>
          <a:off x="0" y="0"/>
          <a:ext cx="0" cy="0"/>
          <a:chOff x="0" y="0"/>
          <a:chExt cx="0" cy="0"/>
        </a:xfrm>
      </p:grpSpPr>
      <p:sp>
        <p:nvSpPr>
          <p:cNvPr id="2" name="Text 0"/>
          <p:cNvSpPr txBox="1"/>
          <p:nvPr/>
        </p:nvSpPr>
        <p:spPr>
          <a:xfrm>
            <a:off x="548640" y="320040"/>
            <a:ext cx="9692640" cy="685800"/>
          </a:xfrm>
          <a:prstGeom prst="rect">
            <a:avLst/>
          </a:prstGeom>
          <a:noFill/>
          <a:ln/>
        </p:spPr>
        <p:txBody>
          <a:bodyPr wrap="square" lIns="0" tIns="0" rIns="0" bIns="0" rtlCol="0" anchor="ctr"/>
          <a:lstStyle/>
          <a:p>
            <a:pPr indent="0" marL="0">
              <a:buNone/>
            </a:pPr>
            <a:r>
              <a:rPr lang="en-US" sz="2400" b="1" dirty="0">
                <a:solidFill>
                  <a:srgbClr val="0F2A44"/>
                </a:solidFill>
                <a:latin typeface="Hiragino Sans" pitchFamily="34" charset="0"/>
                <a:ea typeface="Hiragino Sans" pitchFamily="34" charset="-122"/>
                <a:cs typeface="Hiragino Sans" pitchFamily="34" charset="-120"/>
              </a:rPr>
              <a:t>配布物と出典</a:t>
            </a:r>
            <a:endParaRPr lang="en-US" sz="2400" dirty="0"/>
          </a:p>
        </p:txBody>
      </p:sp>
      <p:sp>
        <p:nvSpPr>
          <p:cNvPr id="3" name="Text 1"/>
          <p:cNvSpPr txBox="1"/>
          <p:nvPr/>
        </p:nvSpPr>
        <p:spPr>
          <a:xfrm>
            <a:off x="548640" y="914400"/>
            <a:ext cx="9692640" cy="274320"/>
          </a:xfrm>
          <a:prstGeom prst="rect">
            <a:avLst/>
          </a:prstGeom>
          <a:noFill/>
          <a:ln/>
        </p:spPr>
        <p:txBody>
          <a:bodyPr wrap="square" lIns="0" tIns="0" rIns="0" bIns="0" rtlCol="0" anchor="t"/>
          <a:lstStyle/>
          <a:p>
            <a:pPr indent="0" marL="0">
              <a:buNone/>
            </a:pPr>
            <a:r>
              <a:rPr lang="en-US" sz="1200" dirty="0">
                <a:solidFill>
                  <a:srgbClr val="5A6470"/>
                </a:solidFill>
                <a:latin typeface="Hiragino Sans" pitchFamily="34" charset="0"/>
                <a:ea typeface="Hiragino Sans" pitchFamily="34" charset="-122"/>
                <a:cs typeface="Hiragino Sans" pitchFamily="34" charset="-120"/>
              </a:rPr>
              <a:t>すべて自分の Colab で再現できます</a:t>
            </a:r>
            <a:endParaRPr lang="en-US" sz="1200" dirty="0"/>
          </a:p>
        </p:txBody>
      </p:sp>
      <p:sp>
        <p:nvSpPr>
          <p:cNvPr id="4" name="Text 2"/>
          <p:cNvSpPr txBox="1"/>
          <p:nvPr/>
        </p:nvSpPr>
        <p:spPr>
          <a:xfrm>
            <a:off x="548640" y="6473952"/>
            <a:ext cx="8229600" cy="274320"/>
          </a:xfrm>
          <a:prstGeom prst="rect">
            <a:avLst/>
          </a:prstGeom>
          <a:noFill/>
          <a:ln/>
        </p:spPr>
        <p:txBody>
          <a:bodyPr wrap="square" lIns="0" tIns="0" rIns="0" bIns="0" rtlCol="0" anchor="t"/>
          <a:lstStyle/>
          <a:p>
            <a:pPr indent="0" marL="0">
              <a:buNone/>
            </a:pPr>
            <a:r>
              <a:rPr lang="en-US" sz="900" dirty="0">
                <a:solidFill>
                  <a:srgbClr val="5A6470"/>
                </a:solidFill>
                <a:latin typeface="Hiragino Sans" pitchFamily="34" charset="0"/>
                <a:ea typeface="Hiragino Sans" pitchFamily="34" charset="-122"/>
                <a:cs typeface="Hiragino Sans" pitchFamily="34" charset="-120"/>
              </a:rPr>
              <a:t>WDAC AI研究ラボWT 第2回 | 2026-10-04 | 話題提供 (1) 気象 × 生成AI活用の研究</a:t>
            </a:r>
            <a:endParaRPr lang="en-US" sz="900" dirty="0"/>
          </a:p>
        </p:txBody>
      </p:sp>
      <p:sp>
        <p:nvSpPr>
          <p:cNvPr id="5" name="Text 3"/>
          <p:cNvSpPr txBox="1"/>
          <p:nvPr/>
        </p:nvSpPr>
        <p:spPr>
          <a:xfrm>
            <a:off x="11338560" y="6446520"/>
            <a:ext cx="548640" cy="274320"/>
          </a:xfrm>
          <a:prstGeom prst="rect">
            <a:avLst/>
          </a:prstGeom>
          <a:noFill/>
          <a:ln/>
        </p:spPr>
        <p:txBody>
          <a:bodyPr wrap="square" lIns="0" tIns="0" rIns="0" bIns="0" rtlCol="0" anchor="t"/>
          <a:lstStyle/>
          <a:p>
            <a:pPr algn="r" indent="0" marL="0">
              <a:buNone/>
            </a:pPr>
            <a:r>
              <a:rPr lang="en-US" sz="1000" dirty="0">
                <a:solidFill>
                  <a:srgbClr val="5A6470"/>
                </a:solidFill>
                <a:latin typeface="Hiragino Sans" pitchFamily="34" charset="0"/>
                <a:ea typeface="Hiragino Sans" pitchFamily="34" charset="-122"/>
                <a:cs typeface="Hiragino Sans" pitchFamily="34" charset="-120"/>
              </a:rPr>
              <a:t>32</a:t>
            </a:r>
            <a:endParaRPr lang="en-US" sz="1000" dirty="0"/>
          </a:p>
        </p:txBody>
      </p:sp>
      <p:sp>
        <p:nvSpPr>
          <p:cNvPr id="6" name="Shape 4"/>
          <p:cNvSpPr/>
          <p:nvPr/>
        </p:nvSpPr>
        <p:spPr>
          <a:xfrm>
            <a:off x="548640" y="1280160"/>
            <a:ext cx="5440680" cy="2560320"/>
          </a:xfrm>
          <a:prstGeom prst="roundRect">
            <a:avLst>
              <a:gd name="adj" fmla="val 4286"/>
            </a:avLst>
          </a:prstGeom>
          <a:solidFill>
            <a:srgbClr val="F7F9FB"/>
          </a:solidFill>
          <a:ln w="12700">
            <a:solidFill>
              <a:srgbClr val="F7F9FB"/>
            </a:solidFill>
            <a:prstDash val="solid"/>
          </a:ln>
          <a:effectLst>
            <a:outerShdw sx="100000" sy="100000" kx="0" ky="0" algn="bl" rotWithShape="0" blurRad="50800" dist="12700" dir="5400000">
              <a:srgbClr val="000000">
                <a:alpha val="12000"/>
              </a:srgbClr>
            </a:outerShdw>
          </a:effectLst>
        </p:spPr>
      </p:sp>
      <p:sp>
        <p:nvSpPr>
          <p:cNvPr id="7" name="Text 5"/>
          <p:cNvSpPr txBox="1"/>
          <p:nvPr/>
        </p:nvSpPr>
        <p:spPr>
          <a:xfrm>
            <a:off x="1051560" y="1435608"/>
            <a:ext cx="4709160" cy="365760"/>
          </a:xfrm>
          <a:prstGeom prst="rect">
            <a:avLst/>
          </a:prstGeom>
          <a:noFill/>
          <a:ln/>
        </p:spPr>
        <p:txBody>
          <a:bodyPr wrap="square" lIns="0" tIns="0" rIns="0" bIns="0" rtlCol="0" anchor="ctr"/>
          <a:lstStyle/>
          <a:p>
            <a:pPr indent="0" marL="0">
              <a:buNone/>
            </a:pPr>
            <a:r>
              <a:rPr lang="en-US" sz="1400" b="1" dirty="0">
                <a:solidFill>
                  <a:srgbClr val="1590B0"/>
                </a:solidFill>
                <a:latin typeface="Hiragino Sans" pitchFamily="34" charset="0"/>
                <a:ea typeface="Hiragino Sans" pitchFamily="34" charset="-122"/>
                <a:cs typeface="Hiragino Sans" pitchFamily="34" charset="-120"/>
              </a:rPr>
              <a:t>リポジトリ(公開・MIT License)</a:t>
            </a:r>
            <a:endParaRPr lang="en-US" sz="1400" dirty="0"/>
          </a:p>
        </p:txBody>
      </p:sp>
      <p:sp>
        <p:nvSpPr>
          <p:cNvPr id="8" name="Shape 6"/>
          <p:cNvSpPr/>
          <p:nvPr/>
        </p:nvSpPr>
        <p:spPr>
          <a:xfrm>
            <a:off x="804672" y="1554480"/>
            <a:ext cx="128016" cy="128016"/>
          </a:xfrm>
          <a:prstGeom prst="ellipse">
            <a:avLst/>
          </a:prstGeom>
          <a:solidFill>
            <a:srgbClr val="1590B0"/>
          </a:solidFill>
          <a:ln w="12700">
            <a:solidFill>
              <a:srgbClr val="1590B0"/>
            </a:solidFill>
            <a:prstDash val="solid"/>
          </a:ln>
        </p:spPr>
      </p:sp>
      <p:sp>
        <p:nvSpPr>
          <p:cNvPr id="9" name="Text 7"/>
          <p:cNvSpPr txBox="1"/>
          <p:nvPr/>
        </p:nvSpPr>
        <p:spPr>
          <a:xfrm>
            <a:off x="822960" y="1874520"/>
            <a:ext cx="4937760" cy="1828800"/>
          </a:xfrm>
          <a:prstGeom prst="rect">
            <a:avLst/>
          </a:prstGeom>
          <a:noFill/>
          <a:ln/>
        </p:spPr>
        <p:txBody>
          <a:bodyPr wrap="square" lIns="0" tIns="0" rIns="0" bIns="0" rtlCol="0" anchor="t"/>
          <a:lstStyle/>
          <a:p>
            <a:pPr marL="152400" indent="-152400">
              <a:lnSpc>
                <a:spcPct val="115000"/>
              </a:lnSpc>
              <a:buSzPct val="100000"/>
              <a:buChar char="•"/>
            </a:pPr>
            <a:r>
              <a:rPr lang="en-US" sz="1050" b="1" dirty="0">
                <a:solidFill>
                  <a:srgbClr val="0F2A44"/>
                </a:solidFill>
                <a:latin typeface="Hiragino Sans" pitchFamily="34" charset="0"/>
                <a:ea typeface="Hiragino Sans" pitchFamily="34" charset="-122"/>
                <a:cs typeface="Hiragino Sans" pitchFamily="34" charset="-120"/>
              </a:rPr>
              <a:t>GitHub リポジトリ(README の「Open in Colab」バッジから開く)</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      github.com/deepkick/jma-tool-use-weather</a:t>
            </a:r>
            <a:endParaRPr lang="en-US" sz="1050" dirty="0"/>
          </a:p>
          <a:p>
            <a:pPr marL="152400" indent="-152400">
              <a:lnSpc>
                <a:spcPct val="115000"/>
              </a:lnSpc>
              <a:spcBef>
                <a:spcPts val="600"/>
              </a:spcBef>
              <a:buSzPct val="100000"/>
              <a:buChar char="•"/>
            </a:pPr>
            <a:r>
              <a:rPr lang="en-US" sz="1050" b="1" dirty="0">
                <a:solidFill>
                  <a:srgbClr val="0F2A44"/>
                </a:solidFill>
                <a:latin typeface="Hiragino Sans" pitchFamily="34" charset="0"/>
                <a:ea typeface="Hiragino Sans" pitchFamily="34" charset="-122"/>
                <a:cs typeface="Hiragino Sans" pitchFamily="34" charset="-120"/>
              </a:rPr>
              <a:t>Colab で直接開く → ランタイム: T4 GPU → 上から実行</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      colab.research.google.com/github/deepkick/jma-tool-use-weather/…</a:t>
            </a:r>
            <a:endParaRPr lang="en-US" sz="1050" dirty="0"/>
          </a:p>
          <a:p>
            <a:pPr marL="152400" indent="-152400">
              <a:lnSpc>
                <a:spcPct val="115000"/>
              </a:lnSpc>
              <a:spcBef>
                <a:spcPts val="600"/>
              </a:spcBef>
              <a:buSzPct val="100000"/>
              <a:buChar char="•"/>
            </a:pPr>
            <a:r>
              <a:rPr lang="en-US" sz="1050" b="1" dirty="0">
                <a:solidFill>
                  <a:srgbClr val="0F2A44"/>
                </a:solidFill>
                <a:latin typeface="Hiragino Sans" pitchFamily="34" charset="0"/>
                <a:ea typeface="Hiragino Sans" pitchFamily="34" charset="-122"/>
                <a:cs typeface="Hiragino Sans" pitchFamily="34" charset="-120"/>
              </a:rPr>
              <a:t>必要なのは Google アカウントだけ(API キー・課金・利用申請なし)</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      colab.research.google.com</a:t>
            </a:r>
            <a:endParaRPr lang="en-US" sz="1050" dirty="0"/>
          </a:p>
          <a:p>
            <a:pPr marL="152400" indent="-152400">
              <a:lnSpc>
                <a:spcPct val="115000"/>
              </a:lnSpc>
              <a:spcBef>
                <a:spcPts val="600"/>
              </a:spcBef>
              <a:buSzPct val="100000"/>
              <a:buChar char="•"/>
            </a:pPr>
            <a:r>
              <a:rPr lang="en-US" sz="1050" b="1" dirty="0">
                <a:solidFill>
                  <a:srgbClr val="0F2A44"/>
                </a:solidFill>
                <a:latin typeface="Hiragino Sans" pitchFamily="34" charset="0"/>
                <a:ea typeface="Hiragino Sans" pitchFamily="34" charset="-122"/>
                <a:cs typeface="Hiragino Sans" pitchFamily="34" charset="-120"/>
              </a:rPr>
              <a:t>notebooks/ に実行済み版、docs/ に今日のスライドと図</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      github.com/deepkick/jma-tool-use-weather/tree/main/docs</a:t>
            </a:r>
            <a:endParaRPr lang="en-US" sz="1050" dirty="0"/>
          </a:p>
        </p:txBody>
      </p:sp>
      <p:sp>
        <p:nvSpPr>
          <p:cNvPr id="10" name="Shape 8"/>
          <p:cNvSpPr/>
          <p:nvPr/>
        </p:nvSpPr>
        <p:spPr>
          <a:xfrm>
            <a:off x="548640" y="3977640"/>
            <a:ext cx="5440680" cy="2148840"/>
          </a:xfrm>
          <a:prstGeom prst="roundRect">
            <a:avLst>
              <a:gd name="adj" fmla="val 5106"/>
            </a:avLst>
          </a:prstGeom>
          <a:solidFill>
            <a:srgbClr val="F7F9FB"/>
          </a:solidFill>
          <a:ln w="12700">
            <a:solidFill>
              <a:srgbClr val="F7F9FB"/>
            </a:solidFill>
            <a:prstDash val="solid"/>
          </a:ln>
          <a:effectLst>
            <a:outerShdw sx="100000" sy="100000" kx="0" ky="0" algn="bl" rotWithShape="0" blurRad="50800" dist="12700" dir="5400000">
              <a:srgbClr val="000000">
                <a:alpha val="12000"/>
              </a:srgbClr>
            </a:outerShdw>
          </a:effectLst>
        </p:spPr>
      </p:sp>
      <p:sp>
        <p:nvSpPr>
          <p:cNvPr id="11" name="Text 9"/>
          <p:cNvSpPr txBox="1"/>
          <p:nvPr/>
        </p:nvSpPr>
        <p:spPr>
          <a:xfrm>
            <a:off x="1051560" y="4133088"/>
            <a:ext cx="4709160" cy="365760"/>
          </a:xfrm>
          <a:prstGeom prst="rect">
            <a:avLst/>
          </a:prstGeom>
          <a:noFill/>
          <a:ln/>
        </p:spPr>
        <p:txBody>
          <a:bodyPr wrap="square" lIns="0" tIns="0" rIns="0" bIns="0" rtlCol="0" anchor="ctr"/>
          <a:lstStyle/>
          <a:p>
            <a:pPr indent="0" marL="0">
              <a:buNone/>
            </a:pPr>
            <a:r>
              <a:rPr lang="en-US" sz="1400" b="1" dirty="0">
                <a:solidFill>
                  <a:srgbClr val="7A4FBF"/>
                </a:solidFill>
                <a:latin typeface="Hiragino Sans" pitchFamily="34" charset="0"/>
                <a:ea typeface="Hiragino Sans" pitchFamily="34" charset="-122"/>
                <a:cs typeface="Hiragino Sans" pitchFamily="34" charset="-120"/>
              </a:rPr>
              <a:t>中身</a:t>
            </a:r>
            <a:endParaRPr lang="en-US" sz="1400" dirty="0"/>
          </a:p>
        </p:txBody>
      </p:sp>
      <p:sp>
        <p:nvSpPr>
          <p:cNvPr id="12" name="Shape 10"/>
          <p:cNvSpPr/>
          <p:nvPr/>
        </p:nvSpPr>
        <p:spPr>
          <a:xfrm>
            <a:off x="804672" y="4251960"/>
            <a:ext cx="128016" cy="128016"/>
          </a:xfrm>
          <a:prstGeom prst="ellipse">
            <a:avLst/>
          </a:prstGeom>
          <a:solidFill>
            <a:srgbClr val="7A4FBF"/>
          </a:solidFill>
          <a:ln w="12700">
            <a:solidFill>
              <a:srgbClr val="7A4FBF"/>
            </a:solidFill>
            <a:prstDash val="solid"/>
          </a:ln>
        </p:spPr>
      </p:sp>
      <p:sp>
        <p:nvSpPr>
          <p:cNvPr id="13" name="Text 11"/>
          <p:cNvSpPr txBox="1"/>
          <p:nvPr/>
        </p:nvSpPr>
        <p:spPr>
          <a:xfrm>
            <a:off x="822960" y="4572000"/>
            <a:ext cx="4937760" cy="1417320"/>
          </a:xfrm>
          <a:prstGeom prst="rect">
            <a:avLst/>
          </a:prstGeom>
          <a:noFill/>
          <a:ln/>
        </p:spPr>
        <p:txBody>
          <a:bodyPr wrap="square" lIns="0" tIns="0" rIns="0" bIns="0" rtlCol="0" anchor="t"/>
          <a:lstStyle/>
          <a:p>
            <a:pPr marL="152400" indent="-152400">
              <a:lnSpc>
                <a:spcPct val="115000"/>
              </a:lnSpc>
              <a:buSzPct val="100000"/>
              <a:buChar char="•"/>
            </a:pPr>
            <a:r>
              <a:rPr lang="en-US" sz="1050" b="1" dirty="0">
                <a:solidFill>
                  <a:srgbClr val="0F2A44"/>
                </a:solidFill>
                <a:latin typeface="Hiragino Sans" pitchFamily="34" charset="0"/>
                <a:ea typeface="Hiragino Sans" pitchFamily="34" charset="-122"/>
                <a:cs typeface="Hiragino Sans" pitchFamily="34" charset="-120"/>
              </a:rPr>
              <a:t>ノートブック 1 本(43 セル、解説つき)— Tool 6 個 + 自作 Tool の例(日の出・日の入り)</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      notebooks/jma_tool_use_weather.ipynb</a:t>
            </a:r>
            <a:endParaRPr lang="en-US" sz="1050" dirty="0"/>
          </a:p>
          <a:p>
            <a:pPr marL="152400" indent="-152400">
              <a:lnSpc>
                <a:spcPct val="115000"/>
              </a:lnSpc>
              <a:spcBef>
                <a:spcPts val="600"/>
              </a:spcBef>
              <a:buSzPct val="100000"/>
              <a:buChar char="•"/>
            </a:pPr>
            <a:r>
              <a:rPr lang="en-US" sz="1050" b="1" dirty="0">
                <a:solidFill>
                  <a:srgbClr val="0F2A44"/>
                </a:solidFill>
                <a:latin typeface="Hiragino Sans" pitchFamily="34" charset="0"/>
                <a:ea typeface="Hiragino Sans" pitchFamily="34" charset="-122"/>
                <a:cs typeface="Hiragino Sans" pitchFamily="34" charset="-120"/>
              </a:rPr>
              <a:t>質問 16 問と検証結果、設計の経緯 — 仕様書 spec.md</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      spec.md</a:t>
            </a:r>
            <a:endParaRPr lang="en-US" sz="1050" dirty="0"/>
          </a:p>
          <a:p>
            <a:pPr marL="152400" indent="-152400">
              <a:lnSpc>
                <a:spcPct val="115000"/>
              </a:lnSpc>
              <a:spcBef>
                <a:spcPts val="600"/>
              </a:spcBef>
              <a:buSzPct val="100000"/>
              <a:buChar char="•"/>
            </a:pPr>
            <a:r>
              <a:rPr lang="en-US" sz="1050" b="1" dirty="0">
                <a:solidFill>
                  <a:srgbClr val="0F2A44"/>
                </a:solidFill>
                <a:latin typeface="Hiragino Sans" pitchFamily="34" charset="0"/>
                <a:ea typeface="Hiragino Sans" pitchFamily="34" charset="-122"/>
                <a:cs typeface="Hiragino Sans" pitchFamily="34" charset="-120"/>
              </a:rPr>
              <a:t>Tool Use の模式図(SVG / PNG)</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      docs/tool_use_loop.svg</a:t>
            </a:r>
            <a:endParaRPr lang="en-US" sz="1050" dirty="0"/>
          </a:p>
        </p:txBody>
      </p:sp>
      <p:sp>
        <p:nvSpPr>
          <p:cNvPr id="14" name="Shape 12"/>
          <p:cNvSpPr/>
          <p:nvPr/>
        </p:nvSpPr>
        <p:spPr>
          <a:xfrm>
            <a:off x="6172200" y="1280160"/>
            <a:ext cx="5440680" cy="2560320"/>
          </a:xfrm>
          <a:prstGeom prst="roundRect">
            <a:avLst>
              <a:gd name="adj" fmla="val 4286"/>
            </a:avLst>
          </a:prstGeom>
          <a:solidFill>
            <a:srgbClr val="F7F9FB"/>
          </a:solidFill>
          <a:ln w="12700">
            <a:solidFill>
              <a:srgbClr val="F7F9FB"/>
            </a:solidFill>
            <a:prstDash val="solid"/>
          </a:ln>
          <a:effectLst>
            <a:outerShdw sx="100000" sy="100000" kx="0" ky="0" algn="bl" rotWithShape="0" blurRad="50800" dist="12700" dir="5400000">
              <a:srgbClr val="000000">
                <a:alpha val="12000"/>
              </a:srgbClr>
            </a:outerShdw>
          </a:effectLst>
        </p:spPr>
      </p:sp>
      <p:sp>
        <p:nvSpPr>
          <p:cNvPr id="15" name="Text 13"/>
          <p:cNvSpPr txBox="1"/>
          <p:nvPr/>
        </p:nvSpPr>
        <p:spPr>
          <a:xfrm>
            <a:off x="6675120" y="1435608"/>
            <a:ext cx="4709160" cy="365760"/>
          </a:xfrm>
          <a:prstGeom prst="rect">
            <a:avLst/>
          </a:prstGeom>
          <a:noFill/>
          <a:ln/>
        </p:spPr>
        <p:txBody>
          <a:bodyPr wrap="square" lIns="0" tIns="0" rIns="0" bIns="0" rtlCol="0" anchor="ctr"/>
          <a:lstStyle/>
          <a:p>
            <a:pPr indent="0" marL="0">
              <a:buNone/>
            </a:pPr>
            <a:r>
              <a:rPr lang="en-US" sz="1400" b="1" dirty="0">
                <a:solidFill>
                  <a:srgbClr val="E2711D"/>
                </a:solidFill>
                <a:latin typeface="Hiragino Sans" pitchFamily="34" charset="0"/>
                <a:ea typeface="Hiragino Sans" pitchFamily="34" charset="-122"/>
                <a:cs typeface="Hiragino Sans" pitchFamily="34" charset="-120"/>
              </a:rPr>
              <a:t>出典</a:t>
            </a:r>
            <a:endParaRPr lang="en-US" sz="1400" dirty="0"/>
          </a:p>
        </p:txBody>
      </p:sp>
      <p:sp>
        <p:nvSpPr>
          <p:cNvPr id="16" name="Shape 14"/>
          <p:cNvSpPr/>
          <p:nvPr/>
        </p:nvSpPr>
        <p:spPr>
          <a:xfrm>
            <a:off x="6428232" y="1554480"/>
            <a:ext cx="128016" cy="128016"/>
          </a:xfrm>
          <a:prstGeom prst="ellipse">
            <a:avLst/>
          </a:prstGeom>
          <a:solidFill>
            <a:srgbClr val="E2711D"/>
          </a:solidFill>
          <a:ln w="12700">
            <a:solidFill>
              <a:srgbClr val="E2711D"/>
            </a:solidFill>
            <a:prstDash val="solid"/>
          </a:ln>
        </p:spPr>
      </p:sp>
      <p:sp>
        <p:nvSpPr>
          <p:cNvPr id="17" name="Text 15"/>
          <p:cNvSpPr txBox="1"/>
          <p:nvPr/>
        </p:nvSpPr>
        <p:spPr>
          <a:xfrm>
            <a:off x="6446520" y="1874520"/>
            <a:ext cx="4937760" cy="1828800"/>
          </a:xfrm>
          <a:prstGeom prst="rect">
            <a:avLst/>
          </a:prstGeom>
          <a:noFill/>
          <a:ln/>
        </p:spPr>
        <p:txBody>
          <a:bodyPr wrap="square" lIns="0" tIns="0" rIns="0" bIns="0" rtlCol="0" anchor="t"/>
          <a:lstStyle/>
          <a:p>
            <a:pPr marL="152400" indent="-152400">
              <a:lnSpc>
                <a:spcPct val="115000"/>
              </a:lnSpc>
              <a:buSzPct val="100000"/>
              <a:buChar char="•"/>
            </a:pPr>
            <a:r>
              <a:rPr lang="en-US" sz="1050" b="1" dirty="0">
                <a:solidFill>
                  <a:srgbClr val="0F2A44"/>
                </a:solidFill>
                <a:latin typeface="Hiragino Sans" pitchFamily="34" charset="0"/>
                <a:ea typeface="Hiragino Sans" pitchFamily="34" charset="-122"/>
                <a:cs typeface="Hiragino Sans" pitchFamily="34" charset="-120"/>
              </a:rPr>
              <a:t>気象データ: 気象庁ホームページの公開 JSON(公式発表)</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      www.jma.go.jp</a:t>
            </a:r>
            <a:endParaRPr lang="en-US" sz="1050" dirty="0"/>
          </a:p>
          <a:p>
            <a:pPr marL="152400" indent="-152400">
              <a:lnSpc>
                <a:spcPct val="115000"/>
              </a:lnSpc>
              <a:spcBef>
                <a:spcPts val="600"/>
              </a:spcBef>
              <a:buSzPct val="100000"/>
              <a:buChar char="•"/>
            </a:pPr>
            <a:r>
              <a:rPr lang="en-US" sz="1050" b="1" dirty="0">
                <a:solidFill>
                  <a:srgbClr val="0F2A44"/>
                </a:solidFill>
                <a:latin typeface="Hiragino Sans" pitchFamily="34" charset="0"/>
                <a:ea typeface="Hiragino Sans" pitchFamily="34" charset="-122"/>
                <a:cs typeface="Hiragino Sans" pitchFamily="34" charset="-120"/>
              </a:rPr>
              <a:t>気象庁 利用規約(出典明記のうえ従う)</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      www.jma.go.jp/jma/kishou/info/coment.html</a:t>
            </a:r>
            <a:endParaRPr lang="en-US" sz="1050" dirty="0"/>
          </a:p>
          <a:p>
            <a:pPr marL="152400" indent="-152400">
              <a:lnSpc>
                <a:spcPct val="115000"/>
              </a:lnSpc>
              <a:spcBef>
                <a:spcPts val="600"/>
              </a:spcBef>
              <a:buSzPct val="100000"/>
              <a:buChar char="•"/>
            </a:pPr>
            <a:r>
              <a:rPr lang="en-US" sz="1050" b="1" dirty="0">
                <a:solidFill>
                  <a:srgbClr val="0F2A44"/>
                </a:solidFill>
                <a:latin typeface="Hiragino Sans" pitchFamily="34" charset="0"/>
                <a:ea typeface="Hiragino Sans" pitchFamily="34" charset="-122"/>
                <a:cs typeface="Hiragino Sans" pitchFamily="34" charset="-120"/>
              </a:rPr>
              <a:t>LLM: Qwen3(Alibaba Cloud、Apache 2.0)— Qwen3 Technical Report</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      arXiv:2505.09388</a:t>
            </a:r>
            <a:endParaRPr lang="en-US" sz="1050" dirty="0"/>
          </a:p>
          <a:p>
            <a:pPr marL="152400" indent="-152400">
              <a:lnSpc>
                <a:spcPct val="115000"/>
              </a:lnSpc>
              <a:spcBef>
                <a:spcPts val="600"/>
              </a:spcBef>
              <a:buSzPct val="100000"/>
              <a:buChar char="•"/>
            </a:pPr>
            <a:r>
              <a:rPr lang="en-US" sz="1050" b="1" dirty="0">
                <a:solidFill>
                  <a:srgbClr val="0F2A44"/>
                </a:solidFill>
                <a:latin typeface="Hiragino Sans" pitchFamily="34" charset="0"/>
                <a:ea typeface="Hiragino Sans" pitchFamily="34" charset="-122"/>
                <a:cs typeface="Hiragino Sans" pitchFamily="34" charset="-120"/>
              </a:rPr>
              <a:t>ライブラリ: Hugging Face Transformers、bitsandbytes</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huggingface.co/docs/transformers/chat_extras</a:t>
            </a:r>
            <a:endParaRPr lang="en-US" sz="1050" dirty="0"/>
          </a:p>
        </p:txBody>
      </p:sp>
      <p:sp>
        <p:nvSpPr>
          <p:cNvPr id="18" name="Shape 16"/>
          <p:cNvSpPr/>
          <p:nvPr/>
        </p:nvSpPr>
        <p:spPr>
          <a:xfrm>
            <a:off x="6172200" y="3977640"/>
            <a:ext cx="5440680" cy="2148840"/>
          </a:xfrm>
          <a:prstGeom prst="roundRect">
            <a:avLst>
              <a:gd name="adj" fmla="val 5106"/>
            </a:avLst>
          </a:prstGeom>
          <a:solidFill>
            <a:srgbClr val="F7F9FB"/>
          </a:solidFill>
          <a:ln w="12700">
            <a:solidFill>
              <a:srgbClr val="F7F9FB"/>
            </a:solidFill>
            <a:prstDash val="solid"/>
          </a:ln>
          <a:effectLst>
            <a:outerShdw sx="100000" sy="100000" kx="0" ky="0" algn="bl" rotWithShape="0" blurRad="50800" dist="12700" dir="5400000">
              <a:srgbClr val="000000">
                <a:alpha val="12000"/>
              </a:srgbClr>
            </a:outerShdw>
          </a:effectLst>
        </p:spPr>
      </p:sp>
      <p:sp>
        <p:nvSpPr>
          <p:cNvPr id="19" name="Text 17"/>
          <p:cNvSpPr txBox="1"/>
          <p:nvPr/>
        </p:nvSpPr>
        <p:spPr>
          <a:xfrm>
            <a:off x="6675120" y="4133088"/>
            <a:ext cx="4709160" cy="365760"/>
          </a:xfrm>
          <a:prstGeom prst="rect">
            <a:avLst/>
          </a:prstGeom>
          <a:noFill/>
          <a:ln/>
        </p:spPr>
        <p:txBody>
          <a:bodyPr wrap="square" lIns="0" tIns="0" rIns="0" bIns="0" rtlCol="0" anchor="ctr"/>
          <a:lstStyle/>
          <a:p>
            <a:pPr indent="0" marL="0">
              <a:buNone/>
            </a:pPr>
            <a:r>
              <a:rPr lang="en-US" sz="1400" b="1" dirty="0">
                <a:solidFill>
                  <a:srgbClr val="1F7A6D"/>
                </a:solidFill>
                <a:latin typeface="Hiragino Sans" pitchFamily="34" charset="0"/>
                <a:ea typeface="Hiragino Sans" pitchFamily="34" charset="-122"/>
                <a:cs typeface="Hiragino Sans" pitchFamily="34" charset="-120"/>
              </a:rPr>
              <a:t>利用条件・作成</a:t>
            </a:r>
            <a:endParaRPr lang="en-US" sz="1400" dirty="0"/>
          </a:p>
        </p:txBody>
      </p:sp>
      <p:sp>
        <p:nvSpPr>
          <p:cNvPr id="20" name="Shape 18"/>
          <p:cNvSpPr/>
          <p:nvPr/>
        </p:nvSpPr>
        <p:spPr>
          <a:xfrm>
            <a:off x="6428232" y="4251960"/>
            <a:ext cx="128016" cy="128016"/>
          </a:xfrm>
          <a:prstGeom prst="ellipse">
            <a:avLst/>
          </a:prstGeom>
          <a:solidFill>
            <a:srgbClr val="1F7A6D"/>
          </a:solidFill>
          <a:ln w="12700">
            <a:solidFill>
              <a:srgbClr val="1F7A6D"/>
            </a:solidFill>
            <a:prstDash val="solid"/>
          </a:ln>
        </p:spPr>
      </p:sp>
      <p:sp>
        <p:nvSpPr>
          <p:cNvPr id="21" name="Text 19"/>
          <p:cNvSpPr txBox="1"/>
          <p:nvPr/>
        </p:nvSpPr>
        <p:spPr>
          <a:xfrm>
            <a:off x="6446520" y="4572000"/>
            <a:ext cx="4937760" cy="1417320"/>
          </a:xfrm>
          <a:prstGeom prst="rect">
            <a:avLst/>
          </a:prstGeom>
          <a:noFill/>
          <a:ln/>
        </p:spPr>
        <p:txBody>
          <a:bodyPr wrap="square" lIns="0" tIns="0" rIns="0" bIns="0" rtlCol="0" anchor="t"/>
          <a:lstStyle/>
          <a:p>
            <a:pPr marL="152400" indent="-152400">
              <a:lnSpc>
                <a:spcPct val="115000"/>
              </a:lnSpc>
              <a:buSzPct val="100000"/>
              <a:buChar char="•"/>
            </a:pPr>
            <a:r>
              <a:rPr lang="en-US" sz="1050" b="1" dirty="0">
                <a:solidFill>
                  <a:srgbClr val="0F2A44"/>
                </a:solidFill>
                <a:latin typeface="Hiragino Sans" pitchFamily="34" charset="0"/>
                <a:ea typeface="Hiragino Sans" pitchFamily="34" charset="-122"/>
                <a:cs typeface="Hiragino Sans" pitchFamily="34" charset="-120"/>
              </a:rPr>
              <a:t>本ノートブックは学習・デモ目的。防災上の判断は必ず気象庁および自治体の公式発表に基づいてください</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      www.jma.go.jp/bosai</a:t>
            </a:r>
            <a:endParaRPr lang="en-US" sz="1050" dirty="0"/>
          </a:p>
          <a:p>
            <a:pPr marL="152400" indent="-152400">
              <a:lnSpc>
                <a:spcPct val="115000"/>
              </a:lnSpc>
              <a:spcBef>
                <a:spcPts val="600"/>
              </a:spcBef>
              <a:buSzPct val="100000"/>
              <a:buChar char="•"/>
            </a:pPr>
            <a:r>
              <a:rPr lang="en-US" sz="1050" b="1" dirty="0">
                <a:solidFill>
                  <a:srgbClr val="0F2A44"/>
                </a:solidFill>
                <a:latin typeface="Hiragino Sans" pitchFamily="34" charset="0"/>
                <a:ea typeface="Hiragino Sans" pitchFamily="34" charset="-122"/>
                <a:cs typeface="Hiragino Sans" pitchFamily="34" charset="-120"/>
              </a:rPr>
              <a:t>コードは MIT License。気象データの権利は気象庁に帰属</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      github.com/deepkick/jma-tool-use-weather/blob/main/LICENSE</a:t>
            </a:r>
            <a:endParaRPr lang="en-US" sz="1050" dirty="0"/>
          </a:p>
          <a:p>
            <a:pPr marL="152400" indent="-152400">
              <a:lnSpc>
                <a:spcPct val="115000"/>
              </a:lnSpc>
              <a:spcBef>
                <a:spcPts val="600"/>
              </a:spcBef>
              <a:buSzPct val="100000"/>
              <a:buChar char="•"/>
            </a:pPr>
            <a:r>
              <a:rPr lang="en-US" sz="1050" b="1" dirty="0">
                <a:solidFill>
                  <a:srgbClr val="0F2A44"/>
                </a:solidFill>
                <a:latin typeface="Hiragino Sans" pitchFamily="34" charset="0"/>
                <a:ea typeface="Hiragino Sans" pitchFamily="34" charset="-122"/>
                <a:cs typeface="Hiragino Sans" pitchFamily="34" charset="-120"/>
              </a:rPr>
              <a:t>作成: Claude(Anthropic)と共同。コードは既存教材に依らず書き下ろし</a:t>
            </a:r>
            <a:endParaRPr lang="en-US" sz="1050" dirty="0"/>
          </a:p>
          <a:p>
            <a:pPr indent="0" marL="0">
              <a:lnSpc>
                <a:spcPct val="115000"/>
              </a:lnSpc>
              <a:buNone/>
            </a:pPr>
            <a:r>
              <a:rPr lang="en-US" sz="850" u="none" dirty="0">
                <a:solidFill>
                  <a:srgbClr val="5A6470"/>
                </a:solidFill>
                <a:latin typeface="Hiragino Sans" pitchFamily="34" charset="0"/>
                <a:ea typeface="Hiragino Sans" pitchFamily="34" charset="-122"/>
                <a:cs typeface="Hiragino San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      claude.ai</a:t>
            </a:r>
            <a:endParaRPr lang="en-US" sz="1050" dirty="0"/>
          </a:p>
        </p:txBody>
      </p:sp>
      <p:sp>
        <p:nvSpPr>
          <p:cNvPr id="22" name="Text 20"/>
          <p:cNvSpPr txBox="1"/>
          <p:nvPr/>
        </p:nvSpPr>
        <p:spPr>
          <a:xfrm>
            <a:off x="548640" y="6199632"/>
            <a:ext cx="11064240" cy="274320"/>
          </a:xfrm>
          <a:prstGeom prst="rect">
            <a:avLst/>
          </a:prstGeom>
          <a:noFill/>
          <a:ln/>
        </p:spPr>
        <p:txBody>
          <a:bodyPr wrap="square" lIns="0" tIns="0" rIns="0" bIns="0" rtlCol="0" anchor="t"/>
          <a:lstStyle/>
          <a:p>
            <a:pPr indent="0" marL="0">
              <a:buNone/>
            </a:pPr>
            <a:r>
              <a:rPr lang="en-US" sz="900" dirty="0">
                <a:solidFill>
                  <a:srgbClr val="5A6470"/>
                </a:solidFill>
                <a:latin typeface="Hiragino Sans" pitchFamily="34" charset="0"/>
                <a:ea typeface="Hiragino Sans" pitchFamily="34" charset="-122"/>
                <a:cs typeface="Hiragino Sans" pitchFamily="34" charset="-120"/>
              </a:rPr>
              <a:t>URL 行はリンクになっています(クリックで該当ページへ)</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気象庁の公式データに、日本語で質問できる窓口</dc:title>
  <dc:subject>PptxGenJS Presentation</dc:subject>
  <dc:creator>Kaoru Honda</dc:creator>
  <cp:lastModifiedBy>Kaoru Honda</cp:lastModifiedBy>
  <cp:revision>1</cp:revision>
  <dcterms:created xsi:type="dcterms:W3CDTF">2026-09-27T16:09:13Z</dcterms:created>
  <dcterms:modified xsi:type="dcterms:W3CDTF">2026-09-27T16:09:13Z</dcterms:modified>
</cp:coreProperties>
</file>